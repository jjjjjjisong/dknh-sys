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fbf2912bc4fa5" /><Relationship Type="http://schemas.openxmlformats.org/officeDocument/2006/relationships/extended-properties" Target="/docProps/app.xml" Id="R233fb2e7210a4fc8" /><Relationship Type="http://schemas.openxmlformats.org/officeDocument/2006/relationships/officeDocument" Target="/ppt/presentation.xml" Id="Rc486ac7ab9cd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a4aaa2b3e4e72"/>
  </p:sldMasterIdLst>
  <p:notesMasterIdLst>
    <p:notesMasterId xmlns:r="http://schemas.openxmlformats.org/officeDocument/2006/relationships" r:id="Ra68dc6ca73574cfa"/>
  </p:notesMasterIdLst>
  <p:sldIdLst>
    <p:sldId xmlns:r="http://schemas.openxmlformats.org/officeDocument/2006/relationships" id="256" r:id="Rfa2423437d89423c"/>
    <p:sldId xmlns:r="http://schemas.openxmlformats.org/officeDocument/2006/relationships" id="257" r:id="R90b721fb24494f0b"/>
    <p:sldId xmlns:r="http://schemas.openxmlformats.org/officeDocument/2006/relationships" id="258" r:id="R3173decf325d42bb"/>
    <p:sldId xmlns:r="http://schemas.openxmlformats.org/officeDocument/2006/relationships" id="259" r:id="Rff19811f50944b0c"/>
    <p:sldId xmlns:r="http://schemas.openxmlformats.org/officeDocument/2006/relationships" id="260" r:id="Rb5ffbd2ad5ed42c9"/>
    <p:sldId xmlns:r="http://schemas.openxmlformats.org/officeDocument/2006/relationships" id="261" r:id="R93cd89e67611493c"/>
    <p:sldId xmlns:r="http://schemas.openxmlformats.org/officeDocument/2006/relationships" id="262" r:id="R9fd9238c7fc144da"/>
    <p:sldId xmlns:r="http://schemas.openxmlformats.org/officeDocument/2006/relationships" id="263" r:id="R943f34f27a1a401f"/>
    <p:sldId xmlns:r="http://schemas.openxmlformats.org/officeDocument/2006/relationships" id="264" r:id="Reca99b4015f04108"/>
    <p:sldId xmlns:r="http://schemas.openxmlformats.org/officeDocument/2006/relationships" id="265" r:id="R02d7b3180acb4dd5"/>
    <p:sldId xmlns:r="http://schemas.openxmlformats.org/officeDocument/2006/relationships" id="266" r:id="R6f87f8d9a3dd4c4a"/>
    <p:sldId xmlns:r="http://schemas.openxmlformats.org/officeDocument/2006/relationships" id="267" r:id="R7739f068c32248cd"/>
    <p:sldId xmlns:r="http://schemas.openxmlformats.org/officeDocument/2006/relationships" id="268" r:id="R5e1f43cc8c6941e7"/>
    <p:sldId xmlns:r="http://schemas.openxmlformats.org/officeDocument/2006/relationships" id="269" r:id="Rc68ea7a3cc25463b"/>
    <p:sldId xmlns:r="http://schemas.openxmlformats.org/officeDocument/2006/relationships" id="270" r:id="R015d374f15974c78"/>
    <p:sldId xmlns:r="http://schemas.openxmlformats.org/officeDocument/2006/relationships" id="271" r:id="Rc2d604a4603a4710"/>
    <p:sldId xmlns:r="http://schemas.openxmlformats.org/officeDocument/2006/relationships" id="272" r:id="Rff6e43a518834ab1"/>
    <p:sldId xmlns:r="http://schemas.openxmlformats.org/officeDocument/2006/relationships" id="273" r:id="R5ccd064fb4df480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a4aaa2b3e4e72" /><Relationship Type="http://schemas.openxmlformats.org/officeDocument/2006/relationships/theme" Target="/ppt/theme/theme1.xml" Id="R9342f1891a8f443c" /><Relationship Type="http://schemas.openxmlformats.org/officeDocument/2006/relationships/notesMaster" Target="/ppt/notesMasters/notesMaster1.xml" Id="Ra68dc6ca73574cfa" /><Relationship Type="http://schemas.openxmlformats.org/officeDocument/2006/relationships/presProps" Target="/ppt/presProps.xml" Id="R9c03564ed8814763" /><Relationship Type="http://schemas.openxmlformats.org/officeDocument/2006/relationships/viewProps" Target="/ppt/viewProps.xml" Id="R11ebcb4c54004f78" /><Relationship Type="http://schemas.openxmlformats.org/officeDocument/2006/relationships/tableStyles" Target="/ppt/tableStyles.xml" Id="Rf7a4480ad96f40e2" /><Relationship Type="http://schemas.openxmlformats.org/officeDocument/2006/relationships/slide" Target="/ppt/slides/slide1.xml" Id="Rfa2423437d89423c" /><Relationship Type="http://schemas.openxmlformats.org/officeDocument/2006/relationships/slide" Target="/ppt/slides/slide2.xml" Id="R90b721fb24494f0b" /><Relationship Type="http://schemas.openxmlformats.org/officeDocument/2006/relationships/slide" Target="/ppt/slides/slide3.xml" Id="R3173decf325d42bb" /><Relationship Type="http://schemas.openxmlformats.org/officeDocument/2006/relationships/slide" Target="/ppt/slides/slide4.xml" Id="Rff19811f50944b0c" /><Relationship Type="http://schemas.openxmlformats.org/officeDocument/2006/relationships/slide" Target="/ppt/slides/slide5.xml" Id="Rb5ffbd2ad5ed42c9" /><Relationship Type="http://schemas.openxmlformats.org/officeDocument/2006/relationships/slide" Target="/ppt/slides/slide6.xml" Id="R93cd89e67611493c" /><Relationship Type="http://schemas.openxmlformats.org/officeDocument/2006/relationships/slide" Target="/ppt/slides/slide7.xml" Id="R9fd9238c7fc144da" /><Relationship Type="http://schemas.openxmlformats.org/officeDocument/2006/relationships/slide" Target="/ppt/slides/slide8.xml" Id="R943f34f27a1a401f" /><Relationship Type="http://schemas.openxmlformats.org/officeDocument/2006/relationships/slide" Target="/ppt/slides/slide9.xml" Id="Reca99b4015f04108" /><Relationship Type="http://schemas.openxmlformats.org/officeDocument/2006/relationships/slide" Target="/ppt/slides/slide10.xml" Id="R02d7b3180acb4dd5" /><Relationship Type="http://schemas.openxmlformats.org/officeDocument/2006/relationships/slide" Target="/ppt/slides/slide11.xml" Id="R6f87f8d9a3dd4c4a" /><Relationship Type="http://schemas.openxmlformats.org/officeDocument/2006/relationships/slide" Target="/ppt/slides/slide12.xml" Id="R7739f068c32248cd" /><Relationship Type="http://schemas.openxmlformats.org/officeDocument/2006/relationships/slide" Target="/ppt/slides/slide13.xml" Id="R5e1f43cc8c6941e7" /><Relationship Type="http://schemas.openxmlformats.org/officeDocument/2006/relationships/slide" Target="/ppt/slides/slide14.xml" Id="Rc68ea7a3cc25463b" /><Relationship Type="http://schemas.openxmlformats.org/officeDocument/2006/relationships/slide" Target="/ppt/slides/slide15.xml" Id="R015d374f15974c78" /><Relationship Type="http://schemas.openxmlformats.org/officeDocument/2006/relationships/slide" Target="/ppt/slides/slide16.xml" Id="Rc2d604a4603a4710" /><Relationship Type="http://schemas.openxmlformats.org/officeDocument/2006/relationships/slide" Target="/ppt/slides/slide17.xml" Id="Rff6e43a518834ab1" /><Relationship Type="http://schemas.openxmlformats.org/officeDocument/2006/relationships/slide" Target="/ppt/slides/slide18.xml" Id="R5ccd064fb4df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8cfdf7de96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6b6ad400d4cd5" /><Relationship Type="http://schemas.openxmlformats.org/officeDocument/2006/relationships/notesMaster" Target="/ppt/notesMasters/notesMaster1.xml" Id="Rd0242fa302e44a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d303f450b74faf" /><Relationship Type="http://schemas.openxmlformats.org/officeDocument/2006/relationships/notesMaster" Target="/ppt/notesMasters/notesMaster1.xml" Id="R410edd83b0d54d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b5da652ee4434" /><Relationship Type="http://schemas.openxmlformats.org/officeDocument/2006/relationships/notesMaster" Target="/ppt/notesMasters/notesMaster1.xml" Id="Rd140eeecdb9c46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041963b3da4571" /><Relationship Type="http://schemas.openxmlformats.org/officeDocument/2006/relationships/notesMaster" Target="/ppt/notesMasters/notesMaster1.xml" Id="R9e393b367caa49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2a1f0ef91b4331" /><Relationship Type="http://schemas.openxmlformats.org/officeDocument/2006/relationships/notesMaster" Target="/ppt/notesMasters/notesMaster1.xml" Id="Rbc60043eb80446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630cee77b4647" /><Relationship Type="http://schemas.openxmlformats.org/officeDocument/2006/relationships/notesMaster" Target="/ppt/notesMasters/notesMaster1.xml" Id="R5503edc0d40d46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c981d89a34d2e" /><Relationship Type="http://schemas.openxmlformats.org/officeDocument/2006/relationships/notesMaster" Target="/ppt/notesMasters/notesMaster1.xml" Id="R04559062fdf043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f045ed1ef84c37" /><Relationship Type="http://schemas.openxmlformats.org/officeDocument/2006/relationships/notesMaster" Target="/ppt/notesMasters/notesMaster1.xml" Id="R5dbf105684844a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54da7f56014d9b" /><Relationship Type="http://schemas.openxmlformats.org/officeDocument/2006/relationships/notesMaster" Target="/ppt/notesMasters/notesMaster1.xml" Id="Raec3dc71a6fc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62aa434171449a" /><Relationship Type="http://schemas.openxmlformats.org/officeDocument/2006/relationships/notesMaster" Target="/ppt/notesMasters/notesMaster1.xml" Id="R021ecea4eeeb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ae7b3c1ff14738" /><Relationship Type="http://schemas.openxmlformats.org/officeDocument/2006/relationships/notesMaster" Target="/ppt/notesMasters/notesMaster1.xml" Id="Rff0536ef240940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4e9c5439af48b2" /><Relationship Type="http://schemas.openxmlformats.org/officeDocument/2006/relationships/notesMaster" Target="/ppt/notesMasters/notesMaster1.xml" Id="R414d450b065446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0da34f7c654779" /><Relationship Type="http://schemas.openxmlformats.org/officeDocument/2006/relationships/notesMaster" Target="/ppt/notesMasters/notesMaster1.xml" Id="R327b9e891baf41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a4f75aa31e451c" /><Relationship Type="http://schemas.openxmlformats.org/officeDocument/2006/relationships/notesMaster" Target="/ppt/notesMasters/notesMaster1.xml" Id="R1a50ada2f63b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2c0594831b4da8" /><Relationship Type="http://schemas.openxmlformats.org/officeDocument/2006/relationships/notesMaster" Target="/ppt/notesMasters/notesMaster1.xml" Id="R1387762f52164a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389b895e6b449a" /><Relationship Type="http://schemas.openxmlformats.org/officeDocument/2006/relationships/notesMaster" Target="/ppt/notesMasters/notesMaster1.xml" Id="R413f218f312b46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b5e7bda4e048f5" /><Relationship Type="http://schemas.openxmlformats.org/officeDocument/2006/relationships/notesMaster" Target="/ppt/notesMasters/notesMaster1.xml" Id="Ra4e5f8b6589448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b167d5296e4f3f" /><Relationship Type="http://schemas.openxmlformats.org/officeDocument/2006/relationships/notesMaster" Target="/ppt/notesMasters/notesMaster1.xml" Id="Rf5fdf7bc6a4a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5f9981ed749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76ab41b318d4670" /><Relationship Type="http://schemas.openxmlformats.org/officeDocument/2006/relationships/slideLayout" Target="/ppt/slideLayouts/slideLayout2.xml" Id="R20327e3cf8e94f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327e3cf8e94f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2cfdeaa5e4790" /><Relationship Type="http://schemas.openxmlformats.org/officeDocument/2006/relationships/image" Target="/ppt/media/image.png" Id="Rb604a1be669d4784" /><Relationship Type="http://schemas.openxmlformats.org/officeDocument/2006/relationships/notesSlide" Target="/ppt/notesSlides/notesSlide1.xml" Id="R61ac0ca4e197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84717dce848f7" /><Relationship Type="http://schemas.openxmlformats.org/officeDocument/2006/relationships/notesSlide" Target="/ppt/notesSlides/notesSlide2.xml" Id="R4e9e9ae6784d4b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2d1c339354660" /><Relationship Type="http://schemas.openxmlformats.org/officeDocument/2006/relationships/image" Target="/ppt/media/image2.png" Id="R0959446d50d14efb" /><Relationship Type="http://schemas.openxmlformats.org/officeDocument/2006/relationships/notesSlide" Target="/ppt/notesSlides/notesSlide3.xml" Id="R9c10ee6d0cdb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f02bdf6ef64661" /><Relationship Type="http://schemas.openxmlformats.org/officeDocument/2006/relationships/image" Target="/ppt/media/image3.png" Id="R011b3b546bf64a52" /><Relationship Type="http://schemas.openxmlformats.org/officeDocument/2006/relationships/notesSlide" Target="/ppt/notesSlides/notesSlide4.xml" Id="R4696582251d244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afe8b0e944a98" /><Relationship Type="http://schemas.openxmlformats.org/officeDocument/2006/relationships/image" Target="/ppt/media/image4.png" Id="Ra93e9c71a01d46cb" /><Relationship Type="http://schemas.openxmlformats.org/officeDocument/2006/relationships/notesSlide" Target="/ppt/notesSlides/notesSlide5.xml" Id="R7e5ca152f58942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d3df4bf804f61" /><Relationship Type="http://schemas.openxmlformats.org/officeDocument/2006/relationships/notesSlide" Target="/ppt/notesSlides/notesSlide6.xml" Id="R1581958571de45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b3e681d224aef" /><Relationship Type="http://schemas.openxmlformats.org/officeDocument/2006/relationships/notesSlide" Target="/ppt/notesSlides/notesSlide7.xml" Id="Rf3f492412a7d43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1863e6f9c4f4d" /><Relationship Type="http://schemas.openxmlformats.org/officeDocument/2006/relationships/image" Target="/ppt/media/image5.png" Id="R2d03ad6490b846cc" /><Relationship Type="http://schemas.openxmlformats.org/officeDocument/2006/relationships/notesSlide" Target="/ppt/notesSlides/notesSlide8.xml" Id="R041b66efc726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18850217549ce" /><Relationship Type="http://schemas.openxmlformats.org/officeDocument/2006/relationships/image" Target="/ppt/media/image6.png" Id="R3ac20710c8c14505" /><Relationship Type="http://schemas.openxmlformats.org/officeDocument/2006/relationships/notesSlide" Target="/ppt/notesSlides/notesSlide9.xml" Id="R6163a2245f4e4b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ce27e48fb4af8" /><Relationship Type="http://schemas.openxmlformats.org/officeDocument/2006/relationships/image" Target="/ppt/media/image7.png" Id="Ra697becd87774d43" /><Relationship Type="http://schemas.openxmlformats.org/officeDocument/2006/relationships/notesSlide" Target="/ppt/notesSlides/notesSlide10.xml" Id="Re6ca351a5be740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5b033ad2aa408c" /><Relationship Type="http://schemas.openxmlformats.org/officeDocument/2006/relationships/image" Target="/ppt/media/image8.png" Id="R35a3e850cece4f2a" /><Relationship Type="http://schemas.openxmlformats.org/officeDocument/2006/relationships/image" Target="/ppt/media/image9.png" Id="Rf196dc36e31c4a51" /><Relationship Type="http://schemas.openxmlformats.org/officeDocument/2006/relationships/image" Target="/ppt/media/image10.png" Id="R62fe5aa694b340c3" /><Relationship Type="http://schemas.openxmlformats.org/officeDocument/2006/relationships/notesSlide" Target="/ppt/notesSlides/notesSlide11.xml" Id="Rbf1780100e5c43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e4d0f5023443e" /><Relationship Type="http://schemas.openxmlformats.org/officeDocument/2006/relationships/image" Target="/ppt/media/image11.png" Id="Rdad3f7d7a73c4345" /><Relationship Type="http://schemas.openxmlformats.org/officeDocument/2006/relationships/notesSlide" Target="/ppt/notesSlides/notesSlide12.xml" Id="R52c2ac483b624c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7690423f64c99" /><Relationship Type="http://schemas.openxmlformats.org/officeDocument/2006/relationships/image" Target="/ppt/media/image12.png" Id="Rddc5a2c73d9942af" /><Relationship Type="http://schemas.openxmlformats.org/officeDocument/2006/relationships/notesSlide" Target="/ppt/notesSlides/notesSlide13.xml" Id="R633dee02ce074f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90fbaf6564798" /><Relationship Type="http://schemas.openxmlformats.org/officeDocument/2006/relationships/image" Target="/ppt/media/image13.png" Id="R1e76f5b0d0064cd0" /><Relationship Type="http://schemas.openxmlformats.org/officeDocument/2006/relationships/notesSlide" Target="/ppt/notesSlides/notesSlide14.xml" Id="Rbf96a6574fed44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e5354f0824f83" /><Relationship Type="http://schemas.openxmlformats.org/officeDocument/2006/relationships/image" Target="/ppt/media/image14.png" Id="R22906cdd5c2c48fb" /><Relationship Type="http://schemas.openxmlformats.org/officeDocument/2006/relationships/notesSlide" Target="/ppt/notesSlides/notesSlide15.xml" Id="R3a81c06946b94a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cd5e3e67641fd" /><Relationship Type="http://schemas.openxmlformats.org/officeDocument/2006/relationships/notesSlide" Target="/ppt/notesSlides/notesSlide16.xml" Id="Ra7c70d9c756540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189290f714145" /><Relationship Type="http://schemas.openxmlformats.org/officeDocument/2006/relationships/notesSlide" Target="/ppt/notesSlides/notesSlide17.xml" Id="R7cc1c65aa5a343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6bba8e5ed4dd1" /><Relationship Type="http://schemas.openxmlformats.org/officeDocument/2006/relationships/notesSlide" Target="/ppt/notesSlides/notesSlide18.xml" Id="Rb8c002943eae49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47097A-4F64-4419-86F0-8D0BD71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74104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02A"/>
                </a:solidFill>
              </a:defRPr>
            </a:pPr>
            <a:r>
              <a:rPr sz="5700" b="1">
                <a:solidFill>
                  <a:srgbClr val="17202A"/>
                </a:solidFill>
              </a:rPr>
              <a:t>DKH 업무관리시스템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4F21F3-2208-4F19-BD86-DED7B3E5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7410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6FA8"/>
                </a:solidFill>
              </a:defRPr>
            </a:pPr>
            <a:r>
              <a:rPr sz="3750" b="1">
                <a:solidFill>
                  <a:srgbClr val="246FA8"/>
                </a:solidFill>
              </a:rPr>
              <a:t>상세 운영 매뉴얼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43E5CBF3-2599-45E8-A09C-5033388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4" name="cover-desc">
            <a:extLst xmlns:a="http://schemas.openxmlformats.org/drawingml/2006/main">
              <a:ext uri="{FF2B5EF4-FFF2-40B4-BE49-F238E27FC236}">
                <a16:creationId xmlns:a16="http://schemas.microsoft.com/office/drawing/2014/main" id="{E9103F67-0AA4-4B7A-A987-F50AFF16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6572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68A"/>
                </a:solidFill>
              </a:defRPr>
            </a:pPr>
            <a:r>
              <a:rPr sz="2025" b="0">
                <a:solidFill>
                  <a:srgbClr val="66768A"/>
                </a:solidFill>
              </a:rPr>
              <a:t>업무 흐름, 저장 로직, 집계 기준, 예외상황까지 화면 캡쳐와 함께 정리한 교육용 PPT</a:t>
            </a:r>
          </a:p>
        </p:txBody>
      </p:sp>
      <p:sp>
        <p:nvSpPr>
          <p:cNvPr id="5" name="label-운영자 교육용">
            <a:extLst xmlns:a="http://schemas.openxmlformats.org/drawingml/2006/main">
              <a:ext uri="{FF2B5EF4-FFF2-40B4-BE49-F238E27FC236}">
                <a16:creationId xmlns:a16="http://schemas.microsoft.com/office/drawing/2014/main" id="{B21C67D3-FA15-40D6-9129-A1B03E1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30640"/>
            <a:ext cx="1293876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6" name="label-text-운영자 교육용">
            <a:extLst xmlns:a="http://schemas.openxmlformats.org/drawingml/2006/main">
              <a:ext uri="{FF2B5EF4-FFF2-40B4-BE49-F238E27FC236}">
                <a16:creationId xmlns:a16="http://schemas.microsoft.com/office/drawing/2014/main" id="{1F6F248B-F74F-467D-8B7C-F8A0BFD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916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운영자 교육용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FCD20C72-110C-482F-91B0-B26095B1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741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68A"/>
                </a:solidFill>
              </a:defRPr>
            </a:pPr>
            <a:r>
              <a:rPr sz="1500" b="0">
                <a:solidFill>
                  <a:srgbClr val="66768A"/>
                </a:solidFill>
              </a:rPr>
              <a:t>작성일 2026-05-14</a:t>
            </a:r>
          </a:p>
        </p:txBody>
      </p:sp>
      <p:sp>
        <p:nvSpPr>
          <p:cNvPr id="8" name="screen-01-dashboard.png">
            <a:extLst xmlns:a="http://schemas.openxmlformats.org/drawingml/2006/main">
              <a:ext uri="{FF2B5EF4-FFF2-40B4-BE49-F238E27FC236}">
                <a16:creationId xmlns:a16="http://schemas.microsoft.com/office/drawing/2014/main" id="{B9271812-CD26-4D2B-BE77-1C08D83B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048" y="704850"/>
            <a:ext cx="8763000" cy="4924425"/>
          </a:xfrm>
          <a:prstGeom xmlns:a="http://schemas.openxmlformats.org/drawingml/2006/main" prst="roundRect">
            <a:avLst>
              <a:gd name="adj" fmla="val 1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9" name="image-01-dashboard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4a1be669d4784"/>
          <a:stretch xmlns:a="http://schemas.openxmlformats.org/drawingml/2006/main"/>
        </p:blipFill>
        <p:spPr>
          <a:xfrm xmlns:a="http://schemas.openxmlformats.org/drawingml/2006/main">
            <a:off x="8866263" y="781050"/>
            <a:ext cx="8562570" cy="4772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32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num">
            <a:extLst xmlns:a="http://schemas.openxmlformats.org/drawingml/2006/main">
              <a:ext uri="{FF2B5EF4-FFF2-40B4-BE49-F238E27FC236}">
                <a16:creationId xmlns:a16="http://schemas.microsoft.com/office/drawing/2014/main" id="{A952AD78-7F92-423E-82CA-EFCBDCC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02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AE3699EE-232F-4823-9146-9C0E19CA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2-section">
            <a:extLst xmlns:a="http://schemas.openxmlformats.org/drawingml/2006/main">
              <a:ext uri="{FF2B5EF4-FFF2-40B4-BE49-F238E27FC236}">
                <a16:creationId xmlns:a16="http://schemas.microsoft.com/office/drawing/2014/main" id="{B9DA8A9C-A146-4A35-8D00-1EC82A1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핵심 구조</a:t>
            </a:r>
          </a:p>
        </p:txBody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C889AA2-9D19-40B5-8CD3-6E459DA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이 시스템은 문서 품목을 기준으로 수주와 정산을 연결합니다.</a:t>
            </a:r>
          </a:p>
        </p:txBody>
      </p:sp>
      <p:sp>
        <p:nvSpPr>
          <p:cNvPr id="5" name="slide-2-subtitle-empty">
            <a:extLst xmlns:a="http://schemas.openxmlformats.org/drawingml/2006/main">
              <a:ext uri="{FF2B5EF4-FFF2-40B4-BE49-F238E27FC236}">
                <a16:creationId xmlns:a16="http://schemas.microsoft.com/office/drawing/2014/main" id="{9E9E0847-D980-4ECC-92AF-DC913CD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flow-마스터">
            <a:extLst xmlns:a="http://schemas.openxmlformats.org/drawingml/2006/main">
              <a:ext uri="{FF2B5EF4-FFF2-40B4-BE49-F238E27FC236}">
                <a16:creationId xmlns:a16="http://schemas.microsoft.com/office/drawing/2014/main" id="{A1F8E0DF-0533-4EE0-8CC0-98CD728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7845"/>
            <a:ext cx="3643313" cy="4478655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E8F63"/>
            </a:solidFill>
            <a:prstDash val="solid"/>
          </a:ln>
        </p:spPr>
      </p:sp>
      <p:sp>
        <p:nvSpPr>
          <p:cNvPr id="7" name="flow-title-마스터">
            <a:extLst xmlns:a="http://schemas.openxmlformats.org/drawingml/2006/main">
              <a:ext uri="{FF2B5EF4-FFF2-40B4-BE49-F238E27FC236}">
                <a16:creationId xmlns:a16="http://schemas.microsoft.com/office/drawing/2014/main" id="{92794FEE-F823-4DAC-86C8-5243E30B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29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8F63"/>
                </a:solidFill>
              </a:defRPr>
            </a:pPr>
            <a:r>
              <a:rPr sz="1875" b="1">
                <a:solidFill>
                  <a:srgbClr val="2E8F63"/>
                </a:solidFill>
              </a:rPr>
              <a:t>마스터</a:t>
            </a:r>
          </a:p>
        </p:txBody>
      </p:sp>
      <p:sp>
        <p:nvSpPr>
          <p:cNvPr id="8" name="flow-desc-마스터">
            <a:extLst xmlns:a="http://schemas.openxmlformats.org/drawingml/2006/main">
              <a:ext uri="{FF2B5EF4-FFF2-40B4-BE49-F238E27FC236}">
                <a16:creationId xmlns:a16="http://schemas.microsoft.com/office/drawing/2014/main" id="{D000C8B5-FE54-4142-B86E-8FFE854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납품처, 수신처, 공급자, 품목, 단가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3F4617BD-B613-4816-952D-C3E41625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43815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A6A6"/>
                </a:solidFill>
              </a:defRPr>
            </a:pPr>
            <a:r>
              <a:rPr sz="36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0" name="flow-문서 작성">
            <a:extLst xmlns:a="http://schemas.openxmlformats.org/drawingml/2006/main">
              <a:ext uri="{FF2B5EF4-FFF2-40B4-BE49-F238E27FC236}">
                <a16:creationId xmlns:a16="http://schemas.microsoft.com/office/drawing/2014/main" id="{78508A53-5901-4279-BEE2-0EB51B4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1807845"/>
            <a:ext cx="3643313" cy="4478655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46FA8"/>
            </a:solidFill>
            <a:prstDash val="solid"/>
          </a:ln>
        </p:spPr>
      </p:sp>
      <p:sp>
        <p:nvSpPr>
          <p:cNvPr id="11" name="flow-title-문서 작성">
            <a:extLst xmlns:a="http://schemas.openxmlformats.org/drawingml/2006/main">
              <a:ext uri="{FF2B5EF4-FFF2-40B4-BE49-F238E27FC236}">
                <a16:creationId xmlns:a16="http://schemas.microsoft.com/office/drawing/2014/main" id="{4CFA7C95-A136-47F8-B57A-E62F681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52850"/>
            <a:ext cx="329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6FA8"/>
                </a:solidFill>
              </a:defRPr>
            </a:pPr>
            <a:r>
              <a:rPr sz="1875" b="1">
                <a:solidFill>
                  <a:srgbClr val="246FA8"/>
                </a:solidFill>
              </a:rPr>
              <a:t>문서 작성</a:t>
            </a:r>
          </a:p>
        </p:txBody>
      </p:sp>
      <p:sp>
        <p:nvSpPr>
          <p:cNvPr id="12" name="flow-desc-문서 작성">
            <a:extLst xmlns:a="http://schemas.openxmlformats.org/drawingml/2006/main">
              <a:ext uri="{FF2B5EF4-FFF2-40B4-BE49-F238E27FC236}">
                <a16:creationId xmlns:a16="http://schemas.microsoft.com/office/drawing/2014/main" id="{36FBF9AF-052A-4A1E-9DFA-75B5C15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338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발행번호, 기본정보, 품목, VAT, 비고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79FA3D6B-DA90-4447-9721-2D8693F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43815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A6A6"/>
                </a:solidFill>
              </a:defRPr>
            </a:pPr>
            <a:r>
              <a:rPr sz="36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4" name="flow-수주대장">
            <a:extLst xmlns:a="http://schemas.openxmlformats.org/drawingml/2006/main">
              <a:ext uri="{FF2B5EF4-FFF2-40B4-BE49-F238E27FC236}">
                <a16:creationId xmlns:a16="http://schemas.microsoft.com/office/drawing/2014/main" id="{BEEC8A4E-3D5F-4C67-A67C-DEFCE9A9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807845"/>
            <a:ext cx="3643313" cy="4478655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C47A1B"/>
            </a:solidFill>
            <a:prstDash val="solid"/>
          </a:ln>
        </p:spPr>
      </p:sp>
      <p:sp>
        <p:nvSpPr>
          <p:cNvPr id="15" name="flow-title-수주대장">
            <a:extLst xmlns:a="http://schemas.openxmlformats.org/drawingml/2006/main">
              <a:ext uri="{FF2B5EF4-FFF2-40B4-BE49-F238E27FC236}">
                <a16:creationId xmlns:a16="http://schemas.microsoft.com/office/drawing/2014/main" id="{11A96744-67E8-487C-A7E3-A83844F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52850"/>
            <a:ext cx="329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47A1B"/>
                </a:solidFill>
              </a:defRPr>
            </a:pPr>
            <a:r>
              <a:rPr sz="1875" b="1">
                <a:solidFill>
                  <a:srgbClr val="C47A1B"/>
                </a:solidFill>
              </a:rPr>
              <a:t>수주대장</a:t>
            </a:r>
          </a:p>
        </p:txBody>
      </p:sp>
      <p:sp>
        <p:nvSpPr>
          <p:cNvPr id="16" name="flow-desc-수주대장">
            <a:extLst xmlns:a="http://schemas.openxmlformats.org/drawingml/2006/main">
              <a:ext uri="{FF2B5EF4-FFF2-40B4-BE49-F238E27FC236}">
                <a16:creationId xmlns:a16="http://schemas.microsoft.com/office/drawing/2014/main" id="{2908D805-1DC6-4165-B6F3-5F723074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338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저장 시 품목별 수주 항목 자동 생성</a:t>
            </a:r>
          </a:p>
        </p:txBody>
      </p:sp>
      <p:sp>
        <p:nvSpPr>
          <p:cNvPr id="17" name="arrow-3">
            <a:extLst xmlns:a="http://schemas.openxmlformats.org/drawingml/2006/main">
              <a:ext uri="{FF2B5EF4-FFF2-40B4-BE49-F238E27FC236}">
                <a16:creationId xmlns:a16="http://schemas.microsoft.com/office/drawing/2014/main" id="{B7503EB3-27E1-4624-B17A-598E96EA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809750"/>
            <a:ext cx="43815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A6A6"/>
                </a:solidFill>
              </a:defRPr>
            </a:pPr>
            <a:r>
              <a:rPr sz="36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8" name="flow-정산">
            <a:extLst xmlns:a="http://schemas.openxmlformats.org/drawingml/2006/main">
              <a:ext uri="{FF2B5EF4-FFF2-40B4-BE49-F238E27FC236}">
                <a16:creationId xmlns:a16="http://schemas.microsoft.com/office/drawing/2014/main" id="{F54F86CC-320F-41FD-B1F6-A0230381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38" y="1807845"/>
            <a:ext cx="3643313" cy="4478655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7466F"/>
            </a:solidFill>
            <a:prstDash val="solid"/>
          </a:ln>
        </p:spPr>
      </p:sp>
      <p:sp>
        <p:nvSpPr>
          <p:cNvPr id="19" name="flow-title-정산">
            <a:extLst xmlns:a="http://schemas.openxmlformats.org/drawingml/2006/main">
              <a:ext uri="{FF2B5EF4-FFF2-40B4-BE49-F238E27FC236}">
                <a16:creationId xmlns:a16="http://schemas.microsoft.com/office/drawing/2014/main" id="{E0E4898F-6A40-46D7-AD74-76517B7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752850"/>
            <a:ext cx="329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66F"/>
                </a:solidFill>
              </a:defRPr>
            </a:pPr>
            <a:r>
              <a:rPr sz="1875" b="1">
                <a:solidFill>
                  <a:srgbClr val="17466F"/>
                </a:solidFill>
              </a:rPr>
              <a:t>정산</a:t>
            </a:r>
          </a:p>
        </p:txBody>
      </p:sp>
      <p:sp>
        <p:nvSpPr>
          <p:cNvPr id="20" name="flow-desc-정산">
            <a:extLst xmlns:a="http://schemas.openxmlformats.org/drawingml/2006/main">
              <a:ext uri="{FF2B5EF4-FFF2-40B4-BE49-F238E27FC236}">
                <a16:creationId xmlns:a16="http://schemas.microsoft.com/office/drawing/2014/main" id="{FE469473-ECBC-4B0F-B149-DB5EF2B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1338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월마감, 일일판매, 대시보드 집계</a:t>
            </a:r>
          </a:p>
        </p:txBody>
      </p:sp>
      <p:sp>
        <p:nvSpPr>
          <p:cNvPr id="21" name="state-table-h-0">
            <a:extLst xmlns:a="http://schemas.openxmlformats.org/drawingml/2006/main">
              <a:ext uri="{FF2B5EF4-FFF2-40B4-BE49-F238E27FC236}">
                <a16:creationId xmlns:a16="http://schemas.microsoft.com/office/drawing/2014/main" id="{FFDCB451-A4D6-4535-B406-933FCE0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53200"/>
            <a:ext cx="344658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state-table-htext-0">
            <a:extLst xmlns:a="http://schemas.openxmlformats.org/drawingml/2006/main">
              <a:ext uri="{FF2B5EF4-FFF2-40B4-BE49-F238E27FC236}">
                <a16:creationId xmlns:a16="http://schemas.microsoft.com/office/drawing/2014/main" id="{622E834A-9E1A-4978-8E6E-2485AB0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675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상태/삭제값</a:t>
            </a:r>
          </a:p>
        </p:txBody>
      </p:sp>
      <p:sp>
        <p:nvSpPr>
          <p:cNvPr id="23" name="state-table-h-1">
            <a:extLst xmlns:a="http://schemas.openxmlformats.org/drawingml/2006/main">
              <a:ext uri="{FF2B5EF4-FFF2-40B4-BE49-F238E27FC236}">
                <a16:creationId xmlns:a16="http://schemas.microsoft.com/office/drawing/2014/main" id="{A71406AC-0935-46CB-A8CA-7245BFE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535" y="6553200"/>
            <a:ext cx="47390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state-table-htext-1">
            <a:extLst xmlns:a="http://schemas.openxmlformats.org/drawingml/2006/main">
              <a:ext uri="{FF2B5EF4-FFF2-40B4-BE49-F238E27FC236}">
                <a16:creationId xmlns:a16="http://schemas.microsoft.com/office/drawing/2014/main" id="{22F8F1BD-3FC2-41B9-8150-94ECD1E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667500"/>
            <a:ext cx="445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25" name="state-table-h-2">
            <a:extLst xmlns:a="http://schemas.openxmlformats.org/drawingml/2006/main">
              <a:ext uri="{FF2B5EF4-FFF2-40B4-BE49-F238E27FC236}">
                <a16:creationId xmlns:a16="http://schemas.microsoft.com/office/drawing/2014/main" id="{01A65C6C-8E12-4ADC-9CD2-2EDDF0E8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588" y="6553200"/>
            <a:ext cx="861646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state-table-htext-2">
            <a:extLst xmlns:a="http://schemas.openxmlformats.org/drawingml/2006/main">
              <a:ext uri="{FF2B5EF4-FFF2-40B4-BE49-F238E27FC236}">
                <a16:creationId xmlns:a16="http://schemas.microsoft.com/office/drawing/2014/main" id="{8BEE79E3-E7B8-4DF1-86AC-0C31B119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67500"/>
            <a:ext cx="832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운영 영향</a:t>
            </a:r>
          </a:p>
        </p:txBody>
      </p:sp>
      <p:sp>
        <p:nvSpPr>
          <p:cNvPr id="27" name="state-table-cell-0-0">
            <a:extLst xmlns:a="http://schemas.openxmlformats.org/drawingml/2006/main">
              <a:ext uri="{FF2B5EF4-FFF2-40B4-BE49-F238E27FC236}">
                <a16:creationId xmlns:a16="http://schemas.microsoft.com/office/drawing/2014/main" id="{274E8E6D-0C1F-425F-9A87-0D459B6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344658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8" name="state-table-text-0-0">
            <a:extLst xmlns:a="http://schemas.openxmlformats.org/drawingml/2006/main">
              <a:ext uri="{FF2B5EF4-FFF2-40B4-BE49-F238E27FC236}">
                <a16:creationId xmlns:a16="http://schemas.microsoft.com/office/drawing/2014/main" id="{CCF50AE5-44EE-431B-9801-1B45B9E7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818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ST00</a:t>
            </a:r>
          </a:p>
        </p:txBody>
      </p:sp>
      <p:sp>
        <p:nvSpPr>
          <p:cNvPr id="29" name="state-table-cell-0-1">
            <a:extLst xmlns:a="http://schemas.openxmlformats.org/drawingml/2006/main">
              <a:ext uri="{FF2B5EF4-FFF2-40B4-BE49-F238E27FC236}">
                <a16:creationId xmlns:a16="http://schemas.microsoft.com/office/drawing/2014/main" id="{ABA9958C-A716-42E7-8830-CAC80248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535" y="7067550"/>
            <a:ext cx="473905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0" name="state-table-text-0-1">
            <a:extLst xmlns:a="http://schemas.openxmlformats.org/drawingml/2006/main">
              <a:ext uri="{FF2B5EF4-FFF2-40B4-BE49-F238E27FC236}">
                <a16:creationId xmlns:a16="http://schemas.microsoft.com/office/drawing/2014/main" id="{497CDCC6-10F6-40EC-AC74-1FF3BC6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181850"/>
            <a:ext cx="445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정상 또는 진행중</a:t>
            </a:r>
          </a:p>
        </p:txBody>
      </p:sp>
      <p:sp>
        <p:nvSpPr>
          <p:cNvPr id="31" name="state-table-cell-0-2">
            <a:extLst xmlns:a="http://schemas.openxmlformats.org/drawingml/2006/main">
              <a:ext uri="{FF2B5EF4-FFF2-40B4-BE49-F238E27FC236}">
                <a16:creationId xmlns:a16="http://schemas.microsoft.com/office/drawing/2014/main" id="{AEA91F62-6063-42F1-AB97-B6F3B009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588" y="7067550"/>
            <a:ext cx="861646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2" name="state-table-text-0-2">
            <a:extLst xmlns:a="http://schemas.openxmlformats.org/drawingml/2006/main">
              <a:ext uri="{FF2B5EF4-FFF2-40B4-BE49-F238E27FC236}">
                <a16:creationId xmlns:a16="http://schemas.microsoft.com/office/drawing/2014/main" id="{78D02E68-136F-4E09-BE2E-F88A622B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718185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대시보드, 월마감, 일일판매 집계에 포함</a:t>
            </a:r>
          </a:p>
        </p:txBody>
      </p:sp>
      <p:sp>
        <p:nvSpPr>
          <p:cNvPr id="33" name="state-table-cell-1-0">
            <a:extLst xmlns:a="http://schemas.openxmlformats.org/drawingml/2006/main">
              <a:ext uri="{FF2B5EF4-FFF2-40B4-BE49-F238E27FC236}">
                <a16:creationId xmlns:a16="http://schemas.microsoft.com/office/drawing/2014/main" id="{AFE4FD7A-32B7-42B3-B330-5EAD60E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344658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4" name="state-table-text-1-0">
            <a:extLst xmlns:a="http://schemas.openxmlformats.org/drawingml/2006/main">
              <a:ext uri="{FF2B5EF4-FFF2-40B4-BE49-F238E27FC236}">
                <a16:creationId xmlns:a16="http://schemas.microsoft.com/office/drawing/2014/main" id="{B1EA6DE2-95A3-4574-81EE-CCAE55DC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248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ST01</a:t>
            </a:r>
          </a:p>
        </p:txBody>
      </p:sp>
      <p:sp>
        <p:nvSpPr>
          <p:cNvPr id="35" name="state-table-cell-1-1">
            <a:extLst xmlns:a="http://schemas.openxmlformats.org/drawingml/2006/main">
              <a:ext uri="{FF2B5EF4-FFF2-40B4-BE49-F238E27FC236}">
                <a16:creationId xmlns:a16="http://schemas.microsoft.com/office/drawing/2014/main" id="{7392CA87-1212-4344-8836-B555545D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535" y="7810500"/>
            <a:ext cx="473905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6" name="state-table-text-1-1">
            <a:extLst xmlns:a="http://schemas.openxmlformats.org/drawingml/2006/main">
              <a:ext uri="{FF2B5EF4-FFF2-40B4-BE49-F238E27FC236}">
                <a16:creationId xmlns:a16="http://schemas.microsoft.com/office/drawing/2014/main" id="{39AB534C-D552-47D8-974D-C68FA488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924800"/>
            <a:ext cx="445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거래취소</a:t>
            </a:r>
          </a:p>
        </p:txBody>
      </p:sp>
      <p:sp>
        <p:nvSpPr>
          <p:cNvPr id="37" name="state-table-cell-1-2">
            <a:extLst xmlns:a="http://schemas.openxmlformats.org/drawingml/2006/main">
              <a:ext uri="{FF2B5EF4-FFF2-40B4-BE49-F238E27FC236}">
                <a16:creationId xmlns:a16="http://schemas.microsoft.com/office/drawing/2014/main" id="{D115E5E1-D4E2-48A7-93B9-7F4880F0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588" y="7810500"/>
            <a:ext cx="861646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8" name="state-table-text-1-2">
            <a:extLst xmlns:a="http://schemas.openxmlformats.org/drawingml/2006/main">
              <a:ext uri="{FF2B5EF4-FFF2-40B4-BE49-F238E27FC236}">
                <a16:creationId xmlns:a16="http://schemas.microsoft.com/office/drawing/2014/main" id="{CE1A5D58-D183-4B03-80A0-9EE50CDE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792480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문서, 품목, 수주대장, 정산 집계에서 제외</a:t>
            </a:r>
          </a:p>
        </p:txBody>
      </p:sp>
      <p:sp>
        <p:nvSpPr>
          <p:cNvPr id="39" name="state-table-cell-2-0">
            <a:extLst xmlns:a="http://schemas.openxmlformats.org/drawingml/2006/main">
              <a:ext uri="{FF2B5EF4-FFF2-40B4-BE49-F238E27FC236}">
                <a16:creationId xmlns:a16="http://schemas.microsoft.com/office/drawing/2014/main" id="{C421A23F-0BEA-4FA3-86A6-B5367F7B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53450"/>
            <a:ext cx="344658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0" name="state-table-text-2-0">
            <a:extLst xmlns:a="http://schemas.openxmlformats.org/drawingml/2006/main">
              <a:ext uri="{FF2B5EF4-FFF2-40B4-BE49-F238E27FC236}">
                <a16:creationId xmlns:a16="http://schemas.microsoft.com/office/drawing/2014/main" id="{760FC376-0306-453E-A89A-6133C47C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6677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del_yn = Y</a:t>
            </a:r>
          </a:p>
        </p:txBody>
      </p:sp>
      <p:sp>
        <p:nvSpPr>
          <p:cNvPr id="41" name="state-table-cell-2-1">
            <a:extLst xmlns:a="http://schemas.openxmlformats.org/drawingml/2006/main">
              <a:ext uri="{FF2B5EF4-FFF2-40B4-BE49-F238E27FC236}">
                <a16:creationId xmlns:a16="http://schemas.microsoft.com/office/drawing/2014/main" id="{929FA687-690D-470E-AA67-AB44668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535" y="8553450"/>
            <a:ext cx="473905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2" name="state-table-text-2-1">
            <a:extLst xmlns:a="http://schemas.openxmlformats.org/drawingml/2006/main">
              <a:ext uri="{FF2B5EF4-FFF2-40B4-BE49-F238E27FC236}">
                <a16:creationId xmlns:a16="http://schemas.microsoft.com/office/drawing/2014/main" id="{5EF1EADA-7F35-45C9-90BC-9DE44243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8667750"/>
            <a:ext cx="445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소프트 삭제</a:t>
            </a:r>
          </a:p>
        </p:txBody>
      </p:sp>
      <p:sp>
        <p:nvSpPr>
          <p:cNvPr id="43" name="state-table-cell-2-2">
            <a:extLst xmlns:a="http://schemas.openxmlformats.org/drawingml/2006/main">
              <a:ext uri="{FF2B5EF4-FFF2-40B4-BE49-F238E27FC236}">
                <a16:creationId xmlns:a16="http://schemas.microsoft.com/office/drawing/2014/main" id="{8EC150D1-8C1E-4A04-B7D0-C5A1E4C9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588" y="8553450"/>
            <a:ext cx="861646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4" name="state-table-text-2-2">
            <a:extLst xmlns:a="http://schemas.openxmlformats.org/drawingml/2006/main">
              <a:ext uri="{FF2B5EF4-FFF2-40B4-BE49-F238E27FC236}">
                <a16:creationId xmlns:a16="http://schemas.microsoft.com/office/drawing/2014/main" id="{D9744DF3-9D97-4B15-9547-0E4D4A7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66775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일반 목록과 집계에서 보이지 않음</a:t>
            </a:r>
          </a:p>
        </p:txBody>
      </p:sp>
      <p:sp>
        <p:nvSpPr>
          <p:cNvPr id="45" name="footer-2">
            <a:extLst xmlns:a="http://schemas.openxmlformats.org/drawingml/2006/main">
              <a:ext uri="{FF2B5EF4-FFF2-40B4-BE49-F238E27FC236}">
                <a16:creationId xmlns:a16="http://schemas.microsoft.com/office/drawing/2014/main" id="{8C5880F6-105A-4A46-A541-C110F11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8359762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num">
            <a:extLst xmlns:a="http://schemas.openxmlformats.org/drawingml/2006/main">
              <a:ext uri="{FF2B5EF4-FFF2-40B4-BE49-F238E27FC236}">
                <a16:creationId xmlns:a16="http://schemas.microsoft.com/office/drawing/2014/main" id="{BCD1EF6F-CEA0-4FFF-870A-3FC7115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03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9B4ED1DF-E703-4F06-A20B-DFB5E6A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3-section">
            <a:extLst xmlns:a="http://schemas.openxmlformats.org/drawingml/2006/main">
              <a:ext uri="{FF2B5EF4-FFF2-40B4-BE49-F238E27FC236}">
                <a16:creationId xmlns:a16="http://schemas.microsoft.com/office/drawing/2014/main" id="{28650DD0-143A-42A1-AB36-FEFADAEC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로그인/권한</a:t>
            </a:r>
          </a:p>
        </p:txBody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7458B7F-4D29-4B90-9DA4-D73642A5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접근 문제는 계정 상태와 권한을 먼저 확인합니다.</a:t>
            </a:r>
          </a:p>
        </p:txBody>
      </p:sp>
      <p:sp>
        <p:nvSpPr>
          <p:cNvPr id="5" name="slide-3-subtitle-empty">
            <a:extLst xmlns:a="http://schemas.openxmlformats.org/drawingml/2006/main">
              <a:ext uri="{FF2B5EF4-FFF2-40B4-BE49-F238E27FC236}">
                <a16:creationId xmlns:a16="http://schemas.microsoft.com/office/drawing/2014/main" id="{8B7FA874-D672-47BC-819A-8B849C68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9-account.png">
            <a:extLst xmlns:a="http://schemas.openxmlformats.org/drawingml/2006/main">
              <a:ext uri="{FF2B5EF4-FFF2-40B4-BE49-F238E27FC236}">
                <a16:creationId xmlns:a16="http://schemas.microsoft.com/office/drawing/2014/main" id="{DD7335AA-722E-479B-BA41-361A39B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8795"/>
            <a:ext cx="8953500" cy="5038725"/>
          </a:xfrm>
          <a:prstGeom xmlns:a="http://schemas.openxmlformats.org/drawingml/2006/main" prst="roundRect">
            <a:avLst>
              <a:gd name="adj" fmla="val 1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9-accou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9446d50d14efb"/>
          <a:stretch xmlns:a="http://schemas.openxmlformats.org/drawingml/2006/main"/>
        </p:blipFill>
        <p:spPr>
          <a:xfrm xmlns:a="http://schemas.openxmlformats.org/drawingml/2006/main">
            <a:off x="876300" y="1864995"/>
            <a:ext cx="8686800" cy="4886325"/>
          </a:xfrm>
          <a:prstGeom xmlns:a="http://schemas.openxmlformats.org/drawingml/2006/main" prst="rect">
            <a:avLst/>
          </a:prstGeom>
        </p:spPr>
      </p:pic>
      <p:sp>
        <p:nvSpPr>
          <p:cNvPr id="8" name="block-mark-로그인 실패 기준">
            <a:extLst xmlns:a="http://schemas.openxmlformats.org/drawingml/2006/main">
              <a:ext uri="{FF2B5EF4-FFF2-40B4-BE49-F238E27FC236}">
                <a16:creationId xmlns:a16="http://schemas.microsoft.com/office/drawing/2014/main" id="{951E588D-9DB5-4636-AB2C-876AC6D3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90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9" name="block-title-로그인 실패 기준">
            <a:extLst xmlns:a="http://schemas.openxmlformats.org/drawingml/2006/main">
              <a:ext uri="{FF2B5EF4-FFF2-40B4-BE49-F238E27FC236}">
                <a16:creationId xmlns:a16="http://schemas.microsoft.com/office/drawing/2014/main" id="{9C263D45-E857-4F57-AC78-830DF49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907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로그인 실패 기준</a:t>
            </a:r>
          </a:p>
        </p:txBody>
      </p:sp>
      <p:sp>
        <p:nvSpPr>
          <p:cNvPr id="10" name="dot-아이디나 비밀번">
            <a:extLst xmlns:a="http://schemas.openxmlformats.org/drawingml/2006/main">
              <a:ext uri="{FF2B5EF4-FFF2-40B4-BE49-F238E27FC236}">
                <a16:creationId xmlns:a16="http://schemas.microsoft.com/office/drawing/2014/main" id="{7BCEE833-BD1D-4B8C-990F-6BF2CD92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1" name="dot-text-아이디나 비밀번호가 비어">
            <a:extLst xmlns:a="http://schemas.openxmlformats.org/drawingml/2006/main">
              <a:ext uri="{FF2B5EF4-FFF2-40B4-BE49-F238E27FC236}">
                <a16:creationId xmlns:a16="http://schemas.microsoft.com/office/drawing/2014/main" id="{83BD5CA5-A59A-4FFA-9FB0-D07E71C0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2885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아이디나 비밀번호가 비어 있으면 로그인 시도 전 안내합니다.</a:t>
            </a:r>
          </a:p>
        </p:txBody>
      </p:sp>
      <p:sp>
        <p:nvSpPr>
          <p:cNvPr id="12" name="dot-계정이 없거나">
            <a:extLst xmlns:a="http://schemas.openxmlformats.org/drawingml/2006/main">
              <a:ext uri="{FF2B5EF4-FFF2-40B4-BE49-F238E27FC236}">
                <a16:creationId xmlns:a16="http://schemas.microsoft.com/office/drawing/2014/main" id="{45BC2BB2-7A0C-4651-9B9F-8D6CEEB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3" name="dot-text-계정이 없거나 비밀번호가">
            <a:extLst xmlns:a="http://schemas.openxmlformats.org/drawingml/2006/main">
              <a:ext uri="{FF2B5EF4-FFF2-40B4-BE49-F238E27FC236}">
                <a16:creationId xmlns:a16="http://schemas.microsoft.com/office/drawing/2014/main" id="{E5651E66-6EE7-47D0-8612-6BD8DBB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527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계정이 없거나 비밀번호가 틀리면 동일한 오류 메시지로 처리합니다.</a:t>
            </a:r>
          </a:p>
        </p:txBody>
      </p:sp>
      <p:sp>
        <p:nvSpPr>
          <p:cNvPr id="14" name="dot-잠긴 계정은 관">
            <a:extLst xmlns:a="http://schemas.openxmlformats.org/drawingml/2006/main">
              <a:ext uri="{FF2B5EF4-FFF2-40B4-BE49-F238E27FC236}">
                <a16:creationId xmlns:a16="http://schemas.microsoft.com/office/drawing/2014/main" id="{16E62F2F-7CAF-4302-8BFF-00FBBBA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9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5" name="dot-text-잠긴 계정은 관리자에게 문">
            <a:extLst xmlns:a="http://schemas.openxmlformats.org/drawingml/2006/main">
              <a:ext uri="{FF2B5EF4-FFF2-40B4-BE49-F238E27FC236}">
                <a16:creationId xmlns:a16="http://schemas.microsoft.com/office/drawing/2014/main" id="{2D358B2B-6F77-4F82-B2B0-4F515B3A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잠긴 계정은 관리자에게 문의하도록 안내합니다.</a:t>
            </a:r>
          </a:p>
        </p:txBody>
      </p:sp>
      <p:sp>
        <p:nvSpPr>
          <p:cNvPr id="16" name="block-mark-권한 기준">
            <a:extLst xmlns:a="http://schemas.openxmlformats.org/drawingml/2006/main">
              <a:ext uri="{FF2B5EF4-FFF2-40B4-BE49-F238E27FC236}">
                <a16:creationId xmlns:a16="http://schemas.microsoft.com/office/drawing/2014/main" id="{AAE34953-7E4B-4FD3-9C7F-C01C0B4F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17" name="block-title-권한 기준">
            <a:extLst xmlns:a="http://schemas.openxmlformats.org/drawingml/2006/main">
              <a:ext uri="{FF2B5EF4-FFF2-40B4-BE49-F238E27FC236}">
                <a16:creationId xmlns:a16="http://schemas.microsoft.com/office/drawing/2014/main" id="{4891264C-85AA-469A-8AAD-003DB093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528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권한 기준</a:t>
            </a:r>
          </a:p>
        </p:txBody>
      </p:sp>
      <p:sp>
        <p:nvSpPr>
          <p:cNvPr id="18" name="dot-일반 사용자는">
            <a:extLst xmlns:a="http://schemas.openxmlformats.org/drawingml/2006/main">
              <a:ext uri="{FF2B5EF4-FFF2-40B4-BE49-F238E27FC236}">
                <a16:creationId xmlns:a16="http://schemas.microsoft.com/office/drawing/2014/main" id="{A576C198-7105-4E3D-9ACF-20D5091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19" name="dot-text-일반 사용자는 핵심 업무">
            <a:extLst xmlns:a="http://schemas.openxmlformats.org/drawingml/2006/main">
              <a:ext uri="{FF2B5EF4-FFF2-40B4-BE49-F238E27FC236}">
                <a16:creationId xmlns:a16="http://schemas.microsoft.com/office/drawing/2014/main" id="{0DE563B4-A37A-44CA-8C9D-EFBF06B4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100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일반 사용자는 핵심 업무 메뉴에 접근합니다.</a:t>
            </a:r>
          </a:p>
        </p:txBody>
      </p:sp>
      <p:sp>
        <p:nvSpPr>
          <p:cNvPr id="20" name="dot-관리자는 일일판">
            <a:extLst xmlns:a="http://schemas.openxmlformats.org/drawingml/2006/main">
              <a:ext uri="{FF2B5EF4-FFF2-40B4-BE49-F238E27FC236}">
                <a16:creationId xmlns:a16="http://schemas.microsoft.com/office/drawing/2014/main" id="{8BA1C200-AA33-4A3B-ADDC-B54E3D08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21" name="dot-text-관리자는 일일판매와 계정">
            <a:extLst xmlns:a="http://schemas.openxmlformats.org/drawingml/2006/main">
              <a:ext uri="{FF2B5EF4-FFF2-40B4-BE49-F238E27FC236}">
                <a16:creationId xmlns:a16="http://schemas.microsoft.com/office/drawing/2014/main" id="{DDA4206A-75D5-4CA0-B71C-E59DBEE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3385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관리자는 일일판매와 계정 관리까지 접근합니다.</a:t>
            </a:r>
          </a:p>
        </p:txBody>
      </p:sp>
      <p:sp>
        <p:nvSpPr>
          <p:cNvPr id="22" name="dot-관리자 메뉴 직">
            <a:extLst xmlns:a="http://schemas.openxmlformats.org/drawingml/2006/main">
              <a:ext uri="{FF2B5EF4-FFF2-40B4-BE49-F238E27FC236}">
                <a16:creationId xmlns:a16="http://schemas.microsoft.com/office/drawing/2014/main" id="{78ABE760-4C8B-42D4-A7A7-BE7E2DE8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23" name="dot-text-관리자 메뉴 직접 접근 시">
            <a:extLst xmlns:a="http://schemas.openxmlformats.org/drawingml/2006/main">
              <a:ext uri="{FF2B5EF4-FFF2-40B4-BE49-F238E27FC236}">
                <a16:creationId xmlns:a16="http://schemas.microsoft.com/office/drawing/2014/main" id="{1190F883-027A-49E8-BA9A-DFDF8BE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577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관리자 메뉴 직접 접근 시 권한 없음 안내 후 대시보드로 이동합니다.</a:t>
            </a:r>
          </a:p>
        </p:txBody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B0BD1E4F-0D33-4473-8430-87D16F0A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431767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num">
            <a:extLst xmlns:a="http://schemas.openxmlformats.org/drawingml/2006/main">
              <a:ext uri="{FF2B5EF4-FFF2-40B4-BE49-F238E27FC236}">
                <a16:creationId xmlns:a16="http://schemas.microsoft.com/office/drawing/2014/main" id="{F71770E8-6322-4F52-A549-2628EC5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04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6948CEE5-7E28-45EE-8026-B04B921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4-section">
            <a:extLst xmlns:a="http://schemas.openxmlformats.org/drawingml/2006/main">
              <a:ext uri="{FF2B5EF4-FFF2-40B4-BE49-F238E27FC236}">
                <a16:creationId xmlns:a16="http://schemas.microsoft.com/office/drawing/2014/main" id="{E522BD95-3926-4BB2-B16E-972507E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대시보드</a:t>
            </a:r>
          </a:p>
        </p:txBody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6F654D8-F737-46A7-9F83-5324B77B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오늘 해야 할 일은 수주대장 입고 예정 항목에서 계산됩니다.</a:t>
            </a:r>
          </a:p>
        </p:txBody>
      </p:sp>
      <p:sp>
        <p:nvSpPr>
          <p:cNvPr id="5" name="slide-4-subtitle-empty">
            <a:extLst xmlns:a="http://schemas.openxmlformats.org/drawingml/2006/main">
              <a:ext uri="{FF2B5EF4-FFF2-40B4-BE49-F238E27FC236}">
                <a16:creationId xmlns:a16="http://schemas.microsoft.com/office/drawing/2014/main" id="{F4FAE3BC-DECD-40DD-A545-48753DCC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1-dashboard.png">
            <a:extLst xmlns:a="http://schemas.openxmlformats.org/drawingml/2006/main">
              <a:ext uri="{FF2B5EF4-FFF2-40B4-BE49-F238E27FC236}">
                <a16:creationId xmlns:a16="http://schemas.microsoft.com/office/drawing/2014/main" id="{86D3A243-6DCF-4D3C-BA30-79BAF64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879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1-dashboard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3b546bf64a52"/>
          <a:stretch xmlns:a="http://schemas.openxmlformats.org/drawingml/2006/main"/>
        </p:blipFill>
        <p:spPr>
          <a:xfrm xmlns:a="http://schemas.openxmlformats.org/drawingml/2006/main">
            <a:off x="835971" y="1864995"/>
            <a:ext cx="9434209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집계 포함">
            <a:extLst xmlns:a="http://schemas.openxmlformats.org/drawingml/2006/main">
              <a:ext uri="{FF2B5EF4-FFF2-40B4-BE49-F238E27FC236}">
                <a16:creationId xmlns:a16="http://schemas.microsoft.com/office/drawing/2014/main" id="{1D744D04-EA05-4C5D-8FC6-F84003C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90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집계 포함">
            <a:extLst xmlns:a="http://schemas.openxmlformats.org/drawingml/2006/main">
              <a:ext uri="{FF2B5EF4-FFF2-40B4-BE49-F238E27FC236}">
                <a16:creationId xmlns:a16="http://schemas.microsoft.com/office/drawing/2014/main" id="{BD27F1CE-5791-4B3C-A5CE-4CE381D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790700"/>
            <a:ext cx="6648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집계 포함</a:t>
            </a:r>
          </a:p>
        </p:txBody>
      </p:sp>
      <p:sp>
        <p:nvSpPr>
          <p:cNvPr id="10" name="dot-삭제되지 않은">
            <a:extLst xmlns:a="http://schemas.openxmlformats.org/drawingml/2006/main">
              <a:ext uri="{FF2B5EF4-FFF2-40B4-BE49-F238E27FC236}">
                <a16:creationId xmlns:a16="http://schemas.microsoft.com/office/drawing/2014/main" id="{5777580B-2CC0-4CDC-A7AD-3803539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삭제되지 않은 수주대장 항">
            <a:extLst xmlns:a="http://schemas.openxmlformats.org/drawingml/2006/main">
              <a:ext uri="{FF2B5EF4-FFF2-40B4-BE49-F238E27FC236}">
                <a16:creationId xmlns:a16="http://schemas.microsoft.com/office/drawing/2014/main" id="{0D1754A1-081E-47FF-9CAE-D1C71D2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2885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삭제되지 않은 수주대장 항목만 대상입니다.</a:t>
            </a:r>
          </a:p>
        </p:txBody>
      </p:sp>
      <p:sp>
        <p:nvSpPr>
          <p:cNvPr id="12" name="dot-입고일이 오늘이">
            <a:extLst xmlns:a="http://schemas.openxmlformats.org/drawingml/2006/main">
              <a:ext uri="{FF2B5EF4-FFF2-40B4-BE49-F238E27FC236}">
                <a16:creationId xmlns:a16="http://schemas.microsoft.com/office/drawing/2014/main" id="{F23CE204-1CEE-4454-BF0F-F303242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입고일이 오늘이면 오늘의">
            <a:extLst xmlns:a="http://schemas.openxmlformats.org/drawingml/2006/main">
              <a:ext uri="{FF2B5EF4-FFF2-40B4-BE49-F238E27FC236}">
                <a16:creationId xmlns:a16="http://schemas.microsoft.com/office/drawing/2014/main" id="{87ACA7B3-0D7A-4982-9194-D45B84C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5270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입고일이 오늘이면 오늘의 할 일로 분류합니다.</a:t>
            </a:r>
          </a:p>
        </p:txBody>
      </p:sp>
      <p:sp>
        <p:nvSpPr>
          <p:cNvPr id="14" name="dot-입고일이 오늘">
            <a:extLst xmlns:a="http://schemas.openxmlformats.org/drawingml/2006/main">
              <a:ext uri="{FF2B5EF4-FFF2-40B4-BE49-F238E27FC236}">
                <a16:creationId xmlns:a16="http://schemas.microsoft.com/office/drawing/2014/main" id="{57D8096A-57FC-4546-A6F2-520BD6C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9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입고일이 오늘 이전이고 미">
            <a:extLst xmlns:a="http://schemas.openxmlformats.org/drawingml/2006/main">
              <a:ext uri="{FF2B5EF4-FFF2-40B4-BE49-F238E27FC236}">
                <a16:creationId xmlns:a16="http://schemas.microsoft.com/office/drawing/2014/main" id="{76944B51-ADFC-4B08-8D4D-58BD9342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89560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입고일이 오늘 이전이고 미출고면 지연 건수로 분류합니다.</a:t>
            </a:r>
          </a:p>
        </p:txBody>
      </p:sp>
      <p:sp>
        <p:nvSpPr>
          <p:cNvPr id="16" name="block-mark-예외 처리">
            <a:extLst xmlns:a="http://schemas.openxmlformats.org/drawingml/2006/main">
              <a:ext uri="{FF2B5EF4-FFF2-40B4-BE49-F238E27FC236}">
                <a16:creationId xmlns:a16="http://schemas.microsoft.com/office/drawing/2014/main" id="{1F7801CC-3C80-48C0-AB08-43D65D0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528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예외 처리">
            <a:extLst xmlns:a="http://schemas.openxmlformats.org/drawingml/2006/main">
              <a:ext uri="{FF2B5EF4-FFF2-40B4-BE49-F238E27FC236}">
                <a16:creationId xmlns:a16="http://schemas.microsoft.com/office/drawing/2014/main" id="{9ABBFF69-6CEE-4D58-8BFF-6C5E33AC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33750"/>
            <a:ext cx="6648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예외 처리</a:t>
            </a:r>
          </a:p>
        </p:txBody>
      </p:sp>
      <p:sp>
        <p:nvSpPr>
          <p:cNvPr id="18" name="dot-거래취소 상태는">
            <a:extLst xmlns:a="http://schemas.openxmlformats.org/drawingml/2006/main">
              <a:ext uri="{FF2B5EF4-FFF2-40B4-BE49-F238E27FC236}">
                <a16:creationId xmlns:a16="http://schemas.microsoft.com/office/drawing/2014/main" id="{BBCC0D45-341B-451A-BFB1-3012CD5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거래취소 상태는 정상 건수">
            <a:extLst xmlns:a="http://schemas.openxmlformats.org/drawingml/2006/main">
              <a:ext uri="{FF2B5EF4-FFF2-40B4-BE49-F238E27FC236}">
                <a16:creationId xmlns:a16="http://schemas.microsoft.com/office/drawing/2014/main" id="{15E0A0A2-A604-4165-AF05-BAADF57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79095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거래취소 상태는 정상 건수와 분리합니다.</a:t>
            </a:r>
          </a:p>
        </p:txBody>
      </p:sp>
      <p:sp>
        <p:nvSpPr>
          <p:cNvPr id="20" name="dot-최근 등록 문서">
            <a:extLst xmlns:a="http://schemas.openxmlformats.org/drawingml/2006/main">
              <a:ext uri="{FF2B5EF4-FFF2-40B4-BE49-F238E27FC236}">
                <a16:creationId xmlns:a16="http://schemas.microsoft.com/office/drawing/2014/main" id="{47A82977-D407-4716-9029-D403B5E8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114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최근 등록 문서는 삭제되지">
            <a:extLst xmlns:a="http://schemas.openxmlformats.org/drawingml/2006/main">
              <a:ext uri="{FF2B5EF4-FFF2-40B4-BE49-F238E27FC236}">
                <a16:creationId xmlns:a16="http://schemas.microsoft.com/office/drawing/2014/main" id="{80913821-0015-49C6-A9EE-5D35B90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1480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최근 등록 문서는 삭제되지 않은 문서만 보여줍니다.</a:t>
            </a:r>
          </a:p>
        </p:txBody>
      </p:sp>
      <p:sp>
        <p:nvSpPr>
          <p:cNvPr id="22" name="dot-대시보드 수치가">
            <a:extLst xmlns:a="http://schemas.openxmlformats.org/drawingml/2006/main">
              <a:ext uri="{FF2B5EF4-FFF2-40B4-BE49-F238E27FC236}">
                <a16:creationId xmlns:a16="http://schemas.microsoft.com/office/drawing/2014/main" id="{C3C42843-1AB2-45BE-BC88-2982DD4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대시보드 수치가 다르면 수">
            <a:extLst xmlns:a="http://schemas.openxmlformats.org/drawingml/2006/main">
              <a:ext uri="{FF2B5EF4-FFF2-40B4-BE49-F238E27FC236}">
                <a16:creationId xmlns:a16="http://schemas.microsoft.com/office/drawing/2014/main" id="{1A5EFE11-6000-4DF5-A9CA-2EBD394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43865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대시보드 수치가 다르면 수주대장 상태와 입고일을 먼저 확인합니다.</a:t>
            </a:r>
          </a:p>
        </p:txBody>
      </p:sp>
      <p:sp>
        <p:nvSpPr>
          <p:cNvPr id="24" name="footer-4">
            <a:extLst xmlns:a="http://schemas.openxmlformats.org/drawingml/2006/main">
              <a:ext uri="{FF2B5EF4-FFF2-40B4-BE49-F238E27FC236}">
                <a16:creationId xmlns:a16="http://schemas.microsoft.com/office/drawing/2014/main" id="{8C107F77-8999-4B46-BD8C-3C82EB95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662077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num">
            <a:extLst xmlns:a="http://schemas.openxmlformats.org/drawingml/2006/main">
              <a:ext uri="{FF2B5EF4-FFF2-40B4-BE49-F238E27FC236}">
                <a16:creationId xmlns:a16="http://schemas.microsoft.com/office/drawing/2014/main" id="{E38D9D5D-F87A-474F-97A3-8034FD0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05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0211FF2F-C62C-400C-9054-AECCC90D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5-section">
            <a:extLst xmlns:a="http://schemas.openxmlformats.org/drawingml/2006/main">
              <a:ext uri="{FF2B5EF4-FFF2-40B4-BE49-F238E27FC236}">
                <a16:creationId xmlns:a16="http://schemas.microsoft.com/office/drawing/2014/main" id="{DB8D1238-22E3-4E4F-9D55-2B7D029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문서 작성 1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B9147F3-819C-495A-81E7-CB9D8A0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납품처와 수신처 선택이 품목 목록과 자동입력의 출발점입니다.</a:t>
            </a:r>
          </a:p>
        </p:txBody>
      </p:sp>
      <p:sp>
        <p:nvSpPr>
          <p:cNvPr id="5" name="slide-5-subtitle-empty">
            <a:extLst xmlns:a="http://schemas.openxmlformats.org/drawingml/2006/main">
              <a:ext uri="{FF2B5EF4-FFF2-40B4-BE49-F238E27FC236}">
                <a16:creationId xmlns:a16="http://schemas.microsoft.com/office/drawing/2014/main" id="{1B3B2356-509D-44D8-A026-2B8FFB58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2-doc-create.png">
            <a:extLst xmlns:a="http://schemas.openxmlformats.org/drawingml/2006/main">
              <a:ext uri="{FF2B5EF4-FFF2-40B4-BE49-F238E27FC236}">
                <a16:creationId xmlns:a16="http://schemas.microsoft.com/office/drawing/2014/main" id="{96831F15-437D-4933-90D7-F7A6CAC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715500" cy="5467350"/>
          </a:xfrm>
          <a:prstGeom xmlns:a="http://schemas.openxmlformats.org/drawingml/2006/main" prst="roundRect">
            <a:avLst>
              <a:gd name="adj" fmla="val 1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2-doc-creat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e9c71a01d46cb"/>
          <a:stretch xmlns:a="http://schemas.openxmlformats.org/drawingml/2006/main"/>
        </p:blipFill>
        <p:spPr>
          <a:xfrm xmlns:a="http://schemas.openxmlformats.org/drawingml/2006/main">
            <a:off x="931664" y="1845945"/>
            <a:ext cx="9338072" cy="5314950"/>
          </a:xfrm>
          <a:prstGeom xmlns:a="http://schemas.openxmlformats.org/drawingml/2006/main" prst="rect">
            <a:avLst/>
          </a:prstGeom>
        </p:spPr>
      </p:pic>
      <p:sp>
        <p:nvSpPr>
          <p:cNvPr id="8" name="block-mark-기본정보 로직">
            <a:extLst xmlns:a="http://schemas.openxmlformats.org/drawingml/2006/main">
              <a:ext uri="{FF2B5EF4-FFF2-40B4-BE49-F238E27FC236}">
                <a16:creationId xmlns:a16="http://schemas.microsoft.com/office/drawing/2014/main" id="{584ECD35-EE0E-4739-8985-039800F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기본정보 로직">
            <a:extLst xmlns:a="http://schemas.openxmlformats.org/drawingml/2006/main">
              <a:ext uri="{FF2B5EF4-FFF2-40B4-BE49-F238E27FC236}">
                <a16:creationId xmlns:a16="http://schemas.microsoft.com/office/drawing/2014/main" id="{912D2446-1DA1-4233-A0B1-49E22E0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771650"/>
            <a:ext cx="657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기본정보 로직</a:t>
            </a:r>
          </a:p>
        </p:txBody>
      </p:sp>
      <p:sp>
        <p:nvSpPr>
          <p:cNvPr id="10" name="dot-발행번호는 최신">
            <a:extLst xmlns:a="http://schemas.openxmlformats.org/drawingml/2006/main">
              <a:ext uri="{FF2B5EF4-FFF2-40B4-BE49-F238E27FC236}">
                <a16:creationId xmlns:a16="http://schemas.microsoft.com/office/drawing/2014/main" id="{6FBDE7B5-6216-4F8D-916E-B7AA75FA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발행번호는 최신 발행번호">
            <a:extLst xmlns:a="http://schemas.openxmlformats.org/drawingml/2006/main">
              <a:ext uri="{FF2B5EF4-FFF2-40B4-BE49-F238E27FC236}">
                <a16:creationId xmlns:a16="http://schemas.microsoft.com/office/drawing/2014/main" id="{D7E88DFC-FAC4-4BA8-85DE-1ABEA739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20980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발행번호는 최신 발행번호 + 1로 생성하고, 없으면 26001부터 시작합니다.</a:t>
            </a:r>
          </a:p>
        </p:txBody>
      </p:sp>
      <p:sp>
        <p:nvSpPr>
          <p:cNvPr id="12" name="dot-납품처 선택 시">
            <a:extLst xmlns:a="http://schemas.openxmlformats.org/drawingml/2006/main">
              <a:ext uri="{FF2B5EF4-FFF2-40B4-BE49-F238E27FC236}">
                <a16:creationId xmlns:a16="http://schemas.microsoft.com/office/drawing/2014/main" id="{61AA90C7-F350-4CE7-9996-6D405F5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납품처 선택 시 주소, 담">
            <a:extLst xmlns:a="http://schemas.openxmlformats.org/drawingml/2006/main">
              <a:ext uri="{FF2B5EF4-FFF2-40B4-BE49-F238E27FC236}">
                <a16:creationId xmlns:a16="http://schemas.microsoft.com/office/drawing/2014/main" id="{B322634D-2AC3-43EE-869D-8BD0C00A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53365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납품처 선택 시 주소, 담당자, 연락처, 유의사항을 자동 반영합니다.</a:t>
            </a:r>
          </a:p>
        </p:txBody>
      </p:sp>
      <p:sp>
        <p:nvSpPr>
          <p:cNvPr id="14" name="dot-수신처 목록은">
            <a:extLst xmlns:a="http://schemas.openxmlformats.org/drawingml/2006/main">
              <a:ext uri="{FF2B5EF4-FFF2-40B4-BE49-F238E27FC236}">
                <a16:creationId xmlns:a16="http://schemas.microsoft.com/office/drawing/2014/main" id="{16060DB3-2470-408A-9FA3-F281894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수신처 목록은 선택한 납품">
            <a:extLst xmlns:a="http://schemas.openxmlformats.org/drawingml/2006/main">
              <a:ext uri="{FF2B5EF4-FFF2-40B4-BE49-F238E27FC236}">
                <a16:creationId xmlns:a16="http://schemas.microsoft.com/office/drawing/2014/main" id="{28D23902-2F90-4720-98BA-37CC3601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87655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수신처 목록은 선택한 납품처 기준으로 다시 필터링됩니다.</a:t>
            </a:r>
          </a:p>
        </p:txBody>
      </p:sp>
      <p:sp>
        <p:nvSpPr>
          <p:cNvPr id="16" name="block-mark-사용자가 자주 놓치는 부분">
            <a:extLst xmlns:a="http://schemas.openxmlformats.org/drawingml/2006/main">
              <a:ext uri="{FF2B5EF4-FFF2-40B4-BE49-F238E27FC236}">
                <a16:creationId xmlns:a16="http://schemas.microsoft.com/office/drawing/2014/main" id="{D277A2DF-C0EB-4F87-9B9E-6F918E0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사용자가 자주 놓치는 부분">
            <a:extLst xmlns:a="http://schemas.openxmlformats.org/drawingml/2006/main">
              <a:ext uri="{FF2B5EF4-FFF2-40B4-BE49-F238E27FC236}">
                <a16:creationId xmlns:a16="http://schemas.microsoft.com/office/drawing/2014/main" id="{9F205991-F9A6-40C5-ABD7-7093AAE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14700"/>
            <a:ext cx="657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사용자가 자주 놓치는 부분</a:t>
            </a:r>
          </a:p>
        </p:txBody>
      </p:sp>
      <p:sp>
        <p:nvSpPr>
          <p:cNvPr id="18" name="dot-수신처가 비어">
            <a:extLst xmlns:a="http://schemas.openxmlformats.org/drawingml/2006/main">
              <a:ext uri="{FF2B5EF4-FFF2-40B4-BE49-F238E27FC236}">
                <a16:creationId xmlns:a16="http://schemas.microsoft.com/office/drawing/2014/main" id="{A09C80FE-7696-4573-ADD3-2E07FCA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수신처가 비어 있으면 품목">
            <a:extLst xmlns:a="http://schemas.openxmlformats.org/drawingml/2006/main">
              <a:ext uri="{FF2B5EF4-FFF2-40B4-BE49-F238E27FC236}">
                <a16:creationId xmlns:a16="http://schemas.microsoft.com/office/drawing/2014/main" id="{5B3C60EF-3DE9-46D9-8BA9-805441C3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75285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수신처가 비어 있으면 품목 목록이 예상과 다르게 보일 수 있습니다.</a:t>
            </a:r>
          </a:p>
        </p:txBody>
      </p:sp>
      <p:sp>
        <p:nvSpPr>
          <p:cNvPr id="20" name="dot-납품처를 바꾸면">
            <a:extLst xmlns:a="http://schemas.openxmlformats.org/drawingml/2006/main">
              <a:ext uri="{FF2B5EF4-FFF2-40B4-BE49-F238E27FC236}">
                <a16:creationId xmlns:a16="http://schemas.microsoft.com/office/drawing/2014/main" id="{3DBB6B42-410E-4F27-B810-0A74116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납품처를 바꾸면 기존 수신">
            <a:extLst xmlns:a="http://schemas.openxmlformats.org/drawingml/2006/main">
              <a:ext uri="{FF2B5EF4-FFF2-40B4-BE49-F238E27FC236}">
                <a16:creationId xmlns:a16="http://schemas.microsoft.com/office/drawing/2014/main" id="{08477190-2548-403D-A6CE-21998B17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07670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납품처를 바꾸면 기존 수신처와 품목 선택을 다시 확인해야 합니다.</a:t>
            </a:r>
          </a:p>
        </p:txBody>
      </p:sp>
      <p:sp>
        <p:nvSpPr>
          <p:cNvPr id="22" name="dot-발주일과 입고일">
            <a:extLst xmlns:a="http://schemas.openxmlformats.org/drawingml/2006/main">
              <a:ext uri="{FF2B5EF4-FFF2-40B4-BE49-F238E27FC236}">
                <a16:creationId xmlns:a16="http://schemas.microsoft.com/office/drawing/2014/main" id="{245EDC47-28FA-420B-9307-71235BC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발주일과 입고일은 대시보드">
            <a:extLst xmlns:a="http://schemas.openxmlformats.org/drawingml/2006/main">
              <a:ext uri="{FF2B5EF4-FFF2-40B4-BE49-F238E27FC236}">
                <a16:creationId xmlns:a16="http://schemas.microsoft.com/office/drawing/2014/main" id="{9F993502-5AA8-4B3D-BE14-D4D4C730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400550"/>
            <a:ext cx="655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발주일과 입고일은 대시보드, 수주대장, 월마감 기준에 영향을 줍니다.</a:t>
            </a:r>
          </a:p>
        </p:txBody>
      </p:sp>
      <p:sp>
        <p:nvSpPr>
          <p:cNvPr id="24" name="footer-5">
            <a:extLst xmlns:a="http://schemas.openxmlformats.org/drawingml/2006/main">
              <a:ext uri="{FF2B5EF4-FFF2-40B4-BE49-F238E27FC236}">
                <a16:creationId xmlns:a16="http://schemas.microsoft.com/office/drawing/2014/main" id="{4D375EA6-9867-4D6E-BFE1-B70B8EE7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197966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num">
            <a:extLst xmlns:a="http://schemas.openxmlformats.org/drawingml/2006/main">
              <a:ext uri="{FF2B5EF4-FFF2-40B4-BE49-F238E27FC236}">
                <a16:creationId xmlns:a16="http://schemas.microsoft.com/office/drawing/2014/main" id="{660168C0-C2C4-4EF7-9118-087F1C45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06</a:t>
            </a:r>
          </a:p>
        </p:txBody>
      </p:sp>
      <p:sp>
        <p:nvSpPr>
          <p:cNvPr id="2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5E546CA5-65A5-4287-ACFB-242C6D8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6-section">
            <a:extLst xmlns:a="http://schemas.openxmlformats.org/drawingml/2006/main">
              <a:ext uri="{FF2B5EF4-FFF2-40B4-BE49-F238E27FC236}">
                <a16:creationId xmlns:a16="http://schemas.microsoft.com/office/drawing/2014/main" id="{06369485-24C7-4843-9109-8E35718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문서 작성 2</a:t>
            </a:r>
          </a:p>
        </p:txBody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4CD7B55-D10B-41E8-8CE6-4969833A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품목 행은 수량, 단가, VAT, 박스 기준을 함께 계산합니다.</a:t>
            </a:r>
          </a:p>
        </p:txBody>
      </p:sp>
      <p:sp>
        <p:nvSpPr>
          <p:cNvPr id="5" name="slide-6-subtitle-empty">
            <a:extLst xmlns:a="http://schemas.openxmlformats.org/drawingml/2006/main">
              <a:ext uri="{FF2B5EF4-FFF2-40B4-BE49-F238E27FC236}">
                <a16:creationId xmlns:a16="http://schemas.microsoft.com/office/drawing/2014/main" id="{20358436-3823-4632-9EB4-60A2FE3F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block-mark-품목 선택">
            <a:extLst xmlns:a="http://schemas.openxmlformats.org/drawingml/2006/main">
              <a:ext uri="{FF2B5EF4-FFF2-40B4-BE49-F238E27FC236}">
                <a16:creationId xmlns:a16="http://schemas.microsoft.com/office/drawing/2014/main" id="{EC316A89-64A1-43F1-9A23-ADCD0EF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7" name="block-title-품목 선택">
            <a:extLst xmlns:a="http://schemas.openxmlformats.org/drawingml/2006/main">
              <a:ext uri="{FF2B5EF4-FFF2-40B4-BE49-F238E27FC236}">
                <a16:creationId xmlns:a16="http://schemas.microsoft.com/office/drawing/2014/main" id="{D4D276EE-F976-4890-BF71-E6C215CD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품목 선택</a:t>
            </a:r>
          </a:p>
        </p:txBody>
      </p:sp>
      <p:sp>
        <p:nvSpPr>
          <p:cNvPr id="8" name="dot-선택 가능한 품">
            <a:extLst xmlns:a="http://schemas.openxmlformats.org/drawingml/2006/main">
              <a:ext uri="{FF2B5EF4-FFF2-40B4-BE49-F238E27FC236}">
                <a16:creationId xmlns:a16="http://schemas.microsoft.com/office/drawing/2014/main" id="{559E7411-BBFE-4EA0-8346-7D88969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9" name="dot-text-선택 가능한 품목은 납품처">
            <a:extLst xmlns:a="http://schemas.openxmlformats.org/drawingml/2006/main">
              <a:ext uri="{FF2B5EF4-FFF2-40B4-BE49-F238E27FC236}">
                <a16:creationId xmlns:a16="http://schemas.microsoft.com/office/drawing/2014/main" id="{E5356A7F-7D17-4B2F-8D4D-295B81C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선택 가능한 품목은 납품처와 수신처 조건으로 제한됩니다.</a:t>
            </a:r>
          </a:p>
        </p:txBody>
      </p:sp>
      <p:sp>
        <p:nvSpPr>
          <p:cNvPr id="10" name="dot-표시명은 문서용">
            <a:extLst xmlns:a="http://schemas.openxmlformats.org/drawingml/2006/main">
              <a:ext uri="{FF2B5EF4-FFF2-40B4-BE49-F238E27FC236}">
                <a16:creationId xmlns:a16="http://schemas.microsoft.com/office/drawing/2014/main" id="{6905F1F5-AE4B-46CC-976C-C3903B2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1" name="dot-text-표시명은 문서용 품목명 또">
            <a:extLst xmlns:a="http://schemas.openxmlformats.org/drawingml/2006/main">
              <a:ext uri="{FF2B5EF4-FFF2-40B4-BE49-F238E27FC236}">
                <a16:creationId xmlns:a16="http://schemas.microsoft.com/office/drawing/2014/main" id="{BFE1637E-3049-4BB5-95E4-875FFDAD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표시명은 문서용 품목명 또는 기본 품목명을 우선순위로 사용합니다.</a:t>
            </a:r>
          </a:p>
        </p:txBody>
      </p:sp>
      <p:sp>
        <p:nvSpPr>
          <p:cNvPr id="12" name="dot-단가와 규격은">
            <a:extLst xmlns:a="http://schemas.openxmlformats.org/drawingml/2006/main">
              <a:ext uri="{FF2B5EF4-FFF2-40B4-BE49-F238E27FC236}">
                <a16:creationId xmlns:a16="http://schemas.microsoft.com/office/drawing/2014/main" id="{9EE5FA17-90E3-46E1-AE88-C8A7171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3" name="dot-text-단가와 규격은 등록된 납품">
            <a:extLst xmlns:a="http://schemas.openxmlformats.org/drawingml/2006/main">
              <a:ext uri="{FF2B5EF4-FFF2-40B4-BE49-F238E27FC236}">
                <a16:creationId xmlns:a16="http://schemas.microsoft.com/office/drawing/2014/main" id="{0F3EDEE5-3BB1-492C-9ACE-FF055C7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단가와 규격은 등록된 납품처별 품목 정보를 따라옵니다.</a:t>
            </a:r>
          </a:p>
        </p:txBody>
      </p:sp>
      <p:sp>
        <p:nvSpPr>
          <p:cNvPr id="14" name="block-mark-계산 기준">
            <a:extLst xmlns:a="http://schemas.openxmlformats.org/drawingml/2006/main">
              <a:ext uri="{FF2B5EF4-FFF2-40B4-BE49-F238E27FC236}">
                <a16:creationId xmlns:a16="http://schemas.microsoft.com/office/drawing/2014/main" id="{C77989BF-43AD-4E46-98E8-8C79613D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block-title-계산 기준">
            <a:extLst xmlns:a="http://schemas.openxmlformats.org/drawingml/2006/main">
              <a:ext uri="{FF2B5EF4-FFF2-40B4-BE49-F238E27FC236}">
                <a16:creationId xmlns:a16="http://schemas.microsoft.com/office/drawing/2014/main" id="{5C380AD7-A207-4ECA-99F5-EE005F7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계산 기준</a:t>
            </a:r>
          </a:p>
        </p:txBody>
      </p:sp>
      <p:sp>
        <p:nvSpPr>
          <p:cNvPr id="16" name="dot-공급가액은 수량">
            <a:extLst xmlns:a="http://schemas.openxmlformats.org/drawingml/2006/main">
              <a:ext uri="{FF2B5EF4-FFF2-40B4-BE49-F238E27FC236}">
                <a16:creationId xmlns:a16="http://schemas.microsoft.com/office/drawing/2014/main" id="{18E77CB9-A00E-4339-8EB3-88B78E6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7" name="dot-text-공급가액은 수량 × 단가입">
            <a:extLst xmlns:a="http://schemas.openxmlformats.org/drawingml/2006/main">
              <a:ext uri="{FF2B5EF4-FFF2-40B4-BE49-F238E27FC236}">
                <a16:creationId xmlns:a16="http://schemas.microsoft.com/office/drawing/2014/main" id="{7F49648B-3DFB-43FF-BCD3-11B18EE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공급가액은 수량 × 단가입니다.</a:t>
            </a:r>
          </a:p>
        </p:txBody>
      </p:sp>
      <p:sp>
        <p:nvSpPr>
          <p:cNvPr id="18" name="dot-VAT 적용 품">
            <a:extLst xmlns:a="http://schemas.openxmlformats.org/drawingml/2006/main">
              <a:ext uri="{FF2B5EF4-FFF2-40B4-BE49-F238E27FC236}">
                <a16:creationId xmlns:a16="http://schemas.microsoft.com/office/drawing/2014/main" id="{4658442A-143F-46BC-915F-4A21A02C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9" name="dot-text-VAT 적용 품목은 공급가">
            <a:extLst xmlns:a="http://schemas.openxmlformats.org/drawingml/2006/main">
              <a:ext uri="{FF2B5EF4-FFF2-40B4-BE49-F238E27FC236}">
                <a16:creationId xmlns:a16="http://schemas.microsoft.com/office/drawing/2014/main" id="{3C6C06A8-81E9-450C-A666-55496327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3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VAT 적용 품목은 공급가액의 10%를 계산합니다.</a:t>
            </a:r>
          </a:p>
        </p:txBody>
      </p:sp>
      <p:sp>
        <p:nvSpPr>
          <p:cNvPr id="20" name="dot-총액은 공급가액">
            <a:extLst xmlns:a="http://schemas.openxmlformats.org/drawingml/2006/main">
              <a:ext uri="{FF2B5EF4-FFF2-40B4-BE49-F238E27FC236}">
                <a16:creationId xmlns:a16="http://schemas.microsoft.com/office/drawing/2014/main" id="{F18DD91C-6124-47F8-92B2-C05C8184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21" name="dot-text-총액은 공급가액 + VAT">
            <a:extLst xmlns:a="http://schemas.openxmlformats.org/drawingml/2006/main">
              <a:ext uri="{FF2B5EF4-FFF2-40B4-BE49-F238E27FC236}">
                <a16:creationId xmlns:a16="http://schemas.microsoft.com/office/drawing/2014/main" id="{D7DF7006-C4E1-4437-B404-6ACC8B21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총액은 공급가액 + VAT입니다.</a:t>
            </a:r>
          </a:p>
        </p:txBody>
      </p:sp>
      <p:sp>
        <p:nvSpPr>
          <p:cNvPr id="22" name="block-mark-포장/수량 예외">
            <a:extLst xmlns:a="http://schemas.openxmlformats.org/drawingml/2006/main">
              <a:ext uri="{FF2B5EF4-FFF2-40B4-BE49-F238E27FC236}">
                <a16:creationId xmlns:a16="http://schemas.microsoft.com/office/drawing/2014/main" id="{053FBB83-C054-4E11-8EC2-2EC8E25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block-title-포장/수량 예외">
            <a:extLst xmlns:a="http://schemas.openxmlformats.org/drawingml/2006/main">
              <a:ext uri="{FF2B5EF4-FFF2-40B4-BE49-F238E27FC236}">
                <a16:creationId xmlns:a16="http://schemas.microsoft.com/office/drawing/2014/main" id="{88FD66AF-38EF-44CE-9EBC-511D07D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포장/수량 예외</a:t>
            </a:r>
          </a:p>
        </p:txBody>
      </p:sp>
      <p:sp>
        <p:nvSpPr>
          <p:cNvPr id="24" name="dot-박스당 수량이">
            <a:extLst xmlns:a="http://schemas.openxmlformats.org/drawingml/2006/main">
              <a:ext uri="{FF2B5EF4-FFF2-40B4-BE49-F238E27FC236}">
                <a16:creationId xmlns:a16="http://schemas.microsoft.com/office/drawing/2014/main" id="{7C02AD41-5E35-42E6-8B80-32E25F7F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5" name="dot-text-박스당 수량이 있으면 BO">
            <a:extLst xmlns:a="http://schemas.openxmlformats.org/drawingml/2006/main">
              <a:ext uri="{FF2B5EF4-FFF2-40B4-BE49-F238E27FC236}">
                <a16:creationId xmlns:a16="http://schemas.microsoft.com/office/drawing/2014/main" id="{E47F05E2-D1A4-4EDE-B378-3DC6C15C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150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박스당 수량이 있으면 BOX 수량을 계산합니다.</a:t>
            </a:r>
          </a:p>
        </p:txBody>
      </p:sp>
      <p:sp>
        <p:nvSpPr>
          <p:cNvPr id="26" name="dot-파레트 기준이">
            <a:extLst xmlns:a="http://schemas.openxmlformats.org/drawingml/2006/main">
              <a:ext uri="{FF2B5EF4-FFF2-40B4-BE49-F238E27FC236}">
                <a16:creationId xmlns:a16="http://schemas.microsoft.com/office/drawing/2014/main" id="{0836F5B3-06F7-418C-9449-C16D313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38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7" name="dot-text-파레트 기준이 있으면 팔레">
            <a:extLst xmlns:a="http://schemas.openxmlformats.org/drawingml/2006/main">
              <a:ext uri="{FF2B5EF4-FFF2-40B4-BE49-F238E27FC236}">
                <a16:creationId xmlns:a16="http://schemas.microsoft.com/office/drawing/2014/main" id="{A66B4B4B-7E7B-4370-A5D8-6E407A46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389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파레트 기준이 있으면 팔레트 수량을 계산합니다.</a:t>
            </a:r>
          </a:p>
        </p:txBody>
      </p:sp>
      <p:sp>
        <p:nvSpPr>
          <p:cNvPr id="28" name="dot-기준값이 없으면">
            <a:extLst xmlns:a="http://schemas.openxmlformats.org/drawingml/2006/main">
              <a:ext uri="{FF2B5EF4-FFF2-40B4-BE49-F238E27FC236}">
                <a16:creationId xmlns:a16="http://schemas.microsoft.com/office/drawing/2014/main" id="{ECE607A9-EB39-43CB-98C2-4254C69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9" name="dot-text-기준값이 없으면 해당 계산">
            <a:extLst xmlns:a="http://schemas.openxmlformats.org/drawingml/2006/main">
              <a:ext uri="{FF2B5EF4-FFF2-40B4-BE49-F238E27FC236}">
                <a16:creationId xmlns:a16="http://schemas.microsoft.com/office/drawing/2014/main" id="{F44DA330-44E0-4713-8985-4595DF7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627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기준값이 없으면 해당 계산은 빈 값 또는 0으로 남습니다.</a:t>
            </a:r>
          </a:p>
        </p:txBody>
      </p:sp>
      <p:sp>
        <p:nvSpPr>
          <p:cNvPr id="30" name="block-mark-저장 전 확인">
            <a:extLst xmlns:a="http://schemas.openxmlformats.org/drawingml/2006/main">
              <a:ext uri="{FF2B5EF4-FFF2-40B4-BE49-F238E27FC236}">
                <a16:creationId xmlns:a16="http://schemas.microsoft.com/office/drawing/2014/main" id="{ECC62805-D992-423A-A1C9-E453195A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769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1" name="block-title-저장 전 확인">
            <a:extLst xmlns:a="http://schemas.openxmlformats.org/drawingml/2006/main">
              <a:ext uri="{FF2B5EF4-FFF2-40B4-BE49-F238E27FC236}">
                <a16:creationId xmlns:a16="http://schemas.microsoft.com/office/drawing/2014/main" id="{05343754-BA27-44A7-B462-99B87FA0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578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저장 전 확인</a:t>
            </a:r>
          </a:p>
        </p:txBody>
      </p:sp>
      <p:sp>
        <p:nvSpPr>
          <p:cNvPr id="32" name="dot-품목이 하나도">
            <a:extLst xmlns:a="http://schemas.openxmlformats.org/drawingml/2006/main">
              <a:ext uri="{FF2B5EF4-FFF2-40B4-BE49-F238E27FC236}">
                <a16:creationId xmlns:a16="http://schemas.microsoft.com/office/drawing/2014/main" id="{C7A646DA-8847-42D2-B6CD-0F1E840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1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3" name="dot-text-품목이 하나도 없으면 저장">
            <a:extLst xmlns:a="http://schemas.openxmlformats.org/drawingml/2006/main">
              <a:ext uri="{FF2B5EF4-FFF2-40B4-BE49-F238E27FC236}">
                <a16:creationId xmlns:a16="http://schemas.microsoft.com/office/drawing/2014/main" id="{22ED7A01-4BCB-4C16-973F-92C9647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품목이 하나도 없으면 저장할 수 없습니다.</a:t>
            </a:r>
          </a:p>
        </p:txBody>
      </p:sp>
      <p:sp>
        <p:nvSpPr>
          <p:cNvPr id="34" name="dot-수량이 0이거나">
            <a:extLst xmlns:a="http://schemas.openxmlformats.org/drawingml/2006/main">
              <a:ext uri="{FF2B5EF4-FFF2-40B4-BE49-F238E27FC236}">
                <a16:creationId xmlns:a16="http://schemas.microsoft.com/office/drawing/2014/main" id="{6DEB89B6-9DB2-4DE9-9A08-9626702D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5" name="dot-text-수량이 0이거나 단가가 비">
            <a:extLst xmlns:a="http://schemas.openxmlformats.org/drawingml/2006/main">
              <a:ext uri="{FF2B5EF4-FFF2-40B4-BE49-F238E27FC236}">
                <a16:creationId xmlns:a16="http://schemas.microsoft.com/office/drawing/2014/main" id="{7C054F74-E437-4094-8B43-4116EC14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4389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수량이 0이거나 단가가 비정상인 행은 저장 전 확인해야 합니다.</a:t>
            </a:r>
          </a:p>
        </p:txBody>
      </p:sp>
      <p:sp>
        <p:nvSpPr>
          <p:cNvPr id="36" name="dot-비고는 문서 출">
            <a:extLst xmlns:a="http://schemas.openxmlformats.org/drawingml/2006/main">
              <a:ext uri="{FF2B5EF4-FFF2-40B4-BE49-F238E27FC236}">
                <a16:creationId xmlns:a16="http://schemas.microsoft.com/office/drawing/2014/main" id="{B3F35DE3-5A11-487E-8C1A-356F650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762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7" name="dot-text-비고는 문서 출력과 일부">
            <a:extLst xmlns:a="http://schemas.openxmlformats.org/drawingml/2006/main">
              <a:ext uri="{FF2B5EF4-FFF2-40B4-BE49-F238E27FC236}">
                <a16:creationId xmlns:a16="http://schemas.microsoft.com/office/drawing/2014/main" id="{A359F60B-A568-43BD-B1C3-6A84DA3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7627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비고는 문서 출력과 일부 후속 화면의 참고값으로 쓰입니다.</a:t>
            </a:r>
          </a:p>
        </p:txBody>
      </p:sp>
      <p:sp>
        <p:nvSpPr>
          <p:cNvPr id="38" name="footer-6">
            <a:extLst xmlns:a="http://schemas.openxmlformats.org/drawingml/2006/main">
              <a:ext uri="{FF2B5EF4-FFF2-40B4-BE49-F238E27FC236}">
                <a16:creationId xmlns:a16="http://schemas.microsoft.com/office/drawing/2014/main" id="{4AA2880D-A942-46D2-88E4-AF74DA8B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9380019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num">
            <a:extLst xmlns:a="http://schemas.openxmlformats.org/drawingml/2006/main">
              <a:ext uri="{FF2B5EF4-FFF2-40B4-BE49-F238E27FC236}">
                <a16:creationId xmlns:a16="http://schemas.microsoft.com/office/drawing/2014/main" id="{C8286648-143A-4EBF-8EBC-6519BBB5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07</a:t>
            </a:r>
          </a:p>
        </p:txBody>
      </p:sp>
      <p:sp>
        <p:nvSpPr>
          <p:cNvPr id="2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B4D56F3F-C275-43B6-8467-1599CC04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7-section">
            <a:extLst xmlns:a="http://schemas.openxmlformats.org/drawingml/2006/main">
              <a:ext uri="{FF2B5EF4-FFF2-40B4-BE49-F238E27FC236}">
                <a16:creationId xmlns:a16="http://schemas.microsoft.com/office/drawing/2014/main" id="{2CB19C85-A51C-4687-8790-F8B0154C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저장 로직</a:t>
            </a:r>
          </a:p>
        </p:txBody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EC76B75-F69B-4F30-A137-74353FB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문서 저장은 문서, 품목, 수주대장까지 한 번에 반영됩니다.</a:t>
            </a:r>
          </a:p>
        </p:txBody>
      </p:sp>
      <p:sp>
        <p:nvSpPr>
          <p:cNvPr id="5" name="slide-7-subtitle-empty">
            <a:extLst xmlns:a="http://schemas.openxmlformats.org/drawingml/2006/main">
              <a:ext uri="{FF2B5EF4-FFF2-40B4-BE49-F238E27FC236}">
                <a16:creationId xmlns:a16="http://schemas.microsoft.com/office/drawing/2014/main" id="{51AF2281-D4D5-437B-8052-AB6C958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flow-1. 문서 검증">
            <a:extLst xmlns:a="http://schemas.openxmlformats.org/drawingml/2006/main">
              <a:ext uri="{FF2B5EF4-FFF2-40B4-BE49-F238E27FC236}">
                <a16:creationId xmlns:a16="http://schemas.microsoft.com/office/drawing/2014/main" id="{23C697CC-ACC2-4C22-8E15-37E411D2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8795"/>
            <a:ext cx="3700463" cy="4535805"/>
          </a:xfrm>
          <a:prstGeom xmlns:a="http://schemas.openxmlformats.org/drawingml/2006/main" prst="roundRect">
            <a:avLst>
              <a:gd name="adj" fmla="val 257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7" name="flow-title-1. 문서 검증">
            <a:extLst xmlns:a="http://schemas.openxmlformats.org/drawingml/2006/main">
              <a:ext uri="{FF2B5EF4-FFF2-40B4-BE49-F238E27FC236}">
                <a16:creationId xmlns:a16="http://schemas.microsoft.com/office/drawing/2014/main" id="{54AA3EDE-06A5-4293-9CD4-0ABB5159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35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</a:defRPr>
            </a:pPr>
            <a:r>
              <a:rPr sz="1875" b="1">
                <a:solidFill>
                  <a:srgbClr val="B94A48"/>
                </a:solidFill>
              </a:rPr>
              <a:t>1. 문서 검증</a:t>
            </a:r>
          </a:p>
        </p:txBody>
      </p:sp>
      <p:sp>
        <p:nvSpPr>
          <p:cNvPr id="8" name="flow-desc-1. 문서 검증">
            <a:extLst xmlns:a="http://schemas.openxmlformats.org/drawingml/2006/main">
              <a:ext uri="{FF2B5EF4-FFF2-40B4-BE49-F238E27FC236}">
                <a16:creationId xmlns:a16="http://schemas.microsoft.com/office/drawing/2014/main" id="{55696EB7-043A-4406-9B1F-A0DA07E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필수값, 품목 행, 수량/단가 확인</a:t>
            </a:r>
          </a:p>
        </p:txBody>
      </p:sp>
      <p:sp>
        <p:nvSpPr>
          <p:cNvPr id="9" name="save-arrow-1">
            <a:extLst xmlns:a="http://schemas.openxmlformats.org/drawingml/2006/main">
              <a:ext uri="{FF2B5EF4-FFF2-40B4-BE49-F238E27FC236}">
                <a16:creationId xmlns:a16="http://schemas.microsoft.com/office/drawing/2014/main" id="{EF67C9E8-6B27-4484-9149-01C980B3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40005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A6A6"/>
                </a:solidFill>
              </a:defRPr>
            </a:pPr>
            <a:r>
              <a:rPr sz="33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0" name="flow-2. documents">
            <a:extLst xmlns:a="http://schemas.openxmlformats.org/drawingml/2006/main">
              <a:ext uri="{FF2B5EF4-FFF2-40B4-BE49-F238E27FC236}">
                <a16:creationId xmlns:a16="http://schemas.microsoft.com/office/drawing/2014/main" id="{2DDF269F-5DFB-4591-A392-336E1D73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1788795"/>
            <a:ext cx="3700463" cy="4535805"/>
          </a:xfrm>
          <a:prstGeom xmlns:a="http://schemas.openxmlformats.org/drawingml/2006/main" prst="roundRect">
            <a:avLst>
              <a:gd name="adj" fmla="val 257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46FA8"/>
            </a:solidFill>
            <a:prstDash val="solid"/>
          </a:ln>
        </p:spPr>
      </p:sp>
      <p:sp>
        <p:nvSpPr>
          <p:cNvPr id="11" name="flow-title-2. documents">
            <a:extLst xmlns:a="http://schemas.openxmlformats.org/drawingml/2006/main">
              <a:ext uri="{FF2B5EF4-FFF2-40B4-BE49-F238E27FC236}">
                <a16:creationId xmlns:a16="http://schemas.microsoft.com/office/drawing/2014/main" id="{148E15A8-C064-4F65-AD61-636F950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335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6FA8"/>
                </a:solidFill>
              </a:defRPr>
            </a:pPr>
            <a:r>
              <a:rPr sz="1875" b="1">
                <a:solidFill>
                  <a:srgbClr val="246FA8"/>
                </a:solidFill>
              </a:rPr>
              <a:t>2. documents</a:t>
            </a:r>
          </a:p>
        </p:txBody>
      </p:sp>
      <p:sp>
        <p:nvSpPr>
          <p:cNvPr id="12" name="flow-desc-2. documents">
            <a:extLst xmlns:a="http://schemas.openxmlformats.org/drawingml/2006/main">
              <a:ext uri="{FF2B5EF4-FFF2-40B4-BE49-F238E27FC236}">
                <a16:creationId xmlns:a16="http://schemas.microsoft.com/office/drawing/2014/main" id="{8E4E7895-300A-4063-9FDA-FF39FC4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5290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발행번호, 납품처, 수신처, 일정 저장</a:t>
            </a:r>
          </a:p>
        </p:txBody>
      </p:sp>
      <p:sp>
        <p:nvSpPr>
          <p:cNvPr id="13" name="save-arrow-2">
            <a:extLst xmlns:a="http://schemas.openxmlformats.org/drawingml/2006/main">
              <a:ext uri="{FF2B5EF4-FFF2-40B4-BE49-F238E27FC236}">
                <a16:creationId xmlns:a16="http://schemas.microsoft.com/office/drawing/2014/main" id="{FF161F80-6424-451C-9EA9-7E6FF1E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40005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A6A6"/>
                </a:solidFill>
              </a:defRPr>
            </a:pPr>
            <a:r>
              <a:rPr sz="33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4" name="flow-3. document_items">
            <a:extLst xmlns:a="http://schemas.openxmlformats.org/drawingml/2006/main">
              <a:ext uri="{FF2B5EF4-FFF2-40B4-BE49-F238E27FC236}">
                <a16:creationId xmlns:a16="http://schemas.microsoft.com/office/drawing/2014/main" id="{5D9CF805-D319-441F-8590-73DA925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8795"/>
            <a:ext cx="3700463" cy="4535805"/>
          </a:xfrm>
          <a:prstGeom xmlns:a="http://schemas.openxmlformats.org/drawingml/2006/main" prst="roundRect">
            <a:avLst>
              <a:gd name="adj" fmla="val 257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E8F63"/>
            </a:solidFill>
            <a:prstDash val="solid"/>
          </a:ln>
        </p:spPr>
      </p:sp>
      <p:sp>
        <p:nvSpPr>
          <p:cNvPr id="15" name="flow-title-3. document_items">
            <a:extLst xmlns:a="http://schemas.openxmlformats.org/drawingml/2006/main">
              <a:ext uri="{FF2B5EF4-FFF2-40B4-BE49-F238E27FC236}">
                <a16:creationId xmlns:a16="http://schemas.microsoft.com/office/drawing/2014/main" id="{F79C1A59-ED95-4750-98F0-DCB2606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52850"/>
            <a:ext cx="335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8F63"/>
                </a:solidFill>
              </a:defRPr>
            </a:pPr>
            <a:r>
              <a:rPr sz="1875" b="1">
                <a:solidFill>
                  <a:srgbClr val="2E8F63"/>
                </a:solidFill>
              </a:rPr>
              <a:t>3. document_items</a:t>
            </a:r>
          </a:p>
        </p:txBody>
      </p:sp>
      <p:sp>
        <p:nvSpPr>
          <p:cNvPr id="16" name="flow-desc-3. document_items">
            <a:extLst xmlns:a="http://schemas.openxmlformats.org/drawingml/2006/main">
              <a:ext uri="{FF2B5EF4-FFF2-40B4-BE49-F238E27FC236}">
                <a16:creationId xmlns:a16="http://schemas.microsoft.com/office/drawing/2014/main" id="{F5B20946-3F81-4E6D-83CE-4452A64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5290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품목별 수량, 단가, VAT, 비고 저장</a:t>
            </a:r>
          </a:p>
        </p:txBody>
      </p:sp>
      <p:sp>
        <p:nvSpPr>
          <p:cNvPr id="17" name="save-arrow-3">
            <a:extLst xmlns:a="http://schemas.openxmlformats.org/drawingml/2006/main">
              <a:ext uri="{FF2B5EF4-FFF2-40B4-BE49-F238E27FC236}">
                <a16:creationId xmlns:a16="http://schemas.microsoft.com/office/drawing/2014/main" id="{807534F4-E473-4CAD-82E7-10D90484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790700"/>
            <a:ext cx="40005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A6A6"/>
                </a:solidFill>
              </a:defRPr>
            </a:pPr>
            <a:r>
              <a:rPr sz="3300" b="1">
                <a:solidFill>
                  <a:srgbClr val="24A6A6"/>
                </a:solidFill>
              </a:rPr>
              <a:t>→</a:t>
            </a:r>
          </a:p>
        </p:txBody>
      </p:sp>
      <p:sp>
        <p:nvSpPr>
          <p:cNvPr id="18" name="flow-4. order_book">
            <a:extLst xmlns:a="http://schemas.openxmlformats.org/drawingml/2006/main">
              <a:ext uri="{FF2B5EF4-FFF2-40B4-BE49-F238E27FC236}">
                <a16:creationId xmlns:a16="http://schemas.microsoft.com/office/drawing/2014/main" id="{8C5BEF92-0355-42E8-A201-1F4CB9EF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588" y="1788795"/>
            <a:ext cx="3700463" cy="4535805"/>
          </a:xfrm>
          <a:prstGeom xmlns:a="http://schemas.openxmlformats.org/drawingml/2006/main" prst="roundRect">
            <a:avLst>
              <a:gd name="adj" fmla="val 257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C47A1B"/>
            </a:solidFill>
            <a:prstDash val="solid"/>
          </a:ln>
        </p:spPr>
      </p:sp>
      <p:sp>
        <p:nvSpPr>
          <p:cNvPr id="19" name="flow-title-4. order_book">
            <a:extLst xmlns:a="http://schemas.openxmlformats.org/drawingml/2006/main">
              <a:ext uri="{FF2B5EF4-FFF2-40B4-BE49-F238E27FC236}">
                <a16:creationId xmlns:a16="http://schemas.microsoft.com/office/drawing/2014/main" id="{633A28EE-C691-4C97-A5C1-44B4031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752850"/>
            <a:ext cx="335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47A1B"/>
                </a:solidFill>
              </a:defRPr>
            </a:pPr>
            <a:r>
              <a:rPr sz="1875" b="1">
                <a:solidFill>
                  <a:srgbClr val="C47A1B"/>
                </a:solidFill>
              </a:rPr>
              <a:t>4. order_book</a:t>
            </a:r>
          </a:p>
        </p:txBody>
      </p:sp>
      <p:sp>
        <p:nvSpPr>
          <p:cNvPr id="20" name="flow-desc-4. order_book">
            <a:extLst xmlns:a="http://schemas.openxmlformats.org/drawingml/2006/main">
              <a:ext uri="{FF2B5EF4-FFF2-40B4-BE49-F238E27FC236}">
                <a16:creationId xmlns:a16="http://schemas.microsoft.com/office/drawing/2014/main" id="{6BE149F5-901A-4F12-854B-50CADBB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15290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품목별 수주 항목 자동 생성</a:t>
            </a:r>
          </a:p>
        </p:txBody>
      </p:sp>
      <p:sp>
        <p:nvSpPr>
          <p:cNvPr id="21" name="save-exception-table-h-0">
            <a:extLst xmlns:a="http://schemas.openxmlformats.org/drawingml/2006/main">
              <a:ext uri="{FF2B5EF4-FFF2-40B4-BE49-F238E27FC236}">
                <a16:creationId xmlns:a16="http://schemas.microsoft.com/office/drawing/2014/main" id="{5D457662-9ECA-4FC0-A69B-468CCBBC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0"/>
            <a:ext cx="397944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save-exception-table-htext-0">
            <a:extLst xmlns:a="http://schemas.openxmlformats.org/drawingml/2006/main">
              <a:ext uri="{FF2B5EF4-FFF2-40B4-BE49-F238E27FC236}">
                <a16:creationId xmlns:a16="http://schemas.microsoft.com/office/drawing/2014/main" id="{8E6714BE-6DB4-49BD-8789-4EA9399B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865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</a:t>
            </a:r>
          </a:p>
        </p:txBody>
      </p:sp>
      <p:sp>
        <p:nvSpPr>
          <p:cNvPr id="23" name="save-exception-table-h-1">
            <a:extLst xmlns:a="http://schemas.openxmlformats.org/drawingml/2006/main">
              <a:ext uri="{FF2B5EF4-FFF2-40B4-BE49-F238E27FC236}">
                <a16:creationId xmlns:a16="http://schemas.microsoft.com/office/drawing/2014/main" id="{D25C0297-48E3-447A-BCE7-BE81030E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395" y="6572250"/>
            <a:ext cx="574808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save-exception-table-htext-1">
            <a:extLst xmlns:a="http://schemas.openxmlformats.org/drawingml/2006/main">
              <a:ext uri="{FF2B5EF4-FFF2-40B4-BE49-F238E27FC236}">
                <a16:creationId xmlns:a16="http://schemas.microsoft.com/office/drawing/2014/main" id="{80F2C4C4-E745-455A-84F1-B641D1D7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86550"/>
            <a:ext cx="546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처리 방식</a:t>
            </a:r>
          </a:p>
        </p:txBody>
      </p:sp>
      <p:sp>
        <p:nvSpPr>
          <p:cNvPr id="25" name="save-exception-table-h-2">
            <a:extLst xmlns:a="http://schemas.openxmlformats.org/drawingml/2006/main">
              <a:ext uri="{FF2B5EF4-FFF2-40B4-BE49-F238E27FC236}">
                <a16:creationId xmlns:a16="http://schemas.microsoft.com/office/drawing/2014/main" id="{17CB9F59-DC3B-4307-9663-61E2945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482" y="6572250"/>
            <a:ext cx="70745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save-exception-table-htext-2">
            <a:extLst xmlns:a="http://schemas.openxmlformats.org/drawingml/2006/main">
              <a:ext uri="{FF2B5EF4-FFF2-40B4-BE49-F238E27FC236}">
                <a16:creationId xmlns:a16="http://schemas.microsoft.com/office/drawing/2014/main" id="{9C06BF2D-5EBD-4667-A728-D4F1C256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68655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운영자가 볼 것</a:t>
            </a:r>
          </a:p>
        </p:txBody>
      </p:sp>
      <p:sp>
        <p:nvSpPr>
          <p:cNvPr id="27" name="save-except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1A80A-E5D5-45D8-B437-F2F4217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39794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8" name="save-exception-table-text-0-0">
            <a:extLst xmlns:a="http://schemas.openxmlformats.org/drawingml/2006/main">
              <a:ext uri="{FF2B5EF4-FFF2-40B4-BE49-F238E27FC236}">
                <a16:creationId xmlns:a16="http://schemas.microsoft.com/office/drawing/2014/main" id="{2681A99E-8609-4702-8748-11C110AD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0090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저장 실패</a:t>
            </a:r>
          </a:p>
        </p:txBody>
      </p:sp>
      <p:sp>
        <p:nvSpPr>
          <p:cNvPr id="29" name="save-exception-table-cell-0-1">
            <a:extLst xmlns:a="http://schemas.openxmlformats.org/drawingml/2006/main">
              <a:ext uri="{FF2B5EF4-FFF2-40B4-BE49-F238E27FC236}">
                <a16:creationId xmlns:a16="http://schemas.microsoft.com/office/drawing/2014/main" id="{D6DA1666-B4F5-43E2-9380-9CBA6B0E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395" y="7086600"/>
            <a:ext cx="574808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0" name="save-exception-table-text-0-1">
            <a:extLst xmlns:a="http://schemas.openxmlformats.org/drawingml/2006/main">
              <a:ext uri="{FF2B5EF4-FFF2-40B4-BE49-F238E27FC236}">
                <a16:creationId xmlns:a16="http://schemas.microsoft.com/office/drawing/2014/main" id="{4D1A5E8C-B4BA-42C2-84EB-1A32DC9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200900"/>
            <a:ext cx="5467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검증 오류 또는 DB 저장 오류 안내</a:t>
            </a:r>
          </a:p>
        </p:txBody>
      </p:sp>
      <p:sp>
        <p:nvSpPr>
          <p:cNvPr id="31" name="save-exception-table-cell-0-2">
            <a:extLst xmlns:a="http://schemas.openxmlformats.org/drawingml/2006/main">
              <a:ext uri="{FF2B5EF4-FFF2-40B4-BE49-F238E27FC236}">
                <a16:creationId xmlns:a16="http://schemas.microsoft.com/office/drawing/2014/main" id="{36E05B84-CB2D-4C30-B7C9-36B6026E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482" y="7086600"/>
            <a:ext cx="707456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2" name="save-exception-table-text-0-2">
            <a:extLst xmlns:a="http://schemas.openxmlformats.org/drawingml/2006/main">
              <a:ext uri="{FF2B5EF4-FFF2-40B4-BE49-F238E27FC236}">
                <a16:creationId xmlns:a16="http://schemas.microsoft.com/office/drawing/2014/main" id="{87C23D56-5EFB-4ECD-9C39-71AE5E81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200900"/>
            <a:ext cx="678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필수값, 품목 수량, 네트워크 상태 확인</a:t>
            </a:r>
          </a:p>
        </p:txBody>
      </p:sp>
      <p:sp>
        <p:nvSpPr>
          <p:cNvPr id="33" name="save-exception-table-cell-1-0">
            <a:extLst xmlns:a="http://schemas.openxmlformats.org/drawingml/2006/main">
              <a:ext uri="{FF2B5EF4-FFF2-40B4-BE49-F238E27FC236}">
                <a16:creationId xmlns:a16="http://schemas.microsoft.com/office/drawing/2014/main" id="{02CF596C-8391-49A6-864B-6E560289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29550"/>
            <a:ext cx="39794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4" name="save-exception-table-text-1-0">
            <a:extLst xmlns:a="http://schemas.openxmlformats.org/drawingml/2006/main">
              <a:ext uri="{FF2B5EF4-FFF2-40B4-BE49-F238E27FC236}">
                <a16:creationId xmlns:a16="http://schemas.microsoft.com/office/drawing/2014/main" id="{4755DD67-74C9-4B62-A2B5-A65CC15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438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저장 후 수주대장 누락</a:t>
            </a:r>
          </a:p>
        </p:txBody>
      </p:sp>
      <p:sp>
        <p:nvSpPr>
          <p:cNvPr id="35" name="save-exception-table-cell-1-1">
            <a:extLst xmlns:a="http://schemas.openxmlformats.org/drawingml/2006/main">
              <a:ext uri="{FF2B5EF4-FFF2-40B4-BE49-F238E27FC236}">
                <a16:creationId xmlns:a16="http://schemas.microsoft.com/office/drawing/2014/main" id="{DADC0182-1C94-4B37-A584-8D930D97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395" y="7829550"/>
            <a:ext cx="574808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6" name="save-exception-table-text-1-1">
            <a:extLst xmlns:a="http://schemas.openxmlformats.org/drawingml/2006/main">
              <a:ext uri="{FF2B5EF4-FFF2-40B4-BE49-F238E27FC236}">
                <a16:creationId xmlns:a16="http://schemas.microsoft.com/office/drawing/2014/main" id="{97632DF5-8BD0-473B-9C41-C9687F5C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943850"/>
            <a:ext cx="5467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품목 기준 자동 생성 실패 가능성</a:t>
            </a:r>
          </a:p>
        </p:txBody>
      </p:sp>
      <p:sp>
        <p:nvSpPr>
          <p:cNvPr id="37" name="save-exception-table-cell-1-2">
            <a:extLst xmlns:a="http://schemas.openxmlformats.org/drawingml/2006/main">
              <a:ext uri="{FF2B5EF4-FFF2-40B4-BE49-F238E27FC236}">
                <a16:creationId xmlns:a16="http://schemas.microsoft.com/office/drawing/2014/main" id="{6F89C5C5-869E-45A9-9CE3-83722AE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482" y="7829550"/>
            <a:ext cx="707456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8" name="save-exception-table-text-1-2">
            <a:extLst xmlns:a="http://schemas.openxmlformats.org/drawingml/2006/main">
              <a:ext uri="{FF2B5EF4-FFF2-40B4-BE49-F238E27FC236}">
                <a16:creationId xmlns:a16="http://schemas.microsoft.com/office/drawing/2014/main" id="{2A5B0D41-9722-4DF6-A877-B444FCD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943850"/>
            <a:ext cx="678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발행 이력 상세와 수주대장 문서번호 비교</a:t>
            </a:r>
          </a:p>
        </p:txBody>
      </p:sp>
      <p:sp>
        <p:nvSpPr>
          <p:cNvPr id="39" name="save-exception-table-cell-2-0">
            <a:extLst xmlns:a="http://schemas.openxmlformats.org/drawingml/2006/main">
              <a:ext uri="{FF2B5EF4-FFF2-40B4-BE49-F238E27FC236}">
                <a16:creationId xmlns:a16="http://schemas.microsoft.com/office/drawing/2014/main" id="{7D9978B8-0485-44E2-B8B7-90625A7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0"/>
            <a:ext cx="39794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0" name="save-exception-table-text-2-0">
            <a:extLst xmlns:a="http://schemas.openxmlformats.org/drawingml/2006/main">
              <a:ext uri="{FF2B5EF4-FFF2-40B4-BE49-F238E27FC236}">
                <a16:creationId xmlns:a16="http://schemas.microsoft.com/office/drawing/2014/main" id="{E0FF737A-DD58-499A-A421-4ACC58F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68680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문서 수정 저장</a:t>
            </a:r>
          </a:p>
        </p:txBody>
      </p:sp>
      <p:sp>
        <p:nvSpPr>
          <p:cNvPr id="41" name="save-exception-table-cell-2-1">
            <a:extLst xmlns:a="http://schemas.openxmlformats.org/drawingml/2006/main">
              <a:ext uri="{FF2B5EF4-FFF2-40B4-BE49-F238E27FC236}">
                <a16:creationId xmlns:a16="http://schemas.microsoft.com/office/drawing/2014/main" id="{AA46A265-CB95-4BCA-90A9-DD2D5B5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395" y="8572500"/>
            <a:ext cx="574808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2" name="save-exception-table-text-2-1">
            <a:extLst xmlns:a="http://schemas.openxmlformats.org/drawingml/2006/main">
              <a:ext uri="{FF2B5EF4-FFF2-40B4-BE49-F238E27FC236}">
                <a16:creationId xmlns:a16="http://schemas.microsoft.com/office/drawing/2014/main" id="{5FEA68B9-7CFE-4ECD-BF80-0FB0D7A0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686800"/>
            <a:ext cx="5467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기존 품목과 수주 항목을 동기화</a:t>
            </a:r>
          </a:p>
        </p:txBody>
      </p:sp>
      <p:sp>
        <p:nvSpPr>
          <p:cNvPr id="43" name="save-exception-table-cell-2-2">
            <a:extLst xmlns:a="http://schemas.openxmlformats.org/drawingml/2006/main">
              <a:ext uri="{FF2B5EF4-FFF2-40B4-BE49-F238E27FC236}">
                <a16:creationId xmlns:a16="http://schemas.microsoft.com/office/drawing/2014/main" id="{A8794E9E-E7B0-467D-898D-9D29DEE9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482" y="8572500"/>
            <a:ext cx="707456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4" name="save-exception-table-text-2-2">
            <a:extLst xmlns:a="http://schemas.openxmlformats.org/drawingml/2006/main">
              <a:ext uri="{FF2B5EF4-FFF2-40B4-BE49-F238E27FC236}">
                <a16:creationId xmlns:a16="http://schemas.microsoft.com/office/drawing/2014/main" id="{DCFCDFFE-E916-47B4-9B62-2C8BB22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686800"/>
            <a:ext cx="678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삭제/취소 품목이 집계에서 빠졌는지 확인</a:t>
            </a:r>
          </a:p>
        </p:txBody>
      </p:sp>
      <p:sp>
        <p:nvSpPr>
          <p:cNvPr id="45" name="footer-7">
            <a:extLst xmlns:a="http://schemas.openxmlformats.org/drawingml/2006/main">
              <a:ext uri="{FF2B5EF4-FFF2-40B4-BE49-F238E27FC236}">
                <a16:creationId xmlns:a16="http://schemas.microsoft.com/office/drawing/2014/main" id="{27D6C80B-6DDB-4906-A458-989CE93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587004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num">
            <a:extLst xmlns:a="http://schemas.openxmlformats.org/drawingml/2006/main">
              <a:ext uri="{FF2B5EF4-FFF2-40B4-BE49-F238E27FC236}">
                <a16:creationId xmlns:a16="http://schemas.microsoft.com/office/drawing/2014/main" id="{F3ECE36A-B3BD-4E69-875F-FF8E8B1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08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2D76A8E3-1C26-45F8-9427-08B8525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8-section">
            <a:extLst xmlns:a="http://schemas.openxmlformats.org/drawingml/2006/main">
              <a:ext uri="{FF2B5EF4-FFF2-40B4-BE49-F238E27FC236}">
                <a16:creationId xmlns:a16="http://schemas.microsoft.com/office/drawing/2014/main" id="{E299D77E-6E94-4F51-9245-B58CAA7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미리보기/출력</a:t>
            </a:r>
          </a:p>
        </p:txBody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E26B993-0B71-464E-90D7-8A09E18E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엑셀 다운로드 전에는 미리보기로 출력 데이터를 먼저 검증합니다.</a:t>
            </a:r>
          </a:p>
        </p:txBody>
      </p:sp>
      <p:sp>
        <p:nvSpPr>
          <p:cNvPr id="5" name="slide-8-subtitle-empty">
            <a:extLst xmlns:a="http://schemas.openxmlformats.org/drawingml/2006/main">
              <a:ext uri="{FF2B5EF4-FFF2-40B4-BE49-F238E27FC236}">
                <a16:creationId xmlns:a16="http://schemas.microsoft.com/office/drawing/2014/main" id="{9E4C16AA-B2D4-4524-9F90-D5E9EDF2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2-doc-create.png">
            <a:extLst xmlns:a="http://schemas.openxmlformats.org/drawingml/2006/main">
              <a:ext uri="{FF2B5EF4-FFF2-40B4-BE49-F238E27FC236}">
                <a16:creationId xmlns:a16="http://schemas.microsoft.com/office/drawing/2014/main" id="{AA03C114-576D-4BC1-9E8C-0534E22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2-doc-creat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3ad6490b846cc"/>
          <a:stretch xmlns:a="http://schemas.openxmlformats.org/drawingml/2006/main"/>
        </p:blipFill>
        <p:spPr>
          <a:xfrm xmlns:a="http://schemas.openxmlformats.org/drawingml/2006/main">
            <a:off x="934244" y="1845945"/>
            <a:ext cx="9237663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미리보기 기준">
            <a:extLst xmlns:a="http://schemas.openxmlformats.org/drawingml/2006/main">
              <a:ext uri="{FF2B5EF4-FFF2-40B4-BE49-F238E27FC236}">
                <a16:creationId xmlns:a16="http://schemas.microsoft.com/office/drawing/2014/main" id="{34DA1294-2C0B-4A4F-8646-4315928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미리보기 기준">
            <a:extLst xmlns:a="http://schemas.openxmlformats.org/drawingml/2006/main">
              <a:ext uri="{FF2B5EF4-FFF2-40B4-BE49-F238E27FC236}">
                <a16:creationId xmlns:a16="http://schemas.microsoft.com/office/drawing/2014/main" id="{3DD6FACC-52DE-4CB5-A71D-B45BFC6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미리보기 기준</a:t>
            </a:r>
          </a:p>
        </p:txBody>
      </p:sp>
      <p:sp>
        <p:nvSpPr>
          <p:cNvPr id="10" name="dot-화면에 입력된">
            <a:extLst xmlns:a="http://schemas.openxmlformats.org/drawingml/2006/main">
              <a:ext uri="{FF2B5EF4-FFF2-40B4-BE49-F238E27FC236}">
                <a16:creationId xmlns:a16="http://schemas.microsoft.com/office/drawing/2014/main" id="{74515F62-03A9-4F72-A906-2FCC0DA7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화면에 입력된 문서 기본정">
            <a:extLst xmlns:a="http://schemas.openxmlformats.org/drawingml/2006/main">
              <a:ext uri="{FF2B5EF4-FFF2-40B4-BE49-F238E27FC236}">
                <a16:creationId xmlns:a16="http://schemas.microsoft.com/office/drawing/2014/main" id="{01080B9A-C1FB-4629-8B9A-65673D77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화면에 입력된 문서 기본정보와 품목 행을 그대로 사용합니다.</a:t>
            </a:r>
          </a:p>
        </p:txBody>
      </p:sp>
      <p:sp>
        <p:nvSpPr>
          <p:cNvPr id="12" name="dot-저장 전에도 출">
            <a:extLst xmlns:a="http://schemas.openxmlformats.org/drawingml/2006/main">
              <a:ext uri="{FF2B5EF4-FFF2-40B4-BE49-F238E27FC236}">
                <a16:creationId xmlns:a16="http://schemas.microsoft.com/office/drawing/2014/main" id="{432CBF58-CF6B-4415-B5E9-0364DB4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저장 전에도 출력 모양과">
            <a:extLst xmlns:a="http://schemas.openxmlformats.org/drawingml/2006/main">
              <a:ext uri="{FF2B5EF4-FFF2-40B4-BE49-F238E27FC236}">
                <a16:creationId xmlns:a16="http://schemas.microsoft.com/office/drawing/2014/main" id="{124550C8-BD20-47B7-8D1F-000A838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저장 전에도 출력 모양과 계산값을 확인할 수 있습니다.</a:t>
            </a:r>
          </a:p>
        </p:txBody>
      </p:sp>
      <p:sp>
        <p:nvSpPr>
          <p:cNvPr id="14" name="dot-필수값이 부족하">
            <a:extLst xmlns:a="http://schemas.openxmlformats.org/drawingml/2006/main">
              <a:ext uri="{FF2B5EF4-FFF2-40B4-BE49-F238E27FC236}">
                <a16:creationId xmlns:a16="http://schemas.microsoft.com/office/drawing/2014/main" id="{FE6BA15D-8E9F-4CA5-8AC5-F905F94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필수값이 부족하면 미리보기">
            <a:extLst xmlns:a="http://schemas.openxmlformats.org/drawingml/2006/main">
              <a:ext uri="{FF2B5EF4-FFF2-40B4-BE49-F238E27FC236}">
                <a16:creationId xmlns:a16="http://schemas.microsoft.com/office/drawing/2014/main" id="{BE97730B-EEB3-4590-BF8C-299C8416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필수값이 부족하면 미리보기나 다운로드가 막힐 수 있습니다.</a:t>
            </a:r>
          </a:p>
        </p:txBody>
      </p:sp>
      <p:sp>
        <p:nvSpPr>
          <p:cNvPr id="16" name="block-mark-발행이력 불러오기">
            <a:extLst xmlns:a="http://schemas.openxmlformats.org/drawingml/2006/main">
              <a:ext uri="{FF2B5EF4-FFF2-40B4-BE49-F238E27FC236}">
                <a16:creationId xmlns:a16="http://schemas.microsoft.com/office/drawing/2014/main" id="{88C5ED73-5995-4525-A030-C18BC8CF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발행이력 불러오기">
            <a:extLst xmlns:a="http://schemas.openxmlformats.org/drawingml/2006/main">
              <a:ext uri="{FF2B5EF4-FFF2-40B4-BE49-F238E27FC236}">
                <a16:creationId xmlns:a16="http://schemas.microsoft.com/office/drawing/2014/main" id="{986ABE54-A1E2-4C4E-8F09-1C2D4D18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147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발행이력 불러오기</a:t>
            </a:r>
          </a:p>
        </p:txBody>
      </p:sp>
      <p:sp>
        <p:nvSpPr>
          <p:cNvPr id="18" name="dot-이전 문서를 복">
            <a:extLst xmlns:a="http://schemas.openxmlformats.org/drawingml/2006/main">
              <a:ext uri="{FF2B5EF4-FFF2-40B4-BE49-F238E27FC236}">
                <a16:creationId xmlns:a16="http://schemas.microsoft.com/office/drawing/2014/main" id="{1AA666F8-4C56-4AEC-8066-1DAA080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이전 문서를 복사해 새 문">
            <a:extLst xmlns:a="http://schemas.openxmlformats.org/drawingml/2006/main">
              <a:ext uri="{FF2B5EF4-FFF2-40B4-BE49-F238E27FC236}">
                <a16:creationId xmlns:a16="http://schemas.microsoft.com/office/drawing/2014/main" id="{8DA7E95D-E1A5-45AC-944E-68B894A7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719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이전 문서를 복사해 새 문서 작성의 출발점으로 사용할 수 있습니다.</a:t>
            </a:r>
          </a:p>
        </p:txBody>
      </p:sp>
      <p:sp>
        <p:nvSpPr>
          <p:cNvPr id="20" name="dot-복사 후 납품처">
            <a:extLst xmlns:a="http://schemas.openxmlformats.org/drawingml/2006/main">
              <a:ext uri="{FF2B5EF4-FFF2-40B4-BE49-F238E27FC236}">
                <a16:creationId xmlns:a16="http://schemas.microsoft.com/office/drawing/2014/main" id="{A18496BA-DA04-4157-AD42-5456CB4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95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복사 후 납품처, 수신처,">
            <a:extLst xmlns:a="http://schemas.openxmlformats.org/drawingml/2006/main">
              <a:ext uri="{FF2B5EF4-FFF2-40B4-BE49-F238E27FC236}">
                <a16:creationId xmlns:a16="http://schemas.microsoft.com/office/drawing/2014/main" id="{05ED7F24-DEC4-4851-A9B4-313A60E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복사 후 납품처, 수신처, 날짜, 품목 단가를 다시 확인합니다.</a:t>
            </a:r>
          </a:p>
        </p:txBody>
      </p:sp>
      <p:sp>
        <p:nvSpPr>
          <p:cNvPr id="22" name="dot-과거 문서의 단">
            <a:extLst xmlns:a="http://schemas.openxmlformats.org/drawingml/2006/main">
              <a:ext uri="{FF2B5EF4-FFF2-40B4-BE49-F238E27FC236}">
                <a16:creationId xmlns:a16="http://schemas.microsoft.com/office/drawing/2014/main" id="{6FF5FF35-C5BD-4857-B155-E457658D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과거 문서의 단가가 현재">
            <a:extLst xmlns:a="http://schemas.openxmlformats.org/drawingml/2006/main">
              <a:ext uri="{FF2B5EF4-FFF2-40B4-BE49-F238E27FC236}">
                <a16:creationId xmlns:a16="http://schemas.microsoft.com/office/drawing/2014/main" id="{76945E98-CB5D-4EC3-98F9-F8FD0807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196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과거 문서의 단가가 현재 기준과 다를 수 있습니다.</a:t>
            </a:r>
          </a:p>
        </p:txBody>
      </p:sp>
      <p:sp>
        <p:nvSpPr>
          <p:cNvPr id="24" name="footer-8">
            <a:extLst xmlns:a="http://schemas.openxmlformats.org/drawingml/2006/main">
              <a:ext uri="{FF2B5EF4-FFF2-40B4-BE49-F238E27FC236}">
                <a16:creationId xmlns:a16="http://schemas.microsoft.com/office/drawing/2014/main" id="{DE28F081-B9EB-4024-98CC-83B0720B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5789032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num">
            <a:extLst xmlns:a="http://schemas.openxmlformats.org/drawingml/2006/main">
              <a:ext uri="{FF2B5EF4-FFF2-40B4-BE49-F238E27FC236}">
                <a16:creationId xmlns:a16="http://schemas.microsoft.com/office/drawing/2014/main" id="{63A5EB7C-4081-4442-AD21-FD393DF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09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4A5AD80A-9832-4C94-BB11-5D1EBB6D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9-section">
            <a:extLst xmlns:a="http://schemas.openxmlformats.org/drawingml/2006/main">
              <a:ext uri="{FF2B5EF4-FFF2-40B4-BE49-F238E27FC236}">
                <a16:creationId xmlns:a16="http://schemas.microsoft.com/office/drawing/2014/main" id="{97ACC834-B53C-467F-B14F-7BC6608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발행 이력</a:t>
            </a:r>
          </a:p>
        </p:txBody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4A942A2D-6F95-467B-97FE-1AFE4CA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수정과 거래취소는 문서뿐 아니라 품목/수주대장까지 영향을 줍니다.</a:t>
            </a:r>
          </a:p>
        </p:txBody>
      </p:sp>
      <p:sp>
        <p:nvSpPr>
          <p:cNvPr id="5" name="slide-9-subtitle-empty">
            <a:extLst xmlns:a="http://schemas.openxmlformats.org/drawingml/2006/main">
              <a:ext uri="{FF2B5EF4-FFF2-40B4-BE49-F238E27FC236}">
                <a16:creationId xmlns:a16="http://schemas.microsoft.com/office/drawing/2014/main" id="{095C23E6-2594-46CE-BE4A-B6F4DD0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3-doc-history.png">
            <a:extLst xmlns:a="http://schemas.openxmlformats.org/drawingml/2006/main">
              <a:ext uri="{FF2B5EF4-FFF2-40B4-BE49-F238E27FC236}">
                <a16:creationId xmlns:a16="http://schemas.microsoft.com/office/drawing/2014/main" id="{86201793-45B5-4E58-980E-BD2B6D12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3-doc-history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20710c8c14505"/>
          <a:stretch xmlns:a="http://schemas.openxmlformats.org/drawingml/2006/main"/>
        </p:blipFill>
        <p:spPr>
          <a:xfrm xmlns:a="http://schemas.openxmlformats.org/drawingml/2006/main">
            <a:off x="879475" y="1845945"/>
            <a:ext cx="9347200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수정 저장">
            <a:extLst xmlns:a="http://schemas.openxmlformats.org/drawingml/2006/main">
              <a:ext uri="{FF2B5EF4-FFF2-40B4-BE49-F238E27FC236}">
                <a16:creationId xmlns:a16="http://schemas.microsoft.com/office/drawing/2014/main" id="{9BF75828-D4BC-4CC4-8FE1-E9FA3C3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수정 저장">
            <a:extLst xmlns:a="http://schemas.openxmlformats.org/drawingml/2006/main">
              <a:ext uri="{FF2B5EF4-FFF2-40B4-BE49-F238E27FC236}">
                <a16:creationId xmlns:a16="http://schemas.microsoft.com/office/drawing/2014/main" id="{E5242CEB-1F06-4BD9-879E-0D09F9B5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수정 저장</a:t>
            </a:r>
          </a:p>
        </p:txBody>
      </p:sp>
      <p:sp>
        <p:nvSpPr>
          <p:cNvPr id="10" name="dot-문서 기본정보를">
            <a:extLst xmlns:a="http://schemas.openxmlformats.org/drawingml/2006/main">
              <a:ext uri="{FF2B5EF4-FFF2-40B4-BE49-F238E27FC236}">
                <a16:creationId xmlns:a16="http://schemas.microsoft.com/office/drawing/2014/main" id="{7F825706-E183-4A7B-8B27-F22CD84E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문서 기본정보를 저장하고">
            <a:extLst xmlns:a="http://schemas.openxmlformats.org/drawingml/2006/main">
              <a:ext uri="{FF2B5EF4-FFF2-40B4-BE49-F238E27FC236}">
                <a16:creationId xmlns:a16="http://schemas.microsoft.com/office/drawing/2014/main" id="{E1F75C70-0040-443A-B105-F8D737B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기본정보를 저장하고 품목 변경분을 반영합니다.</a:t>
            </a:r>
          </a:p>
        </p:txBody>
      </p:sp>
      <p:sp>
        <p:nvSpPr>
          <p:cNvPr id="12" name="dot-문서 품목과 연">
            <a:extLst xmlns:a="http://schemas.openxmlformats.org/drawingml/2006/main">
              <a:ext uri="{FF2B5EF4-FFF2-40B4-BE49-F238E27FC236}">
                <a16:creationId xmlns:a16="http://schemas.microsoft.com/office/drawing/2014/main" id="{68954335-751D-4384-93D1-F39B4DBA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문서 품목과 연결된 수주대">
            <a:extLst xmlns:a="http://schemas.openxmlformats.org/drawingml/2006/main">
              <a:ext uri="{FF2B5EF4-FFF2-40B4-BE49-F238E27FC236}">
                <a16:creationId xmlns:a16="http://schemas.microsoft.com/office/drawing/2014/main" id="{77C6EFC5-6610-4836-AF39-2904C58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품목과 연결된 수주대장 항목도 같이 맞춥니다.</a:t>
            </a:r>
          </a:p>
        </p:txBody>
      </p:sp>
      <p:sp>
        <p:nvSpPr>
          <p:cNvPr id="14" name="dot-과거 데이터는">
            <a:extLst xmlns:a="http://schemas.openxmlformats.org/drawingml/2006/main">
              <a:ext uri="{FF2B5EF4-FFF2-40B4-BE49-F238E27FC236}">
                <a16:creationId xmlns:a16="http://schemas.microsoft.com/office/drawing/2014/main" id="{EC9EFC08-C1D8-49F2-8083-2DA6916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과거 데이터는 docume">
            <a:extLst xmlns:a="http://schemas.openxmlformats.org/drawingml/2006/main">
              <a:ext uri="{FF2B5EF4-FFF2-40B4-BE49-F238E27FC236}">
                <a16:creationId xmlns:a16="http://schemas.microsoft.com/office/drawing/2014/main" id="{4EFE0963-ADB2-48CD-916C-B1E64F8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과거 데이터는 document_item_id 보정이 필요할 수 있습니다.</a:t>
            </a:r>
          </a:p>
        </p:txBody>
      </p:sp>
      <p:sp>
        <p:nvSpPr>
          <p:cNvPr id="16" name="block-mark-거래취소">
            <a:extLst xmlns:a="http://schemas.openxmlformats.org/drawingml/2006/main">
              <a:ext uri="{FF2B5EF4-FFF2-40B4-BE49-F238E27FC236}">
                <a16:creationId xmlns:a16="http://schemas.microsoft.com/office/drawing/2014/main" id="{22105145-FC64-4DC7-A217-0BEA38A6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7" name="block-title-거래취소">
            <a:extLst xmlns:a="http://schemas.openxmlformats.org/drawingml/2006/main">
              <a:ext uri="{FF2B5EF4-FFF2-40B4-BE49-F238E27FC236}">
                <a16:creationId xmlns:a16="http://schemas.microsoft.com/office/drawing/2014/main" id="{1724E49B-54F4-4037-AAB2-6B4CE50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147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거래취소</a:t>
            </a:r>
          </a:p>
        </p:txBody>
      </p:sp>
      <p:sp>
        <p:nvSpPr>
          <p:cNvPr id="18" name="dot-문서 전체 취소">
            <a:extLst xmlns:a="http://schemas.openxmlformats.org/drawingml/2006/main">
              <a:ext uri="{FF2B5EF4-FFF2-40B4-BE49-F238E27FC236}">
                <a16:creationId xmlns:a16="http://schemas.microsoft.com/office/drawing/2014/main" id="{5C4F2662-8BD0-4856-BF40-FD7D960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9" name="dot-text-문서 전체 취소는 문서와">
            <a:extLst xmlns:a="http://schemas.openxmlformats.org/drawingml/2006/main">
              <a:ext uri="{FF2B5EF4-FFF2-40B4-BE49-F238E27FC236}">
                <a16:creationId xmlns:a16="http://schemas.microsoft.com/office/drawing/2014/main" id="{179C670B-FEDF-487A-B73E-12262B9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528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전체 취소는 문서와 모든 품목을 ST01로 변경합니다.</a:t>
            </a:r>
          </a:p>
        </p:txBody>
      </p:sp>
      <p:sp>
        <p:nvSpPr>
          <p:cNvPr id="20" name="dot-품목별 취소는">
            <a:extLst xmlns:a="http://schemas.openxmlformats.org/drawingml/2006/main">
              <a:ext uri="{FF2B5EF4-FFF2-40B4-BE49-F238E27FC236}">
                <a16:creationId xmlns:a16="http://schemas.microsoft.com/office/drawing/2014/main" id="{07A8943F-574B-40DE-A51E-34D8740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21" name="dot-text-품목별 취소는 해당 품목과">
            <a:extLst xmlns:a="http://schemas.openxmlformats.org/drawingml/2006/main">
              <a:ext uri="{FF2B5EF4-FFF2-40B4-BE49-F238E27FC236}">
                <a16:creationId xmlns:a16="http://schemas.microsoft.com/office/drawing/2014/main" id="{FEC7F9D9-04FF-4282-9B23-6237AB8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767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품목별 취소는 해당 품목과 연결 수주 항목만 ST01로 변경합니다.</a:t>
            </a:r>
          </a:p>
        </p:txBody>
      </p:sp>
      <p:sp>
        <p:nvSpPr>
          <p:cNvPr id="22" name="dot-취소된 데이터는">
            <a:extLst xmlns:a="http://schemas.openxmlformats.org/drawingml/2006/main">
              <a:ext uri="{FF2B5EF4-FFF2-40B4-BE49-F238E27FC236}">
                <a16:creationId xmlns:a16="http://schemas.microsoft.com/office/drawing/2014/main" id="{3BC6B593-77DF-42A3-8C08-350CECB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23" name="dot-text-취소된 데이터는 월마감과">
            <a:extLst xmlns:a="http://schemas.openxmlformats.org/drawingml/2006/main">
              <a:ext uri="{FF2B5EF4-FFF2-40B4-BE49-F238E27FC236}">
                <a16:creationId xmlns:a16="http://schemas.microsoft.com/office/drawing/2014/main" id="{D57B2056-4912-4356-AFAC-E8FC1FF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취소된 데이터는 월마감과 일일판매 집계에서 제외됩니다.</a:t>
            </a:r>
          </a:p>
        </p:txBody>
      </p:sp>
      <p:sp>
        <p:nvSpPr>
          <p:cNvPr id="24" name="footer-9">
            <a:extLst xmlns:a="http://schemas.openxmlformats.org/drawingml/2006/main">
              <a:ext uri="{FF2B5EF4-FFF2-40B4-BE49-F238E27FC236}">
                <a16:creationId xmlns:a16="http://schemas.microsoft.com/office/drawing/2014/main" id="{89370C12-62B0-4A32-807F-D08E3E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9862898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num">
            <a:extLst xmlns:a="http://schemas.openxmlformats.org/drawingml/2006/main">
              <a:ext uri="{FF2B5EF4-FFF2-40B4-BE49-F238E27FC236}">
                <a16:creationId xmlns:a16="http://schemas.microsoft.com/office/drawing/2014/main" id="{747809F0-E96A-4986-9BEB-6F1AACF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10</a:t>
            </a:r>
          </a:p>
        </p:txBody>
      </p:sp>
      <p:sp>
        <p:nvSpPr>
          <p:cNvPr id="2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FD06E41B-53D5-488D-BB14-D61C026D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0-section">
            <a:extLst xmlns:a="http://schemas.openxmlformats.org/drawingml/2006/main">
              <a:ext uri="{FF2B5EF4-FFF2-40B4-BE49-F238E27FC236}">
                <a16:creationId xmlns:a16="http://schemas.microsoft.com/office/drawing/2014/main" id="{A8F9B4B4-C563-444E-A90D-76F5D204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수주대장</a:t>
            </a:r>
          </a:p>
        </p:txBody>
      </p:sp>
      <p:sp>
        <p:nvSpPr>
          <p:cNvPr id="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37605EB6-65E8-4CAD-BA22-8390EB49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문서에서 온 항목과 수동 등록 항목의 처리 기준을 구분합니다.</a:t>
            </a:r>
          </a:p>
        </p:txBody>
      </p:sp>
      <p:sp>
        <p:nvSpPr>
          <p:cNvPr id="5" name="slide-10-subtitle-empty">
            <a:extLst xmlns:a="http://schemas.openxmlformats.org/drawingml/2006/main">
              <a:ext uri="{FF2B5EF4-FFF2-40B4-BE49-F238E27FC236}">
                <a16:creationId xmlns:a16="http://schemas.microsoft.com/office/drawing/2014/main" id="{6F18E1EA-D79B-4F3B-9851-196A07F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4-order-book.png">
            <a:extLst xmlns:a="http://schemas.openxmlformats.org/drawingml/2006/main">
              <a:ext uri="{FF2B5EF4-FFF2-40B4-BE49-F238E27FC236}">
                <a16:creationId xmlns:a16="http://schemas.microsoft.com/office/drawing/2014/main" id="{B319B924-D79E-48B7-83AD-F83DE3F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4-order-book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7becd87774d43"/>
          <a:stretch xmlns:a="http://schemas.openxmlformats.org/drawingml/2006/main"/>
        </p:blipFill>
        <p:spPr>
          <a:xfrm xmlns:a="http://schemas.openxmlformats.org/drawingml/2006/main">
            <a:off x="879475" y="1845945"/>
            <a:ext cx="9347200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조회/표시 로직">
            <a:extLst xmlns:a="http://schemas.openxmlformats.org/drawingml/2006/main">
              <a:ext uri="{FF2B5EF4-FFF2-40B4-BE49-F238E27FC236}">
                <a16:creationId xmlns:a16="http://schemas.microsoft.com/office/drawing/2014/main" id="{9190A9DB-DDC2-4F15-BDDD-985305FC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조회/표시 로직">
            <a:extLst xmlns:a="http://schemas.openxmlformats.org/drawingml/2006/main">
              <a:ext uri="{FF2B5EF4-FFF2-40B4-BE49-F238E27FC236}">
                <a16:creationId xmlns:a16="http://schemas.microsoft.com/office/drawing/2014/main" id="{5FA54E4C-6629-4D50-B025-70A94F79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조회/표시 로직</a:t>
            </a:r>
          </a:p>
        </p:txBody>
      </p:sp>
      <p:sp>
        <p:nvSpPr>
          <p:cNvPr id="10" name="dot-입고일 기간,">
            <a:extLst xmlns:a="http://schemas.openxmlformats.org/drawingml/2006/main">
              <a:ext uri="{FF2B5EF4-FFF2-40B4-BE49-F238E27FC236}">
                <a16:creationId xmlns:a16="http://schemas.microsoft.com/office/drawing/2014/main" id="{35B35B7F-326D-4757-974A-007C9A61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입고일 기간, 검색어, 납">
            <a:extLst xmlns:a="http://schemas.openxmlformats.org/drawingml/2006/main">
              <a:ext uri="{FF2B5EF4-FFF2-40B4-BE49-F238E27FC236}">
                <a16:creationId xmlns:a16="http://schemas.microsoft.com/office/drawing/2014/main" id="{B13402FB-8108-4789-A74A-2572C558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입고일 기간, 검색어, 납품처, 수신처 조건으로 조회합니다.</a:t>
            </a:r>
          </a:p>
        </p:txBody>
      </p:sp>
      <p:sp>
        <p:nvSpPr>
          <p:cNvPr id="12" name="dot-수신처 검색은">
            <a:extLst xmlns:a="http://schemas.openxmlformats.org/drawingml/2006/main">
              <a:ext uri="{FF2B5EF4-FFF2-40B4-BE49-F238E27FC236}">
                <a16:creationId xmlns:a16="http://schemas.microsoft.com/office/drawing/2014/main" id="{6248F379-356E-41E1-96E9-1FCC00A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수신처 검색은 연결 문서">
            <a:extLst xmlns:a="http://schemas.openxmlformats.org/drawingml/2006/main">
              <a:ext uri="{FF2B5EF4-FFF2-40B4-BE49-F238E27FC236}">
                <a16:creationId xmlns:a16="http://schemas.microsoft.com/office/drawing/2014/main" id="{914047CB-6EBE-41CC-9C12-0707CA8B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수신처 검색은 연결 문서 정보까지 참고합니다.</a:t>
            </a:r>
          </a:p>
        </p:txBody>
      </p:sp>
      <p:sp>
        <p:nvSpPr>
          <p:cNvPr id="14" name="dot-표시명은 문서">
            <a:extLst xmlns:a="http://schemas.openxmlformats.org/drawingml/2006/main">
              <a:ext uri="{FF2B5EF4-FFF2-40B4-BE49-F238E27FC236}">
                <a16:creationId xmlns:a16="http://schemas.microsoft.com/office/drawing/2014/main" id="{D1A63547-BF6B-4D17-98B3-B58B8233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표시명은 문서 품목명, 등">
            <a:extLst xmlns:a="http://schemas.openxmlformats.org/drawingml/2006/main">
              <a:ext uri="{FF2B5EF4-FFF2-40B4-BE49-F238E27FC236}">
                <a16:creationId xmlns:a16="http://schemas.microsoft.com/office/drawing/2014/main" id="{75B9A4BD-136A-47C2-9E38-15A1B88A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표시명은 문서 품목명, 등록 품목명 순서로 우선합니다.</a:t>
            </a:r>
          </a:p>
        </p:txBody>
      </p:sp>
      <p:sp>
        <p:nvSpPr>
          <p:cNvPr id="16" name="block-mark-출고상태 처리">
            <a:extLst xmlns:a="http://schemas.openxmlformats.org/drawingml/2006/main">
              <a:ext uri="{FF2B5EF4-FFF2-40B4-BE49-F238E27FC236}">
                <a16:creationId xmlns:a16="http://schemas.microsoft.com/office/drawing/2014/main" id="{47A73A7F-54AE-4535-809A-A3186D9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출고상태 처리">
            <a:extLst xmlns:a="http://schemas.openxmlformats.org/drawingml/2006/main">
              <a:ext uri="{FF2B5EF4-FFF2-40B4-BE49-F238E27FC236}">
                <a16:creationId xmlns:a16="http://schemas.microsoft.com/office/drawing/2014/main" id="{3F48CC76-87D5-4B0F-86DE-91B3956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147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출고상태 처리</a:t>
            </a:r>
          </a:p>
        </p:txBody>
      </p:sp>
      <p:sp>
        <p:nvSpPr>
          <p:cNvPr id="18" name="dot-출고상태는 미출">
            <a:extLst xmlns:a="http://schemas.openxmlformats.org/drawingml/2006/main">
              <a:ext uri="{FF2B5EF4-FFF2-40B4-BE49-F238E27FC236}">
                <a16:creationId xmlns:a16="http://schemas.microsoft.com/office/drawing/2014/main" id="{FE4EAB58-F09C-47EC-B799-CAA5508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출고상태는 미출고 또는 출">
            <a:extLst xmlns:a="http://schemas.openxmlformats.org/drawingml/2006/main">
              <a:ext uri="{FF2B5EF4-FFF2-40B4-BE49-F238E27FC236}">
                <a16:creationId xmlns:a16="http://schemas.microsoft.com/office/drawing/2014/main" id="{40273616-F70F-4E4B-9E28-160082B5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528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출고상태는 미출고 또는 출고로 관리합니다.</a:t>
            </a:r>
          </a:p>
        </p:txBody>
      </p:sp>
      <p:sp>
        <p:nvSpPr>
          <p:cNvPr id="20" name="dot-일괄 출고처리는">
            <a:extLst xmlns:a="http://schemas.openxmlformats.org/drawingml/2006/main">
              <a:ext uri="{FF2B5EF4-FFF2-40B4-BE49-F238E27FC236}">
                <a16:creationId xmlns:a16="http://schemas.microsoft.com/office/drawing/2014/main" id="{48CB473F-9301-4489-8105-612315F2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일괄 출고처리는 선택된 항">
            <a:extLst xmlns:a="http://schemas.openxmlformats.org/drawingml/2006/main">
              <a:ext uri="{FF2B5EF4-FFF2-40B4-BE49-F238E27FC236}">
                <a16:creationId xmlns:a16="http://schemas.microsoft.com/office/drawing/2014/main" id="{B03B3DCA-47F7-4055-9C59-C220BE4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767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일괄 출고처리는 선택된 항목에만 적용됩니다.</a:t>
            </a:r>
          </a:p>
        </p:txBody>
      </p:sp>
      <p:sp>
        <p:nvSpPr>
          <p:cNvPr id="22" name="dot-거래취소 품목은">
            <a:extLst xmlns:a="http://schemas.openxmlformats.org/drawingml/2006/main">
              <a:ext uri="{FF2B5EF4-FFF2-40B4-BE49-F238E27FC236}">
                <a16:creationId xmlns:a16="http://schemas.microsoft.com/office/drawing/2014/main" id="{E38BE34E-89A5-4B2B-AEEE-1F2F732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거래취소 품목은 출고 관리">
            <a:extLst xmlns:a="http://schemas.openxmlformats.org/drawingml/2006/main">
              <a:ext uri="{FF2B5EF4-FFF2-40B4-BE49-F238E27FC236}">
                <a16:creationId xmlns:a16="http://schemas.microsoft.com/office/drawing/2014/main" id="{AE123DC0-1670-466E-A00D-EE1AC0E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거래취소 품목은 출고 관리 대상과 집계에서 분리됩니다.</a:t>
            </a:r>
          </a:p>
        </p:txBody>
      </p:sp>
      <p:sp>
        <p:nvSpPr>
          <p:cNvPr id="24" name="footer-10">
            <a:extLst xmlns:a="http://schemas.openxmlformats.org/drawingml/2006/main">
              <a:ext uri="{FF2B5EF4-FFF2-40B4-BE49-F238E27FC236}">
                <a16:creationId xmlns:a16="http://schemas.microsoft.com/office/drawing/2014/main" id="{7800BE52-CD63-4256-AD4E-B12151C7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21023363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num">
            <a:extLst xmlns:a="http://schemas.openxmlformats.org/drawingml/2006/main">
              <a:ext uri="{FF2B5EF4-FFF2-40B4-BE49-F238E27FC236}">
                <a16:creationId xmlns:a16="http://schemas.microsoft.com/office/drawing/2014/main" id="{C59854CE-C4D7-4183-9DF1-9583967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11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FCF24ADA-0649-4B0D-899B-DBDDD26A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1-section">
            <a:extLst xmlns:a="http://schemas.openxmlformats.org/drawingml/2006/main">
              <a:ext uri="{FF2B5EF4-FFF2-40B4-BE49-F238E27FC236}">
                <a16:creationId xmlns:a16="http://schemas.microsoft.com/office/drawing/2014/main" id="{CB630C79-594C-4AFB-8740-1C9E161C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마스터 관리</a:t>
            </a:r>
          </a:p>
        </p:txBody>
      </p:sp>
      <p:sp>
        <p:nvSpPr>
          <p:cNvPr id="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F98C2E2-F8D2-4115-9E7E-F1C1A0B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납품처, 공급자, 품목은 문서 자동입력의 기준 정보입니다.</a:t>
            </a:r>
          </a:p>
        </p:txBody>
      </p:sp>
      <p:sp>
        <p:nvSpPr>
          <p:cNvPr id="5" name="slide-11-subtitle-empty">
            <a:extLst xmlns:a="http://schemas.openxmlformats.org/drawingml/2006/main">
              <a:ext uri="{FF2B5EF4-FFF2-40B4-BE49-F238E27FC236}">
                <a16:creationId xmlns:a16="http://schemas.microsoft.com/office/drawing/2014/main" id="{3377E41B-5D84-4213-9186-5519A20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5-master-client.png">
            <a:extLst xmlns:a="http://schemas.openxmlformats.org/drawingml/2006/main">
              <a:ext uri="{FF2B5EF4-FFF2-40B4-BE49-F238E27FC236}">
                <a16:creationId xmlns:a16="http://schemas.microsoft.com/office/drawing/2014/main" id="{2E9C6A31-D906-4639-8DD7-229AF57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51435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5-master-clie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3e850cece4f2a"/>
          <a:stretch xmlns:a="http://schemas.openxmlformats.org/drawingml/2006/main"/>
        </p:blipFill>
        <p:spPr>
          <a:xfrm xmlns:a="http://schemas.openxmlformats.org/drawingml/2006/main">
            <a:off x="904875" y="1845945"/>
            <a:ext cx="4819650" cy="27432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납품처">
            <a:extLst xmlns:a="http://schemas.openxmlformats.org/drawingml/2006/main">
              <a:ext uri="{FF2B5EF4-FFF2-40B4-BE49-F238E27FC236}">
                <a16:creationId xmlns:a16="http://schemas.microsoft.com/office/drawing/2014/main" id="{A1259DE1-93C2-49D1-8340-CC6E8E3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9" name="block-title-납품처">
            <a:extLst xmlns:a="http://schemas.openxmlformats.org/drawingml/2006/main">
              <a:ext uri="{FF2B5EF4-FFF2-40B4-BE49-F238E27FC236}">
                <a16:creationId xmlns:a16="http://schemas.microsoft.com/office/drawing/2014/main" id="{EF2C6ECE-CD49-4731-BA2C-E54ACE34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납품처</a:t>
            </a:r>
          </a:p>
        </p:txBody>
      </p:sp>
      <p:sp>
        <p:nvSpPr>
          <p:cNvPr id="10" name="dot-주소, 담당자,">
            <a:extLst xmlns:a="http://schemas.openxmlformats.org/drawingml/2006/main">
              <a:ext uri="{FF2B5EF4-FFF2-40B4-BE49-F238E27FC236}">
                <a16:creationId xmlns:a16="http://schemas.microsoft.com/office/drawing/2014/main" id="{CCD1D047-CE65-4BC5-8E2C-D412F04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1" name="dot-text-주소, 담당자, 연락처,">
            <a:extLst xmlns:a="http://schemas.openxmlformats.org/drawingml/2006/main">
              <a:ext uri="{FF2B5EF4-FFF2-40B4-BE49-F238E27FC236}">
                <a16:creationId xmlns:a16="http://schemas.microsoft.com/office/drawing/2014/main" id="{37C4A5F0-FDC0-4149-93BD-7D53C6F0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주소, 담당자, 연락처, 입고시간, 비고를 관리합니다.</a:t>
            </a:r>
          </a:p>
        </p:txBody>
      </p:sp>
      <p:sp>
        <p:nvSpPr>
          <p:cNvPr id="12" name="dot-비활성 납품처는">
            <a:extLst xmlns:a="http://schemas.openxmlformats.org/drawingml/2006/main">
              <a:ext uri="{FF2B5EF4-FFF2-40B4-BE49-F238E27FC236}">
                <a16:creationId xmlns:a16="http://schemas.microsoft.com/office/drawing/2014/main" id="{BCC92123-CAD3-46E7-89CD-D2412838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3" name="dot-text-비활성 납품처는 운영상 사">
            <a:extLst xmlns:a="http://schemas.openxmlformats.org/drawingml/2006/main">
              <a:ext uri="{FF2B5EF4-FFF2-40B4-BE49-F238E27FC236}">
                <a16:creationId xmlns:a16="http://schemas.microsoft.com/office/drawing/2014/main" id="{C759190E-4EE0-40B9-8BE7-9A18B0F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비활성 납품처는 운영상 사용 여부를 구분합니다.</a:t>
            </a:r>
          </a:p>
        </p:txBody>
      </p:sp>
      <p:sp>
        <p:nvSpPr>
          <p:cNvPr id="14" name="dot-삭제는 del_">
            <a:extLst xmlns:a="http://schemas.openxmlformats.org/drawingml/2006/main">
              <a:ext uri="{FF2B5EF4-FFF2-40B4-BE49-F238E27FC236}">
                <a16:creationId xmlns:a16="http://schemas.microsoft.com/office/drawing/2014/main" id="{6BF2904E-081E-46F2-AB66-7F2563F7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5" name="dot-text-삭제는 del_yn으로 처">
            <a:extLst xmlns:a="http://schemas.openxmlformats.org/drawingml/2006/main">
              <a:ext uri="{FF2B5EF4-FFF2-40B4-BE49-F238E27FC236}">
                <a16:creationId xmlns:a16="http://schemas.microsoft.com/office/drawing/2014/main" id="{3A99BF5E-5F13-462A-88D8-1C3FA24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삭제는 del_yn으로 처리되어 일반 목록에서 제외됩니다.</a:t>
            </a:r>
          </a:p>
        </p:txBody>
      </p:sp>
      <p:sp>
        <p:nvSpPr>
          <p:cNvPr id="16" name="screen-06-master-product.png">
            <a:extLst xmlns:a="http://schemas.openxmlformats.org/drawingml/2006/main">
              <a:ext uri="{FF2B5EF4-FFF2-40B4-BE49-F238E27FC236}">
                <a16:creationId xmlns:a16="http://schemas.microsoft.com/office/drawing/2014/main" id="{13D5ECC2-ACA0-42F7-9D3C-344B1BB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9745"/>
            <a:ext cx="51435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17" name="image-06-master-produc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6dc36e31c4a51"/>
          <a:stretch xmlns:a="http://schemas.openxmlformats.org/drawingml/2006/main"/>
        </p:blipFill>
        <p:spPr>
          <a:xfrm xmlns:a="http://schemas.openxmlformats.org/drawingml/2006/main">
            <a:off x="6581775" y="1845945"/>
            <a:ext cx="4819650" cy="2743200"/>
          </a:xfrm>
          <a:prstGeom xmlns:a="http://schemas.openxmlformats.org/drawingml/2006/main" prst="rect">
            <a:avLst/>
          </a:prstGeom>
        </p:spPr>
      </p:pic>
      <p:sp>
        <p:nvSpPr>
          <p:cNvPr id="18" name="block-mark-품목">
            <a:extLst xmlns:a="http://schemas.openxmlformats.org/drawingml/2006/main">
              <a:ext uri="{FF2B5EF4-FFF2-40B4-BE49-F238E27FC236}">
                <a16:creationId xmlns:a16="http://schemas.microsoft.com/office/drawing/2014/main" id="{2D8EDD50-5947-4E09-BC47-17EE93C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9" name="block-title-품목">
            <a:extLst xmlns:a="http://schemas.openxmlformats.org/drawingml/2006/main">
              <a:ext uri="{FF2B5EF4-FFF2-40B4-BE49-F238E27FC236}">
                <a16:creationId xmlns:a16="http://schemas.microsoft.com/office/drawing/2014/main" id="{DDFC0FB6-54EC-4909-AF45-7BA2C04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387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품목</a:t>
            </a:r>
          </a:p>
        </p:txBody>
      </p:sp>
      <p:sp>
        <p:nvSpPr>
          <p:cNvPr id="20" name="dot-공통 품목과 납">
            <a:extLst xmlns:a="http://schemas.openxmlformats.org/drawingml/2006/main">
              <a:ext uri="{FF2B5EF4-FFF2-40B4-BE49-F238E27FC236}">
                <a16:creationId xmlns:a16="http://schemas.microsoft.com/office/drawing/2014/main" id="{263B60CB-8060-40AB-9E33-7D9B98F8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76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21" name="dot-text-공통 품목과 납품처별 품목">
            <a:extLst xmlns:a="http://schemas.openxmlformats.org/drawingml/2006/main">
              <a:ext uri="{FF2B5EF4-FFF2-40B4-BE49-F238E27FC236}">
                <a16:creationId xmlns:a16="http://schemas.microsoft.com/office/drawing/2014/main" id="{87559E1D-9623-4702-B49C-48906E9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7685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공통 품목과 납품처별 품목을 나눠 관리합니다.</a:t>
            </a:r>
          </a:p>
        </p:txBody>
      </p:sp>
      <p:sp>
        <p:nvSpPr>
          <p:cNvPr id="22" name="dot-문서명, 단가,">
            <a:extLst xmlns:a="http://schemas.openxmlformats.org/drawingml/2006/main">
              <a:ext uri="{FF2B5EF4-FFF2-40B4-BE49-F238E27FC236}">
                <a16:creationId xmlns:a16="http://schemas.microsoft.com/office/drawing/2014/main" id="{B78720EB-1B6C-4B94-9ED0-4F40D3E7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00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23" name="dot-text-문서명, 단가, 수신처,">
            <a:extLst xmlns:a="http://schemas.openxmlformats.org/drawingml/2006/main">
              <a:ext uri="{FF2B5EF4-FFF2-40B4-BE49-F238E27FC236}">
                <a16:creationId xmlns:a16="http://schemas.microsoft.com/office/drawing/2014/main" id="{1C393C92-16DA-4BA1-A5EF-2205CA6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0070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문서명, 단가, 수신처, 포장 기준이 문서 작성에 반영됩니다.</a:t>
            </a:r>
          </a:p>
        </p:txBody>
      </p:sp>
      <p:sp>
        <p:nvSpPr>
          <p:cNvPr id="24" name="dot-이미 사용된 품">
            <a:extLst xmlns:a="http://schemas.openxmlformats.org/drawingml/2006/main">
              <a:ext uri="{FF2B5EF4-FFF2-40B4-BE49-F238E27FC236}">
                <a16:creationId xmlns:a16="http://schemas.microsoft.com/office/drawing/2014/main" id="{7DB13923-D41B-4AA5-959C-4ED305FB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25" name="dot-text-이미 사용된 품목은 삭제보">
            <a:extLst xmlns:a="http://schemas.openxmlformats.org/drawingml/2006/main">
              <a:ext uri="{FF2B5EF4-FFF2-40B4-BE49-F238E27FC236}">
                <a16:creationId xmlns:a16="http://schemas.microsoft.com/office/drawing/2014/main" id="{70FAD3F4-391C-4F7B-893B-26CFDAC1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943600"/>
            <a:ext cx="5257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이미 사용된 품목은 삭제보다 비활성/신규 등록이 안전합니다.</a:t>
            </a:r>
          </a:p>
        </p:txBody>
      </p:sp>
      <p:sp>
        <p:nvSpPr>
          <p:cNvPr id="26" name="screen-02-doc-create.png">
            <a:extLst xmlns:a="http://schemas.openxmlformats.org/drawingml/2006/main">
              <a:ext uri="{FF2B5EF4-FFF2-40B4-BE49-F238E27FC236}">
                <a16:creationId xmlns:a16="http://schemas.microsoft.com/office/drawing/2014/main" id="{DF0F0539-7B10-4340-801D-FCE1868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769745"/>
            <a:ext cx="51435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27" name="image-02-doc-creat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e5aa694b340c3"/>
          <a:stretch xmlns:a="http://schemas.openxmlformats.org/drawingml/2006/main"/>
        </p:blipFill>
        <p:spPr>
          <a:xfrm xmlns:a="http://schemas.openxmlformats.org/drawingml/2006/main">
            <a:off x="12258675" y="1845945"/>
            <a:ext cx="4819650" cy="2743200"/>
          </a:xfrm>
          <a:prstGeom xmlns:a="http://schemas.openxmlformats.org/drawingml/2006/main" prst="rect">
            <a:avLst/>
          </a:prstGeom>
        </p:spPr>
      </p:pic>
      <p:sp>
        <p:nvSpPr>
          <p:cNvPr id="28" name="block-mark-공급자">
            <a:extLst xmlns:a="http://schemas.openxmlformats.org/drawingml/2006/main">
              <a:ext uri="{FF2B5EF4-FFF2-40B4-BE49-F238E27FC236}">
                <a16:creationId xmlns:a16="http://schemas.microsoft.com/office/drawing/2014/main" id="{97CF462D-7D30-4C4B-88D7-477A6E1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838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9" name="block-title-공급자">
            <a:extLst xmlns:a="http://schemas.openxmlformats.org/drawingml/2006/main">
              <a:ext uri="{FF2B5EF4-FFF2-40B4-BE49-F238E27FC236}">
                <a16:creationId xmlns:a16="http://schemas.microsoft.com/office/drawing/2014/main" id="{4CC2836E-1660-49AB-BB98-E271B89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387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공급자</a:t>
            </a:r>
          </a:p>
        </p:txBody>
      </p:sp>
      <p:sp>
        <p:nvSpPr>
          <p:cNvPr id="30" name="dot-기본 공급자 정">
            <a:extLst xmlns:a="http://schemas.openxmlformats.org/drawingml/2006/main">
              <a:ext uri="{FF2B5EF4-FFF2-40B4-BE49-F238E27FC236}">
                <a16:creationId xmlns:a16="http://schemas.microsoft.com/office/drawing/2014/main" id="{F0119799-9B80-40B2-915F-CD9ECFC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276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31" name="dot-text-기본 공급자 정보는 문서">
            <a:extLst xmlns:a="http://schemas.openxmlformats.org/drawingml/2006/main">
              <a:ext uri="{FF2B5EF4-FFF2-40B4-BE49-F238E27FC236}">
                <a16:creationId xmlns:a16="http://schemas.microsoft.com/office/drawing/2014/main" id="{27609D6C-BA86-44C5-81E5-0CED2EA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7685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기본 공급자 정보는 문서 출력에 사용됩니다.</a:t>
            </a:r>
          </a:p>
        </p:txBody>
      </p:sp>
      <p:sp>
        <p:nvSpPr>
          <p:cNvPr id="32" name="dot-기본 공급자 i">
            <a:extLst xmlns:a="http://schemas.openxmlformats.org/drawingml/2006/main">
              <a:ext uri="{FF2B5EF4-FFF2-40B4-BE49-F238E27FC236}">
                <a16:creationId xmlns:a16="http://schemas.microsoft.com/office/drawing/2014/main" id="{3F10EDBF-B87A-4E24-8A80-80D998D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600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33" name="dot-text-기본 공급자 id 1을 우">
            <a:extLst xmlns:a="http://schemas.openxmlformats.org/drawingml/2006/main">
              <a:ext uri="{FF2B5EF4-FFF2-40B4-BE49-F238E27FC236}">
                <a16:creationId xmlns:a16="http://schemas.microsoft.com/office/drawing/2014/main" id="{61D80C8C-001B-47A9-9619-3C8D480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0070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기본 공급자 id 1을 우선 기준으로 사용합니다.</a:t>
            </a:r>
          </a:p>
        </p:txBody>
      </p:sp>
      <p:sp>
        <p:nvSpPr>
          <p:cNvPr id="34" name="dot-문서 작성 시점">
            <a:extLst xmlns:a="http://schemas.openxmlformats.org/drawingml/2006/main">
              <a:ext uri="{FF2B5EF4-FFF2-40B4-BE49-F238E27FC236}">
                <a16:creationId xmlns:a16="http://schemas.microsoft.com/office/drawing/2014/main" id="{32E3E474-A68F-4BAD-AB1B-553F8A8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43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35" name="dot-text-문서 작성 시점의 공급자">
            <a:extLst xmlns:a="http://schemas.openxmlformats.org/drawingml/2006/main">
              <a:ext uri="{FF2B5EF4-FFF2-40B4-BE49-F238E27FC236}">
                <a16:creationId xmlns:a16="http://schemas.microsoft.com/office/drawing/2014/main" id="{B0140D47-708C-4E45-87B4-6745AD9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943600"/>
            <a:ext cx="525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작성 시점의 공급자 정보를 복사해 출력합니다.</a:t>
            </a:r>
          </a:p>
        </p:txBody>
      </p:sp>
      <p:sp>
        <p:nvSpPr>
          <p:cNvPr id="36" name="footer-11">
            <a:extLst xmlns:a="http://schemas.openxmlformats.org/drawingml/2006/main">
              <a:ext uri="{FF2B5EF4-FFF2-40B4-BE49-F238E27FC236}">
                <a16:creationId xmlns:a16="http://schemas.microsoft.com/office/drawing/2014/main" id="{342D0243-7E26-4E74-BA44-BD73576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125790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num">
            <a:extLst xmlns:a="http://schemas.openxmlformats.org/drawingml/2006/main">
              <a:ext uri="{FF2B5EF4-FFF2-40B4-BE49-F238E27FC236}">
                <a16:creationId xmlns:a16="http://schemas.microsoft.com/office/drawing/2014/main" id="{7BDCBD3B-C33D-4015-9B16-CDF7588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12</a:t>
            </a:r>
          </a:p>
        </p:txBody>
      </p:sp>
      <p:sp>
        <p:nvSpPr>
          <p:cNvPr id="2" name="slide-12-rule">
            <a:extLst xmlns:a="http://schemas.openxmlformats.org/drawingml/2006/main">
              <a:ext uri="{FF2B5EF4-FFF2-40B4-BE49-F238E27FC236}">
                <a16:creationId xmlns:a16="http://schemas.microsoft.com/office/drawing/2014/main" id="{3C661258-03DA-44EB-8E2D-BD90CD64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2-section">
            <a:extLst xmlns:a="http://schemas.openxmlformats.org/drawingml/2006/main">
              <a:ext uri="{FF2B5EF4-FFF2-40B4-BE49-F238E27FC236}">
                <a16:creationId xmlns:a16="http://schemas.microsoft.com/office/drawing/2014/main" id="{210F1B7E-95BC-4A62-BFAE-82AD4E0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단가 변경</a:t>
            </a:r>
          </a:p>
        </p:txBody>
      </p:sp>
      <p:sp>
        <p:nvSpPr>
          <p:cNvPr id="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809FCAF-5267-400E-B4E2-4BD4784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단가 수정은 앞으로 작성할 문서와 일부 미출고 항목에 영향을 줍니다.</a:t>
            </a:r>
          </a:p>
        </p:txBody>
      </p:sp>
      <p:sp>
        <p:nvSpPr>
          <p:cNvPr id="5" name="slide-12-subtitle-empty">
            <a:extLst xmlns:a="http://schemas.openxmlformats.org/drawingml/2006/main">
              <a:ext uri="{FF2B5EF4-FFF2-40B4-BE49-F238E27FC236}">
                <a16:creationId xmlns:a16="http://schemas.microsoft.com/office/drawing/2014/main" id="{5D391BB4-4E69-4148-8019-71C45D7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6-master-product.png">
            <a:extLst xmlns:a="http://schemas.openxmlformats.org/drawingml/2006/main">
              <a:ext uri="{FF2B5EF4-FFF2-40B4-BE49-F238E27FC236}">
                <a16:creationId xmlns:a16="http://schemas.microsoft.com/office/drawing/2014/main" id="{39F901D9-1224-4A6A-B7ED-39A38F8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9270"/>
            <a:ext cx="9429750" cy="5305425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6-master-produc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3f7d7a73c4345"/>
          <a:stretch xmlns:a="http://schemas.openxmlformats.org/drawingml/2006/main"/>
        </p:blipFill>
        <p:spPr>
          <a:xfrm xmlns:a="http://schemas.openxmlformats.org/drawingml/2006/main">
            <a:off x="931036" y="1855470"/>
            <a:ext cx="9053579" cy="5153025"/>
          </a:xfrm>
          <a:prstGeom xmlns:a="http://schemas.openxmlformats.org/drawingml/2006/main" prst="rect">
            <a:avLst/>
          </a:prstGeom>
        </p:spPr>
      </p:pic>
      <p:sp>
        <p:nvSpPr>
          <p:cNvPr id="8" name="price-table-h-0">
            <a:extLst xmlns:a="http://schemas.openxmlformats.org/drawingml/2006/main">
              <a:ext uri="{FF2B5EF4-FFF2-40B4-BE49-F238E27FC236}">
                <a16:creationId xmlns:a16="http://schemas.microsoft.com/office/drawing/2014/main" id="{62BD0799-81BF-4C16-B731-FFBB59C5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79270"/>
            <a:ext cx="160237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price-table-htext-0">
            <a:extLst xmlns:a="http://schemas.openxmlformats.org/drawingml/2006/main">
              <a:ext uri="{FF2B5EF4-FFF2-40B4-BE49-F238E27FC236}">
                <a16:creationId xmlns:a16="http://schemas.microsoft.com/office/drawing/2014/main" id="{04B5AFCD-76CB-4701-AED3-F14A4508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859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0" name="price-table-h-1">
            <a:extLst xmlns:a="http://schemas.openxmlformats.org/drawingml/2006/main">
              <a:ext uri="{FF2B5EF4-FFF2-40B4-BE49-F238E27FC236}">
                <a16:creationId xmlns:a16="http://schemas.microsoft.com/office/drawing/2014/main" id="{DBB8AF9C-5095-46EE-A737-6E5AD6B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027" y="1779270"/>
            <a:ext cx="2403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price-table-htext-1">
            <a:extLst xmlns:a="http://schemas.openxmlformats.org/drawingml/2006/main">
              <a:ext uri="{FF2B5EF4-FFF2-40B4-BE49-F238E27FC236}">
                <a16:creationId xmlns:a16="http://schemas.microsoft.com/office/drawing/2014/main" id="{67ED7DDE-31D3-4E24-A9B9-8317350A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885950"/>
            <a:ext cx="2114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적용 기준</a:t>
            </a:r>
          </a:p>
        </p:txBody>
      </p:sp>
      <p:sp>
        <p:nvSpPr>
          <p:cNvPr id="12" name="price-table-h-2">
            <a:extLst xmlns:a="http://schemas.openxmlformats.org/drawingml/2006/main">
              <a:ext uri="{FF2B5EF4-FFF2-40B4-BE49-F238E27FC236}">
                <a16:creationId xmlns:a16="http://schemas.microsoft.com/office/drawing/2014/main" id="{B17ED042-ABFB-4A70-AAA5-6362A2F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593" y="1779270"/>
            <a:ext cx="300445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price-table-htext-2">
            <a:extLst xmlns:a="http://schemas.openxmlformats.org/drawingml/2006/main">
              <a:ext uri="{FF2B5EF4-FFF2-40B4-BE49-F238E27FC236}">
                <a16:creationId xmlns:a16="http://schemas.microsoft.com/office/drawing/2014/main" id="{89637326-2040-4BF5-8600-9F52BB8D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188595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주의사항</a:t>
            </a:r>
          </a:p>
        </p:txBody>
      </p:sp>
      <p:sp>
        <p:nvSpPr>
          <p:cNvPr id="14" name="price-table-cell-0-0">
            <a:extLst xmlns:a="http://schemas.openxmlformats.org/drawingml/2006/main">
              <a:ext uri="{FF2B5EF4-FFF2-40B4-BE49-F238E27FC236}">
                <a16:creationId xmlns:a16="http://schemas.microsoft.com/office/drawing/2014/main" id="{741F8591-43A1-4555-831A-CBB65FC4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293620"/>
            <a:ext cx="160237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5" name="price-table-text-0-0">
            <a:extLst xmlns:a="http://schemas.openxmlformats.org/drawingml/2006/main">
              <a:ext uri="{FF2B5EF4-FFF2-40B4-BE49-F238E27FC236}">
                <a16:creationId xmlns:a16="http://schemas.microsoft.com/office/drawing/2014/main" id="{928CD686-A150-476A-A88B-4D34342A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0030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품목 직접 저장</a:t>
            </a:r>
          </a:p>
        </p:txBody>
      </p:sp>
      <p:sp>
        <p:nvSpPr>
          <p:cNvPr id="16" name="price-table-cell-0-1">
            <a:extLst xmlns:a="http://schemas.openxmlformats.org/drawingml/2006/main">
              <a:ext uri="{FF2B5EF4-FFF2-40B4-BE49-F238E27FC236}">
                <a16:creationId xmlns:a16="http://schemas.microsoft.com/office/drawing/2014/main" id="{FA6B556A-5E4A-417E-BCDC-A11595D8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027" y="2293620"/>
            <a:ext cx="2403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7" name="price-table-text-0-1">
            <a:extLst xmlns:a="http://schemas.openxmlformats.org/drawingml/2006/main">
              <a:ext uri="{FF2B5EF4-FFF2-40B4-BE49-F238E27FC236}">
                <a16:creationId xmlns:a16="http://schemas.microsoft.com/office/drawing/2014/main" id="{C02D4D10-6938-47B9-956E-35238D2B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0030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납품처별 품목의 기준 단가를 저장</a:t>
            </a:r>
          </a:p>
        </p:txBody>
      </p:sp>
      <p:sp>
        <p:nvSpPr>
          <p:cNvPr id="18" name="price-table-cell-0-2">
            <a:extLst xmlns:a="http://schemas.openxmlformats.org/drawingml/2006/main">
              <a:ext uri="{FF2B5EF4-FFF2-40B4-BE49-F238E27FC236}">
                <a16:creationId xmlns:a16="http://schemas.microsoft.com/office/drawing/2014/main" id="{727AB9C3-26B7-402B-AD97-98CFC46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593" y="2293620"/>
            <a:ext cx="300445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9" name="price-table-text-0-2">
            <a:extLst xmlns:a="http://schemas.openxmlformats.org/drawingml/2006/main">
              <a:ext uri="{FF2B5EF4-FFF2-40B4-BE49-F238E27FC236}">
                <a16:creationId xmlns:a16="http://schemas.microsoft.com/office/drawing/2014/main" id="{0F56FAA7-FFE4-4473-B32F-2FE5E651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240030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기존 발행 문서 금액은 자동 변경하지 않음</a:t>
            </a:r>
          </a:p>
        </p:txBody>
      </p:sp>
      <p:sp>
        <p:nvSpPr>
          <p:cNvPr id="20" name="price-table-cell-1-0">
            <a:extLst xmlns:a="http://schemas.openxmlformats.org/drawingml/2006/main">
              <a:ext uri="{FF2B5EF4-FFF2-40B4-BE49-F238E27FC236}">
                <a16:creationId xmlns:a16="http://schemas.microsoft.com/office/drawing/2014/main" id="{179C8879-4EC8-40E3-BD14-4D82FCCB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36570"/>
            <a:ext cx="160237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1" name="price-table-text-1-0">
            <a:extLst xmlns:a="http://schemas.openxmlformats.org/drawingml/2006/main">
              <a:ext uri="{FF2B5EF4-FFF2-40B4-BE49-F238E27FC236}">
                <a16:creationId xmlns:a16="http://schemas.microsoft.com/office/drawing/2014/main" id="{3D16C496-F920-4A3A-B15C-02B4BC95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432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단가 수정 탭</a:t>
            </a:r>
          </a:p>
        </p:txBody>
      </p:sp>
      <p:sp>
        <p:nvSpPr>
          <p:cNvPr id="22" name="price-table-cell-1-1">
            <a:extLst xmlns:a="http://schemas.openxmlformats.org/drawingml/2006/main">
              <a:ext uri="{FF2B5EF4-FFF2-40B4-BE49-F238E27FC236}">
                <a16:creationId xmlns:a16="http://schemas.microsoft.com/office/drawing/2014/main" id="{C521708F-4738-4F35-866C-CF51C90C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027" y="3036570"/>
            <a:ext cx="2403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3" name="price-table-text-1-1">
            <a:extLst xmlns:a="http://schemas.openxmlformats.org/drawingml/2006/main">
              <a:ext uri="{FF2B5EF4-FFF2-40B4-BE49-F238E27FC236}">
                <a16:creationId xmlns:a16="http://schemas.microsoft.com/office/drawing/2014/main" id="{BDF40DA7-6200-4F3E-BD79-CE97402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4325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대상 품목을 미리보기 후 변경</a:t>
            </a:r>
          </a:p>
        </p:txBody>
      </p:sp>
      <p:sp>
        <p:nvSpPr>
          <p:cNvPr id="24" name="price-table-cell-1-2">
            <a:extLst xmlns:a="http://schemas.openxmlformats.org/drawingml/2006/main">
              <a:ext uri="{FF2B5EF4-FFF2-40B4-BE49-F238E27FC236}">
                <a16:creationId xmlns:a16="http://schemas.microsoft.com/office/drawing/2014/main" id="{1F220303-3CAF-465B-A311-3DC09430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593" y="3036570"/>
            <a:ext cx="300445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5" name="price-table-text-1-2">
            <a:extLst xmlns:a="http://schemas.openxmlformats.org/drawingml/2006/main">
              <a:ext uri="{FF2B5EF4-FFF2-40B4-BE49-F238E27FC236}">
                <a16:creationId xmlns:a16="http://schemas.microsoft.com/office/drawing/2014/main" id="{E4CC591B-9CDB-44A8-8948-D8E15640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1432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품목 가격 변경 대상 여부를 확인</a:t>
            </a:r>
          </a:p>
        </p:txBody>
      </p:sp>
      <p:sp>
        <p:nvSpPr>
          <p:cNvPr id="26" name="price-table-cell-2-0">
            <a:extLst xmlns:a="http://schemas.openxmlformats.org/drawingml/2006/main">
              <a:ext uri="{FF2B5EF4-FFF2-40B4-BE49-F238E27FC236}">
                <a16:creationId xmlns:a16="http://schemas.microsoft.com/office/drawing/2014/main" id="{B6AAB0CC-A3EA-4C6D-A176-48247AE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79520"/>
            <a:ext cx="160237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7" name="price-table-text-2-0">
            <a:extLst xmlns:a="http://schemas.openxmlformats.org/drawingml/2006/main">
              <a:ext uri="{FF2B5EF4-FFF2-40B4-BE49-F238E27FC236}">
                <a16:creationId xmlns:a16="http://schemas.microsoft.com/office/drawing/2014/main" id="{B25C8844-43C6-4602-A962-DEDDF3A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기존 문서</a:t>
            </a:r>
          </a:p>
        </p:txBody>
      </p:sp>
      <p:sp>
        <p:nvSpPr>
          <p:cNvPr id="28" name="price-table-cell-2-1">
            <a:extLst xmlns:a="http://schemas.openxmlformats.org/drawingml/2006/main">
              <a:ext uri="{FF2B5EF4-FFF2-40B4-BE49-F238E27FC236}">
                <a16:creationId xmlns:a16="http://schemas.microsoft.com/office/drawing/2014/main" id="{6D4C474C-3AE9-4452-9CB5-C4CD4E8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027" y="3779520"/>
            <a:ext cx="2403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9" name="price-table-text-2-1">
            <a:extLst xmlns:a="http://schemas.openxmlformats.org/drawingml/2006/main">
              <a:ext uri="{FF2B5EF4-FFF2-40B4-BE49-F238E27FC236}">
                <a16:creationId xmlns:a16="http://schemas.microsoft.com/office/drawing/2014/main" id="{546E23DD-781A-4BE1-8A24-F6ACA710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8620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발행 당시 저장된 금액 우선</a:t>
            </a:r>
          </a:p>
        </p:txBody>
      </p:sp>
      <p:sp>
        <p:nvSpPr>
          <p:cNvPr id="30" name="price-table-cell-2-2">
            <a:extLst xmlns:a="http://schemas.openxmlformats.org/drawingml/2006/main">
              <a:ext uri="{FF2B5EF4-FFF2-40B4-BE49-F238E27FC236}">
                <a16:creationId xmlns:a16="http://schemas.microsoft.com/office/drawing/2014/main" id="{39A7D903-6FA8-4192-B84B-D81F7667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593" y="3779520"/>
            <a:ext cx="300445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1" name="price-table-text-2-2">
            <a:extLst xmlns:a="http://schemas.openxmlformats.org/drawingml/2006/main">
              <a:ext uri="{FF2B5EF4-FFF2-40B4-BE49-F238E27FC236}">
                <a16:creationId xmlns:a16="http://schemas.microsoft.com/office/drawing/2014/main" id="{9C38D282-26B4-43C5-B97C-E2BF30BE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88620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월마감 금액 차이는 문서 상세 금액부터 확인</a:t>
            </a:r>
          </a:p>
        </p:txBody>
      </p:sp>
      <p:sp>
        <p:nvSpPr>
          <p:cNvPr id="32" name="price-table-cell-3-0">
            <a:extLst xmlns:a="http://schemas.openxmlformats.org/drawingml/2006/main">
              <a:ext uri="{FF2B5EF4-FFF2-40B4-BE49-F238E27FC236}">
                <a16:creationId xmlns:a16="http://schemas.microsoft.com/office/drawing/2014/main" id="{A3E5E4FA-8062-4D77-A097-C9A5691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522470"/>
            <a:ext cx="160237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3" name="price-table-text-3-0">
            <a:extLst xmlns:a="http://schemas.openxmlformats.org/drawingml/2006/main">
              <a:ext uri="{FF2B5EF4-FFF2-40B4-BE49-F238E27FC236}">
                <a16:creationId xmlns:a16="http://schemas.microsoft.com/office/drawing/2014/main" id="{CB22EF7D-960B-4100-8ACC-463AFF1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6291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미출고 수주</a:t>
            </a:r>
          </a:p>
        </p:txBody>
      </p:sp>
      <p:sp>
        <p:nvSpPr>
          <p:cNvPr id="34" name="price-table-cell-3-1">
            <a:extLst xmlns:a="http://schemas.openxmlformats.org/drawingml/2006/main">
              <a:ext uri="{FF2B5EF4-FFF2-40B4-BE49-F238E27FC236}">
                <a16:creationId xmlns:a16="http://schemas.microsoft.com/office/drawing/2014/main" id="{BD0BCAD0-C14F-4AA8-9FED-CFA7DFA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027" y="4522470"/>
            <a:ext cx="2403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5" name="price-table-text-3-1">
            <a:extLst xmlns:a="http://schemas.openxmlformats.org/drawingml/2006/main">
              <a:ext uri="{FF2B5EF4-FFF2-40B4-BE49-F238E27FC236}">
                <a16:creationId xmlns:a16="http://schemas.microsoft.com/office/drawing/2014/main" id="{6AC07223-5AC8-4654-AD36-EE24098D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2915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연결 여부에 따라 반영 범위가 달라짐</a:t>
            </a:r>
          </a:p>
        </p:txBody>
      </p:sp>
      <p:sp>
        <p:nvSpPr>
          <p:cNvPr id="36" name="price-table-cell-3-2">
            <a:extLst xmlns:a="http://schemas.openxmlformats.org/drawingml/2006/main">
              <a:ext uri="{FF2B5EF4-FFF2-40B4-BE49-F238E27FC236}">
                <a16:creationId xmlns:a16="http://schemas.microsoft.com/office/drawing/2014/main" id="{B15445F5-60D4-4D2A-8043-8E55404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593" y="4522470"/>
            <a:ext cx="300445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7" name="price-table-text-3-2">
            <a:extLst xmlns:a="http://schemas.openxmlformats.org/drawingml/2006/main">
              <a:ext uri="{FF2B5EF4-FFF2-40B4-BE49-F238E27FC236}">
                <a16:creationId xmlns:a16="http://schemas.microsoft.com/office/drawing/2014/main" id="{A87BB5AF-23A8-413A-9294-8931D4D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6291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수주대장 금액과 문서 품목 금액을 비교</a:t>
            </a:r>
          </a:p>
        </p:txBody>
      </p:sp>
      <p:sp>
        <p:nvSpPr>
          <p:cNvPr id="38" name="footer-12">
            <a:extLst xmlns:a="http://schemas.openxmlformats.org/drawingml/2006/main">
              <a:ext uri="{FF2B5EF4-FFF2-40B4-BE49-F238E27FC236}">
                <a16:creationId xmlns:a16="http://schemas.microsoft.com/office/drawing/2014/main" id="{82A3CDC5-F67C-4441-BDFE-08A33AE1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8187501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num">
            <a:extLst xmlns:a="http://schemas.openxmlformats.org/drawingml/2006/main">
              <a:ext uri="{FF2B5EF4-FFF2-40B4-BE49-F238E27FC236}">
                <a16:creationId xmlns:a16="http://schemas.microsoft.com/office/drawing/2014/main" id="{511E78B2-7B50-43EF-9C02-C559FA24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13</a:t>
            </a:r>
          </a:p>
        </p:txBody>
      </p:sp>
      <p:sp>
        <p:nvSpPr>
          <p:cNvPr id="2" name="slide-13-rule">
            <a:extLst xmlns:a="http://schemas.openxmlformats.org/drawingml/2006/main">
              <a:ext uri="{FF2B5EF4-FFF2-40B4-BE49-F238E27FC236}">
                <a16:creationId xmlns:a16="http://schemas.microsoft.com/office/drawing/2014/main" id="{FACA6CC7-0CDA-4C5E-AB05-28ACDE26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3-section">
            <a:extLst xmlns:a="http://schemas.openxmlformats.org/drawingml/2006/main">
              <a:ext uri="{FF2B5EF4-FFF2-40B4-BE49-F238E27FC236}">
                <a16:creationId xmlns:a16="http://schemas.microsoft.com/office/drawing/2014/main" id="{5E9F6C1D-42A1-4459-92BA-8A23891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월마감</a:t>
            </a:r>
          </a:p>
        </p:txBody>
      </p:sp>
      <p:sp>
        <p:nvSpPr>
          <p:cNvPr id="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00A86041-5DFC-4422-B805-92A754D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월마감은 날짜 우선순위와 거래취소 제외 기준이 핵심입니다.</a:t>
            </a:r>
          </a:p>
        </p:txBody>
      </p:sp>
      <p:sp>
        <p:nvSpPr>
          <p:cNvPr id="5" name="slide-13-subtitle-empty">
            <a:extLst xmlns:a="http://schemas.openxmlformats.org/drawingml/2006/main">
              <a:ext uri="{FF2B5EF4-FFF2-40B4-BE49-F238E27FC236}">
                <a16:creationId xmlns:a16="http://schemas.microsoft.com/office/drawing/2014/main" id="{02E711B2-0511-4E8B-AA72-250B560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7-monthly-closing.png">
            <a:extLst xmlns:a="http://schemas.openxmlformats.org/drawingml/2006/main">
              <a:ext uri="{FF2B5EF4-FFF2-40B4-BE49-F238E27FC236}">
                <a16:creationId xmlns:a16="http://schemas.microsoft.com/office/drawing/2014/main" id="{F5738326-F80C-4775-B1CD-0F8F8C3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7-monthly-closing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5a2c73d9942af"/>
          <a:stretch xmlns:a="http://schemas.openxmlformats.org/drawingml/2006/main"/>
        </p:blipFill>
        <p:spPr>
          <a:xfrm xmlns:a="http://schemas.openxmlformats.org/drawingml/2006/main">
            <a:off x="879475" y="1845945"/>
            <a:ext cx="9347200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집계 기준">
            <a:extLst xmlns:a="http://schemas.openxmlformats.org/drawingml/2006/main">
              <a:ext uri="{FF2B5EF4-FFF2-40B4-BE49-F238E27FC236}">
                <a16:creationId xmlns:a16="http://schemas.microsoft.com/office/drawing/2014/main" id="{3A401F4F-A828-4E20-A6EB-A93976B3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집계 기준">
            <a:extLst xmlns:a="http://schemas.openxmlformats.org/drawingml/2006/main">
              <a:ext uri="{FF2B5EF4-FFF2-40B4-BE49-F238E27FC236}">
                <a16:creationId xmlns:a16="http://schemas.microsoft.com/office/drawing/2014/main" id="{E658EEF1-E689-478C-B8EB-6E503CAB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집계 기준</a:t>
            </a:r>
          </a:p>
        </p:txBody>
      </p:sp>
      <p:sp>
        <p:nvSpPr>
          <p:cNvPr id="10" name="dot-삭제되지 않은">
            <a:extLst xmlns:a="http://schemas.openxmlformats.org/drawingml/2006/main">
              <a:ext uri="{FF2B5EF4-FFF2-40B4-BE49-F238E27FC236}">
                <a16:creationId xmlns:a16="http://schemas.microsoft.com/office/drawing/2014/main" id="{929B7925-939C-40FF-8D28-D3C3E831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삭제되지 않은 문서와 품목">
            <a:extLst xmlns:a="http://schemas.openxmlformats.org/drawingml/2006/main">
              <a:ext uri="{FF2B5EF4-FFF2-40B4-BE49-F238E27FC236}">
                <a16:creationId xmlns:a16="http://schemas.microsoft.com/office/drawing/2014/main" id="{CFA8D910-4CB3-4C01-BF97-2F8BB1B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삭제되지 않은 문서와 품목만 집계합니다.</a:t>
            </a:r>
          </a:p>
        </p:txBody>
      </p:sp>
      <p:sp>
        <p:nvSpPr>
          <p:cNvPr id="12" name="dot-문서 또는 품목">
            <a:extLst xmlns:a="http://schemas.openxmlformats.org/drawingml/2006/main">
              <a:ext uri="{FF2B5EF4-FFF2-40B4-BE49-F238E27FC236}">
                <a16:creationId xmlns:a16="http://schemas.microsoft.com/office/drawing/2014/main" id="{AD4C1EB4-1F57-4595-B541-01289CA5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문서 또는 품목이 ST01">
            <a:extLst xmlns:a="http://schemas.openxmlformats.org/drawingml/2006/main">
              <a:ext uri="{FF2B5EF4-FFF2-40B4-BE49-F238E27FC236}">
                <a16:creationId xmlns:a16="http://schemas.microsoft.com/office/drawing/2014/main" id="{19C51201-5A32-4461-BA94-D20F5F6D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또는 품목이 ST01이면 제외합니다.</a:t>
            </a:r>
          </a:p>
        </p:txBody>
      </p:sp>
      <p:sp>
        <p:nvSpPr>
          <p:cNvPr id="14" name="dot-입고일은 품목">
            <a:extLst xmlns:a="http://schemas.openxmlformats.org/drawingml/2006/main">
              <a:ext uri="{FF2B5EF4-FFF2-40B4-BE49-F238E27FC236}">
                <a16:creationId xmlns:a16="http://schemas.microsoft.com/office/drawing/2014/main" id="{ABB338B5-D762-4E53-9761-1BC78407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입고일은 품목 입고일, 문">
            <a:extLst xmlns:a="http://schemas.openxmlformats.org/drawingml/2006/main">
              <a:ext uri="{FF2B5EF4-FFF2-40B4-BE49-F238E27FC236}">
                <a16:creationId xmlns:a16="http://schemas.microsoft.com/office/drawing/2014/main" id="{C336E71C-C683-4E39-9BC4-E86C22F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입고일은 품목 입고일, 문서 입고일, 품목 발주일, 문서 발주일 순서로 판단합니다.</a:t>
            </a:r>
          </a:p>
        </p:txBody>
      </p:sp>
      <p:sp>
        <p:nvSpPr>
          <p:cNvPr id="16" name="block-mark-금액 기준">
            <a:extLst xmlns:a="http://schemas.openxmlformats.org/drawingml/2006/main">
              <a:ext uri="{FF2B5EF4-FFF2-40B4-BE49-F238E27FC236}">
                <a16:creationId xmlns:a16="http://schemas.microsoft.com/office/drawing/2014/main" id="{32CE07DE-C803-4FD1-B9F7-AD97E84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433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금액 기준">
            <a:extLst xmlns:a="http://schemas.openxmlformats.org/drawingml/2006/main">
              <a:ext uri="{FF2B5EF4-FFF2-40B4-BE49-F238E27FC236}">
                <a16:creationId xmlns:a16="http://schemas.microsoft.com/office/drawing/2014/main" id="{B7771CB3-43C3-4462-8935-2B325F1A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5433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금액 기준</a:t>
            </a:r>
          </a:p>
        </p:txBody>
      </p:sp>
      <p:sp>
        <p:nvSpPr>
          <p:cNvPr id="18" name="dot-공급가액, VA">
            <a:extLst xmlns:a="http://schemas.openxmlformats.org/drawingml/2006/main">
              <a:ext uri="{FF2B5EF4-FFF2-40B4-BE49-F238E27FC236}">
                <a16:creationId xmlns:a16="http://schemas.microsoft.com/office/drawing/2014/main" id="{A4CFEF57-D02C-4F9D-8075-F3D8A11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00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공급가액, VAT, 총액은">
            <a:extLst xmlns:a="http://schemas.openxmlformats.org/drawingml/2006/main">
              <a:ext uri="{FF2B5EF4-FFF2-40B4-BE49-F238E27FC236}">
                <a16:creationId xmlns:a16="http://schemas.microsoft.com/office/drawing/2014/main" id="{D2202D4B-8C95-4D26-AB3B-B9109FB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005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공급가액, VAT, 총액은 문서 품목에 저장된 값을 기준으로 합니다.</a:t>
            </a:r>
          </a:p>
        </p:txBody>
      </p:sp>
      <p:sp>
        <p:nvSpPr>
          <p:cNvPr id="20" name="dot-품목명은 문서">
            <a:extLst xmlns:a="http://schemas.openxmlformats.org/drawingml/2006/main">
              <a:ext uri="{FF2B5EF4-FFF2-40B4-BE49-F238E27FC236}">
                <a16:creationId xmlns:a16="http://schemas.microsoft.com/office/drawing/2014/main" id="{9EA0C38A-330A-4D9D-B7FC-EE5DC3D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24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품목명은 문서 품목명, 납">
            <a:extLst xmlns:a="http://schemas.openxmlformats.org/drawingml/2006/main">
              <a:ext uri="{FF2B5EF4-FFF2-40B4-BE49-F238E27FC236}">
                <a16:creationId xmlns:a16="http://schemas.microsoft.com/office/drawing/2014/main" id="{63EAAD84-4901-484B-AAB2-F30F014E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243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품목명은 문서 품목명, 납품처별 품목명, 공통 품목명 순서로 사용합니다.</a:t>
            </a:r>
          </a:p>
        </p:txBody>
      </p:sp>
      <p:sp>
        <p:nvSpPr>
          <p:cNvPr id="22" name="dot-비고는 입력 후">
            <a:extLst xmlns:a="http://schemas.openxmlformats.org/drawingml/2006/main">
              <a:ext uri="{FF2B5EF4-FFF2-40B4-BE49-F238E27FC236}">
                <a16:creationId xmlns:a16="http://schemas.microsoft.com/office/drawing/2014/main" id="{DF2337B3-0B84-4968-9809-AECA749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비고는 입력 후 Enter">
            <a:extLst xmlns:a="http://schemas.openxmlformats.org/drawingml/2006/main">
              <a:ext uri="{FF2B5EF4-FFF2-40B4-BE49-F238E27FC236}">
                <a16:creationId xmlns:a16="http://schemas.microsoft.com/office/drawing/2014/main" id="{599927E7-736B-4534-84DF-48D3FA8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6482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비고는 입력 후 Enter 또는 포커스 이동으로 저장합니다.</a:t>
            </a:r>
          </a:p>
        </p:txBody>
      </p:sp>
      <p:sp>
        <p:nvSpPr>
          <p:cNvPr id="24" name="footer-13">
            <a:extLst xmlns:a="http://schemas.openxmlformats.org/drawingml/2006/main">
              <a:ext uri="{FF2B5EF4-FFF2-40B4-BE49-F238E27FC236}">
                <a16:creationId xmlns:a16="http://schemas.microsoft.com/office/drawing/2014/main" id="{C98733C3-E42A-4E5C-A6BE-EF7D38FC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3193039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num">
            <a:extLst xmlns:a="http://schemas.openxmlformats.org/drawingml/2006/main">
              <a:ext uri="{FF2B5EF4-FFF2-40B4-BE49-F238E27FC236}">
                <a16:creationId xmlns:a16="http://schemas.microsoft.com/office/drawing/2014/main" id="{F013AC93-6E48-4672-8D86-87DFA88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14</a:t>
            </a:r>
          </a:p>
        </p:txBody>
      </p:sp>
      <p:sp>
        <p:nvSpPr>
          <p:cNvPr id="2" name="slide-14-rule">
            <a:extLst xmlns:a="http://schemas.openxmlformats.org/drawingml/2006/main">
              <a:ext uri="{FF2B5EF4-FFF2-40B4-BE49-F238E27FC236}">
                <a16:creationId xmlns:a16="http://schemas.microsoft.com/office/drawing/2014/main" id="{DCA382D1-51EC-4DB1-9CB9-86DA250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4-section">
            <a:extLst xmlns:a="http://schemas.openxmlformats.org/drawingml/2006/main">
              <a:ext uri="{FF2B5EF4-FFF2-40B4-BE49-F238E27FC236}">
                <a16:creationId xmlns:a16="http://schemas.microsoft.com/office/drawing/2014/main" id="{41FC642F-49FA-4CA2-99AC-DB5E20F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일일판매</a:t>
            </a:r>
          </a:p>
        </p:txBody>
      </p:sp>
      <p:sp>
        <p:nvSpPr>
          <p:cNvPr id="4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C3DAC285-CE85-41E0-8D41-23106314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일일판매는 관리자 전용이며 제품/문서 데이터를 월 단위로 묶습니다.</a:t>
            </a:r>
          </a:p>
        </p:txBody>
      </p:sp>
      <p:sp>
        <p:nvSpPr>
          <p:cNvPr id="5" name="slide-14-subtitle-empty">
            <a:extLst xmlns:a="http://schemas.openxmlformats.org/drawingml/2006/main">
              <a:ext uri="{FF2B5EF4-FFF2-40B4-BE49-F238E27FC236}">
                <a16:creationId xmlns:a16="http://schemas.microsoft.com/office/drawing/2014/main" id="{8E3593F2-7588-4A45-9265-DB478A2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08-daily-sales.png">
            <a:extLst xmlns:a="http://schemas.openxmlformats.org/drawingml/2006/main">
              <a:ext uri="{FF2B5EF4-FFF2-40B4-BE49-F238E27FC236}">
                <a16:creationId xmlns:a16="http://schemas.microsoft.com/office/drawing/2014/main" id="{4F1418A2-A038-416E-890A-FEBAD2A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08-daily-sale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f5b0d0064cd0"/>
          <a:stretch xmlns:a="http://schemas.openxmlformats.org/drawingml/2006/main"/>
        </p:blipFill>
        <p:spPr>
          <a:xfrm xmlns:a="http://schemas.openxmlformats.org/drawingml/2006/main">
            <a:off x="934244" y="1845945"/>
            <a:ext cx="9237663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행 생성 기준">
            <a:extLst xmlns:a="http://schemas.openxmlformats.org/drawingml/2006/main">
              <a:ext uri="{FF2B5EF4-FFF2-40B4-BE49-F238E27FC236}">
                <a16:creationId xmlns:a16="http://schemas.microsoft.com/office/drawing/2014/main" id="{5672A9D3-CE68-4003-8DBE-961C84DD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block-title-행 생성 기준">
            <a:extLst xmlns:a="http://schemas.openxmlformats.org/drawingml/2006/main">
              <a:ext uri="{FF2B5EF4-FFF2-40B4-BE49-F238E27FC236}">
                <a16:creationId xmlns:a16="http://schemas.microsoft.com/office/drawing/2014/main" id="{33288B90-BBD3-4CC3-8103-6E79B708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행 생성 기준</a:t>
            </a:r>
          </a:p>
        </p:txBody>
      </p:sp>
      <p:sp>
        <p:nvSpPr>
          <p:cNvPr id="10" name="dot-품목 마스터와">
            <a:extLst xmlns:a="http://schemas.openxmlformats.org/drawingml/2006/main">
              <a:ext uri="{FF2B5EF4-FFF2-40B4-BE49-F238E27FC236}">
                <a16:creationId xmlns:a16="http://schemas.microsoft.com/office/drawing/2014/main" id="{2132EA10-91CE-4D22-94AC-8908848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품목 마스터와 해당 월 문">
            <a:extLst xmlns:a="http://schemas.openxmlformats.org/drawingml/2006/main">
              <a:ext uri="{FF2B5EF4-FFF2-40B4-BE49-F238E27FC236}">
                <a16:creationId xmlns:a16="http://schemas.microsoft.com/office/drawing/2014/main" id="{383E5A76-D708-4371-9067-E6B46601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 마스터와 해당 월 문서 품목을 함께 읽어 행을 만듭니다.</a:t>
            </a:r>
          </a:p>
        </p:txBody>
      </p:sp>
      <p:sp>
        <p:nvSpPr>
          <p:cNvPr id="12" name="dot-납품처, 품목명">
            <a:extLst xmlns:a="http://schemas.openxmlformats.org/drawingml/2006/main">
              <a:ext uri="{FF2B5EF4-FFF2-40B4-BE49-F238E27FC236}">
                <a16:creationId xmlns:a16="http://schemas.microsoft.com/office/drawing/2014/main" id="{57D96E13-B950-4D27-9FA7-3F04EB0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납품처, 품목명, 수신처,">
            <a:extLst xmlns:a="http://schemas.openxmlformats.org/drawingml/2006/main">
              <a:ext uri="{FF2B5EF4-FFF2-40B4-BE49-F238E27FC236}">
                <a16:creationId xmlns:a16="http://schemas.microsoft.com/office/drawing/2014/main" id="{86B8F5DF-1BAE-48AC-86EA-D26F8517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납품처, 품목명, 수신처, 단가 등의 키로 행을 묶습니다.</a:t>
            </a:r>
          </a:p>
        </p:txBody>
      </p:sp>
      <p:sp>
        <p:nvSpPr>
          <p:cNvPr id="14" name="dot-일자별 수량과">
            <a:extLst xmlns:a="http://schemas.openxmlformats.org/drawingml/2006/main">
              <a:ext uri="{FF2B5EF4-FFF2-40B4-BE49-F238E27FC236}">
                <a16:creationId xmlns:a16="http://schemas.microsoft.com/office/drawing/2014/main" id="{79CF4549-9216-4BF5-8025-8B8ADAB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5" name="dot-text-일자별 수량과 총수량, 입">
            <a:extLst xmlns:a="http://schemas.openxmlformats.org/drawingml/2006/main">
              <a:ext uri="{FF2B5EF4-FFF2-40B4-BE49-F238E27FC236}">
                <a16:creationId xmlns:a16="http://schemas.microsoft.com/office/drawing/2014/main" id="{F2231142-AE30-46D9-BC57-1BB56BF9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일자별 수량과 총수량, 입고금액, 출고금액을 계산합니다.</a:t>
            </a:r>
          </a:p>
        </p:txBody>
      </p:sp>
      <p:sp>
        <p:nvSpPr>
          <p:cNvPr id="16" name="block-mark-제외/예외 기준">
            <a:extLst xmlns:a="http://schemas.openxmlformats.org/drawingml/2006/main">
              <a:ext uri="{FF2B5EF4-FFF2-40B4-BE49-F238E27FC236}">
                <a16:creationId xmlns:a16="http://schemas.microsoft.com/office/drawing/2014/main" id="{DB13DC2E-4F1C-423B-B1A0-0D68CD6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7" name="block-title-제외/예외 기준">
            <a:extLst xmlns:a="http://schemas.openxmlformats.org/drawingml/2006/main">
              <a:ext uri="{FF2B5EF4-FFF2-40B4-BE49-F238E27FC236}">
                <a16:creationId xmlns:a16="http://schemas.microsoft.com/office/drawing/2014/main" id="{7F80597D-2D83-4533-9E20-8A635DC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147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제외/예외 기준</a:t>
            </a:r>
          </a:p>
        </p:txBody>
      </p:sp>
      <p:sp>
        <p:nvSpPr>
          <p:cNvPr id="18" name="dot-삭제 또는 거래">
            <a:extLst xmlns:a="http://schemas.openxmlformats.org/drawingml/2006/main">
              <a:ext uri="{FF2B5EF4-FFF2-40B4-BE49-F238E27FC236}">
                <a16:creationId xmlns:a16="http://schemas.microsoft.com/office/drawing/2014/main" id="{FF2DC139-3A22-4603-8EF1-793E95BF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19" name="dot-text-삭제 또는 거래취소된 문서">
            <a:extLst xmlns:a="http://schemas.openxmlformats.org/drawingml/2006/main">
              <a:ext uri="{FF2B5EF4-FFF2-40B4-BE49-F238E27FC236}">
                <a16:creationId xmlns:a16="http://schemas.microsoft.com/office/drawing/2014/main" id="{FEE72095-4C03-4179-85E8-A94CA33D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528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삭제 또는 거래취소된 문서/품목은 제외합니다.</a:t>
            </a:r>
          </a:p>
        </p:txBody>
      </p:sp>
      <p:sp>
        <p:nvSpPr>
          <p:cNvPr id="20" name="dot-문서 금액이 있">
            <a:extLst xmlns:a="http://schemas.openxmlformats.org/drawingml/2006/main">
              <a:ext uri="{FF2B5EF4-FFF2-40B4-BE49-F238E27FC236}">
                <a16:creationId xmlns:a16="http://schemas.microsoft.com/office/drawing/2014/main" id="{3F5423D0-FC66-4F13-B29F-72D62402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21" name="dot-text-문서 금액이 있으면 발행">
            <a:extLst xmlns:a="http://schemas.openxmlformats.org/drawingml/2006/main">
              <a:ext uri="{FF2B5EF4-FFF2-40B4-BE49-F238E27FC236}">
                <a16:creationId xmlns:a16="http://schemas.microsoft.com/office/drawing/2014/main" id="{E3F016BF-ECEB-46E3-B494-FD8E1C6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767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 금액이 있으면 발행 당시 금액을 우선 사용합니다.</a:t>
            </a:r>
          </a:p>
        </p:txBody>
      </p:sp>
      <p:sp>
        <p:nvSpPr>
          <p:cNvPr id="22" name="dot-평균 단가는 수">
            <a:extLst xmlns:a="http://schemas.openxmlformats.org/drawingml/2006/main">
              <a:ext uri="{FF2B5EF4-FFF2-40B4-BE49-F238E27FC236}">
                <a16:creationId xmlns:a16="http://schemas.microsoft.com/office/drawing/2014/main" id="{01541231-C7FC-43F4-868D-51413D6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23" name="dot-text-평균 단가는 수량 가중 방">
            <a:extLst xmlns:a="http://schemas.openxmlformats.org/drawingml/2006/main">
              <a:ext uri="{FF2B5EF4-FFF2-40B4-BE49-F238E27FC236}">
                <a16:creationId xmlns:a16="http://schemas.microsoft.com/office/drawing/2014/main" id="{DB675E53-A740-4A3A-B290-D683774A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평균 단가는 수량 가중 방식으로 계산될 수 있습니다.</a:t>
            </a:r>
          </a:p>
        </p:txBody>
      </p:sp>
      <p:sp>
        <p:nvSpPr>
          <p:cNvPr id="24" name="footer-14">
            <a:extLst xmlns:a="http://schemas.openxmlformats.org/drawingml/2006/main">
              <a:ext uri="{FF2B5EF4-FFF2-40B4-BE49-F238E27FC236}">
                <a16:creationId xmlns:a16="http://schemas.microsoft.com/office/drawing/2014/main" id="{9169C4B7-D4E4-4DB9-9CA1-EA8B3401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9331055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num">
            <a:extLst xmlns:a="http://schemas.openxmlformats.org/drawingml/2006/main">
              <a:ext uri="{FF2B5EF4-FFF2-40B4-BE49-F238E27FC236}">
                <a16:creationId xmlns:a16="http://schemas.microsoft.com/office/drawing/2014/main" id="{5A94333A-224E-4321-9D32-6F9EAB57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15</a:t>
            </a:r>
          </a:p>
        </p:txBody>
      </p:sp>
      <p:sp>
        <p:nvSpPr>
          <p:cNvPr id="2" name="slide-15-rule">
            <a:extLst xmlns:a="http://schemas.openxmlformats.org/drawingml/2006/main">
              <a:ext uri="{FF2B5EF4-FFF2-40B4-BE49-F238E27FC236}">
                <a16:creationId xmlns:a16="http://schemas.microsoft.com/office/drawing/2014/main" id="{BF0EC8C4-2E87-4403-A9B3-61E693A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5-section">
            <a:extLst xmlns:a="http://schemas.openxmlformats.org/drawingml/2006/main">
              <a:ext uri="{FF2B5EF4-FFF2-40B4-BE49-F238E27FC236}">
                <a16:creationId xmlns:a16="http://schemas.microsoft.com/office/drawing/2014/main" id="{A832BF86-090E-4076-9290-B6C54B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보도자료</a:t>
            </a:r>
          </a:p>
        </p:txBody>
      </p:sp>
      <p:sp>
        <p:nvSpPr>
          <p:cNvPr id="4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06B334C1-8C59-4DA4-846F-5E442F6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보도자료는 업무 데이터와 분리된 참고 자료 영역입니다.</a:t>
            </a:r>
          </a:p>
        </p:txBody>
      </p:sp>
      <p:sp>
        <p:nvSpPr>
          <p:cNvPr id="5" name="slide-15-subtitle-empty">
            <a:extLst xmlns:a="http://schemas.openxmlformats.org/drawingml/2006/main">
              <a:ext uri="{FF2B5EF4-FFF2-40B4-BE49-F238E27FC236}">
                <a16:creationId xmlns:a16="http://schemas.microsoft.com/office/drawing/2014/main" id="{2C8C4384-9B18-4162-8DCD-D15B025B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10-press-releases.png">
            <a:extLst xmlns:a="http://schemas.openxmlformats.org/drawingml/2006/main">
              <a:ext uri="{FF2B5EF4-FFF2-40B4-BE49-F238E27FC236}">
                <a16:creationId xmlns:a16="http://schemas.microsoft.com/office/drawing/2014/main" id="{89124A20-8CB8-4511-801A-9E244589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9745"/>
            <a:ext cx="96202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9E4"/>
            </a:solidFill>
            <a:prstDash val="solid"/>
          </a:ln>
        </p:spPr>
      </p:sp>
      <p:pic>
        <p:nvPicPr>
          <p:cNvPr id="7" name="image-10-press-release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06cdd5c2c48fb"/>
          <a:stretch xmlns:a="http://schemas.openxmlformats.org/drawingml/2006/main"/>
        </p:blipFill>
        <p:spPr>
          <a:xfrm xmlns:a="http://schemas.openxmlformats.org/drawingml/2006/main">
            <a:off x="934244" y="1845945"/>
            <a:ext cx="9237663" cy="5257800"/>
          </a:xfrm>
          <a:prstGeom xmlns:a="http://schemas.openxmlformats.org/drawingml/2006/main" prst="rect">
            <a:avLst/>
          </a:prstGeom>
        </p:spPr>
      </p:pic>
      <p:sp>
        <p:nvSpPr>
          <p:cNvPr id="8" name="block-mark-사용 목적">
            <a:extLst xmlns:a="http://schemas.openxmlformats.org/drawingml/2006/main">
              <a:ext uri="{FF2B5EF4-FFF2-40B4-BE49-F238E27FC236}">
                <a16:creationId xmlns:a16="http://schemas.microsoft.com/office/drawing/2014/main" id="{742D0435-4336-4F0D-86A8-CB057495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526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9" name="block-title-사용 목적">
            <a:extLst xmlns:a="http://schemas.openxmlformats.org/drawingml/2006/main">
              <a:ext uri="{FF2B5EF4-FFF2-40B4-BE49-F238E27FC236}">
                <a16:creationId xmlns:a16="http://schemas.microsoft.com/office/drawing/2014/main" id="{312BD9CD-E8BD-44A8-BAE0-BB154A01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716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사용 목적</a:t>
            </a:r>
          </a:p>
        </p:txBody>
      </p:sp>
      <p:sp>
        <p:nvSpPr>
          <p:cNvPr id="10" name="dot-수집된 제목,">
            <a:extLst xmlns:a="http://schemas.openxmlformats.org/drawingml/2006/main">
              <a:ext uri="{FF2B5EF4-FFF2-40B4-BE49-F238E27FC236}">
                <a16:creationId xmlns:a16="http://schemas.microsoft.com/office/drawing/2014/main" id="{296DAD4E-8222-4B90-B199-E3786B2A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1" name="dot-text-수집된 제목, 발행일, 요">
            <a:extLst xmlns:a="http://schemas.openxmlformats.org/drawingml/2006/main">
              <a:ext uri="{FF2B5EF4-FFF2-40B4-BE49-F238E27FC236}">
                <a16:creationId xmlns:a16="http://schemas.microsoft.com/office/drawing/2014/main" id="{85D2301A-EA1E-4609-BC64-21D8990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098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수집된 제목, 발행일, 요약, 본문을 확인합니다.</a:t>
            </a:r>
          </a:p>
        </p:txBody>
      </p:sp>
      <p:sp>
        <p:nvSpPr>
          <p:cNvPr id="12" name="dot-영업/운영 참고">
            <a:extLst xmlns:a="http://schemas.openxmlformats.org/drawingml/2006/main">
              <a:ext uri="{FF2B5EF4-FFF2-40B4-BE49-F238E27FC236}">
                <a16:creationId xmlns:a16="http://schemas.microsoft.com/office/drawing/2014/main" id="{55C158FD-CCAB-411A-9CC1-555FECB2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3" name="dot-text-영업/운영 참고 자료로 활">
            <a:extLst xmlns:a="http://schemas.openxmlformats.org/drawingml/2006/main">
              <a:ext uri="{FF2B5EF4-FFF2-40B4-BE49-F238E27FC236}">
                <a16:creationId xmlns:a16="http://schemas.microsoft.com/office/drawing/2014/main" id="{57BA1196-44FE-4D8C-B663-933BEDD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336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영업/운영 참고 자료로 활용합니다.</a:t>
            </a:r>
          </a:p>
        </p:txBody>
      </p:sp>
      <p:sp>
        <p:nvSpPr>
          <p:cNvPr id="14" name="dot-문서, 수주,">
            <a:extLst xmlns:a="http://schemas.openxmlformats.org/drawingml/2006/main">
              <a:ext uri="{FF2B5EF4-FFF2-40B4-BE49-F238E27FC236}">
                <a16:creationId xmlns:a16="http://schemas.microsoft.com/office/drawing/2014/main" id="{0CBD1554-583C-45AF-BCAE-06EBD602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5" name="dot-text-문서, 수주, 월마감 집계">
            <a:extLst xmlns:a="http://schemas.openxmlformats.org/drawingml/2006/main">
              <a:ext uri="{FF2B5EF4-FFF2-40B4-BE49-F238E27FC236}">
                <a16:creationId xmlns:a16="http://schemas.microsoft.com/office/drawing/2014/main" id="{38031263-C367-4C67-A4FE-547828F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문서, 수주, 월마감 집계에는 영향을 주지 않습니다.</a:t>
            </a:r>
          </a:p>
        </p:txBody>
      </p:sp>
      <p:sp>
        <p:nvSpPr>
          <p:cNvPr id="16" name="block-mark-운영 주의">
            <a:extLst xmlns:a="http://schemas.openxmlformats.org/drawingml/2006/main">
              <a:ext uri="{FF2B5EF4-FFF2-40B4-BE49-F238E27FC236}">
                <a16:creationId xmlns:a16="http://schemas.microsoft.com/office/drawing/2014/main" id="{FFADF7D4-CCC2-4BF6-AC83-078F708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block-title-운영 주의">
            <a:extLst xmlns:a="http://schemas.openxmlformats.org/drawingml/2006/main">
              <a:ext uri="{FF2B5EF4-FFF2-40B4-BE49-F238E27FC236}">
                <a16:creationId xmlns:a16="http://schemas.microsoft.com/office/drawing/2014/main" id="{326F2F2A-09E8-4E18-8E80-2DF7D309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1470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운영 주의</a:t>
            </a:r>
          </a:p>
        </p:txBody>
      </p:sp>
      <p:sp>
        <p:nvSpPr>
          <p:cNvPr id="18" name="dot-업무 핵심 데이">
            <a:extLst xmlns:a="http://schemas.openxmlformats.org/drawingml/2006/main">
              <a:ext uri="{FF2B5EF4-FFF2-40B4-BE49-F238E27FC236}">
                <a16:creationId xmlns:a16="http://schemas.microsoft.com/office/drawing/2014/main" id="{8995C1B0-EE23-4059-AF1A-74CEECF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업무 핵심 데이터와 분리해">
            <a:extLst xmlns:a="http://schemas.openxmlformats.org/drawingml/2006/main">
              <a:ext uri="{FF2B5EF4-FFF2-40B4-BE49-F238E27FC236}">
                <a16:creationId xmlns:a16="http://schemas.microsoft.com/office/drawing/2014/main" id="{8FD0509C-1A69-4AE4-A010-08678A5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719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업무 핵심 데이터와 분리해서 관리합니다.</a:t>
            </a:r>
          </a:p>
        </p:txBody>
      </p:sp>
      <p:sp>
        <p:nvSpPr>
          <p:cNvPr id="20" name="dot-목록에 없으면">
            <a:extLst xmlns:a="http://schemas.openxmlformats.org/drawingml/2006/main">
              <a:ext uri="{FF2B5EF4-FFF2-40B4-BE49-F238E27FC236}">
                <a16:creationId xmlns:a16="http://schemas.microsoft.com/office/drawing/2014/main" id="{562FF886-7FD9-4733-BBC7-1BAB43D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95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목록에 없으면 수집 상태나">
            <a:extLst xmlns:a="http://schemas.openxmlformats.org/drawingml/2006/main">
              <a:ext uri="{FF2B5EF4-FFF2-40B4-BE49-F238E27FC236}">
                <a16:creationId xmlns:a16="http://schemas.microsoft.com/office/drawing/2014/main" id="{AF3B84DA-18EB-44E5-A4CA-30C1C43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목록에 없으면 수집 상태나 키워드 설정을 확인합니다.</a:t>
            </a:r>
          </a:p>
        </p:txBody>
      </p:sp>
      <p:sp>
        <p:nvSpPr>
          <p:cNvPr id="22" name="dot-외부 자료이므로">
            <a:extLst xmlns:a="http://schemas.openxmlformats.org/drawingml/2006/main">
              <a:ext uri="{FF2B5EF4-FFF2-40B4-BE49-F238E27FC236}">
                <a16:creationId xmlns:a16="http://schemas.microsoft.com/office/drawing/2014/main" id="{A4885C78-7FD2-466A-8D5F-50E7684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3" name="dot-text-외부 자료이므로 최종 인용">
            <a:extLst xmlns:a="http://schemas.openxmlformats.org/drawingml/2006/main">
              <a:ext uri="{FF2B5EF4-FFF2-40B4-BE49-F238E27FC236}">
                <a16:creationId xmlns:a16="http://schemas.microsoft.com/office/drawing/2014/main" id="{06A547BA-B1B7-49C9-A910-2F4BF00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196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외부 자료이므로 최종 인용 전 원문을 확인합니다.</a:t>
            </a:r>
          </a:p>
        </p:txBody>
      </p:sp>
      <p:sp>
        <p:nvSpPr>
          <p:cNvPr id="24" name="footer-15">
            <a:extLst xmlns:a="http://schemas.openxmlformats.org/drawingml/2006/main">
              <a:ext uri="{FF2B5EF4-FFF2-40B4-BE49-F238E27FC236}">
                <a16:creationId xmlns:a16="http://schemas.microsoft.com/office/drawing/2014/main" id="{3EE9E73F-2618-4A55-9ED1-2F4E5160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2029112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num">
            <a:extLst xmlns:a="http://schemas.openxmlformats.org/drawingml/2006/main">
              <a:ext uri="{FF2B5EF4-FFF2-40B4-BE49-F238E27FC236}">
                <a16:creationId xmlns:a16="http://schemas.microsoft.com/office/drawing/2014/main" id="{8EF3EF73-0082-4584-8BF4-8F4E4564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16</a:t>
            </a:r>
          </a:p>
        </p:txBody>
      </p:sp>
      <p:sp>
        <p:nvSpPr>
          <p:cNvPr id="2" name="slide-16-rule">
            <a:extLst xmlns:a="http://schemas.openxmlformats.org/drawingml/2006/main">
              <a:ext uri="{FF2B5EF4-FFF2-40B4-BE49-F238E27FC236}">
                <a16:creationId xmlns:a16="http://schemas.microsoft.com/office/drawing/2014/main" id="{940D6D6B-0FE0-4C8D-A6EC-7A8274F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6-section">
            <a:extLst xmlns:a="http://schemas.openxmlformats.org/drawingml/2006/main">
              <a:ext uri="{FF2B5EF4-FFF2-40B4-BE49-F238E27FC236}">
                <a16:creationId xmlns:a16="http://schemas.microsoft.com/office/drawing/2014/main" id="{9B39520B-E528-4512-884A-3B5C4D3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자주 발생하는 상황</a:t>
            </a:r>
          </a:p>
        </p:txBody>
      </p:sp>
      <p:sp>
        <p:nvSpPr>
          <p:cNvPr id="4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EDCA313C-1496-4C75-BBFC-2ADA5C12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문제 원인을 찾을 때는 상태값, 삭제값, 날짜 기준을 먼저 봅니다.</a:t>
            </a:r>
          </a:p>
        </p:txBody>
      </p:sp>
      <p:sp>
        <p:nvSpPr>
          <p:cNvPr id="5" name="slide-16-subtitle-empty">
            <a:extLst xmlns:a="http://schemas.openxmlformats.org/drawingml/2006/main">
              <a:ext uri="{FF2B5EF4-FFF2-40B4-BE49-F238E27FC236}">
                <a16:creationId xmlns:a16="http://schemas.microsoft.com/office/drawing/2014/main" id="{215BD0A4-2AD9-4ADF-A77E-CC87360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trouble-table-h-0">
            <a:extLst xmlns:a="http://schemas.openxmlformats.org/drawingml/2006/main">
              <a:ext uri="{FF2B5EF4-FFF2-40B4-BE49-F238E27FC236}">
                <a16:creationId xmlns:a16="http://schemas.microsoft.com/office/drawing/2014/main" id="{5E193223-B9EF-430B-B9D6-5FE7F14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8795"/>
            <a:ext cx="387740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rouble-table-htext-0">
            <a:extLst xmlns:a="http://schemas.openxmlformats.org/drawingml/2006/main">
              <a:ext uri="{FF2B5EF4-FFF2-40B4-BE49-F238E27FC236}">
                <a16:creationId xmlns:a16="http://schemas.microsoft.com/office/drawing/2014/main" id="{96BEB1FF-586D-44D2-B427-DF9CDAAE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증상</a:t>
            </a:r>
          </a:p>
        </p:txBody>
      </p:sp>
      <p:sp>
        <p:nvSpPr>
          <p:cNvPr id="8" name="trouble-table-h-1">
            <a:extLst xmlns:a="http://schemas.openxmlformats.org/drawingml/2006/main">
              <a:ext uri="{FF2B5EF4-FFF2-40B4-BE49-F238E27FC236}">
                <a16:creationId xmlns:a16="http://schemas.microsoft.com/office/drawing/2014/main" id="{05E69BB8-D271-4971-921A-92ABD5E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1788795"/>
            <a:ext cx="560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trouble-table-htext-1">
            <a:extLst xmlns:a="http://schemas.openxmlformats.org/drawingml/2006/main">
              <a:ext uri="{FF2B5EF4-FFF2-40B4-BE49-F238E27FC236}">
                <a16:creationId xmlns:a16="http://schemas.microsoft.com/office/drawing/2014/main" id="{C6724DF9-96CE-44DF-ADC4-B907844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531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가능 원인</a:t>
            </a:r>
          </a:p>
        </p:txBody>
      </p:sp>
      <p:sp>
        <p:nvSpPr>
          <p:cNvPr id="10" name="trouble-table-h-2">
            <a:extLst xmlns:a="http://schemas.openxmlformats.org/drawingml/2006/main">
              <a:ext uri="{FF2B5EF4-FFF2-40B4-BE49-F238E27FC236}">
                <a16:creationId xmlns:a16="http://schemas.microsoft.com/office/drawing/2014/main" id="{AD7B3959-7AEB-43E4-9CAA-7D04F1D1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1788795"/>
            <a:ext cx="732399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trouble-table-htext-2">
            <a:extLst xmlns:a="http://schemas.openxmlformats.org/drawingml/2006/main">
              <a:ext uri="{FF2B5EF4-FFF2-40B4-BE49-F238E27FC236}">
                <a16:creationId xmlns:a16="http://schemas.microsoft.com/office/drawing/2014/main" id="{71C355B7-B9BD-4256-86D7-342C7C3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85950"/>
            <a:ext cx="702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확인 순서</a:t>
            </a:r>
          </a:p>
        </p:txBody>
      </p:sp>
      <p:sp>
        <p:nvSpPr>
          <p:cNvPr id="12" name="trouble-table-cell-0-0">
            <a:extLst xmlns:a="http://schemas.openxmlformats.org/drawingml/2006/main">
              <a:ext uri="{FF2B5EF4-FFF2-40B4-BE49-F238E27FC236}">
                <a16:creationId xmlns:a16="http://schemas.microsoft.com/office/drawing/2014/main" id="{DA84C86E-9F05-469E-A142-EEE91FD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3145"/>
            <a:ext cx="387740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3" name="trouble-table-text-0-0">
            <a:extLst xmlns:a="http://schemas.openxmlformats.org/drawingml/2006/main">
              <a:ext uri="{FF2B5EF4-FFF2-40B4-BE49-F238E27FC236}">
                <a16:creationId xmlns:a16="http://schemas.microsoft.com/office/drawing/2014/main" id="{46C059B2-FB0B-48C0-9DC0-9E012E69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품목 목록이 안 보임</a:t>
            </a:r>
          </a:p>
        </p:txBody>
      </p:sp>
      <p:sp>
        <p:nvSpPr>
          <p:cNvPr id="14" name="trouble-table-cell-0-1">
            <a:extLst xmlns:a="http://schemas.openxmlformats.org/drawingml/2006/main">
              <a:ext uri="{FF2B5EF4-FFF2-40B4-BE49-F238E27FC236}">
                <a16:creationId xmlns:a16="http://schemas.microsoft.com/office/drawing/2014/main" id="{BFDB55CE-FD54-4996-ADCB-1584BCDB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2303145"/>
            <a:ext cx="560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5" name="trouble-table-text-0-1">
            <a:extLst xmlns:a="http://schemas.openxmlformats.org/drawingml/2006/main">
              <a:ext uri="{FF2B5EF4-FFF2-40B4-BE49-F238E27FC236}">
                <a16:creationId xmlns:a16="http://schemas.microsoft.com/office/drawing/2014/main" id="{80BBDF27-D052-4CEF-BBEA-A2DE7CEA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납품처/수신처 조건 불일치 또는 비활성 품목</a:t>
            </a:r>
          </a:p>
        </p:txBody>
      </p:sp>
      <p:sp>
        <p:nvSpPr>
          <p:cNvPr id="16" name="trouble-table-cell-0-2">
            <a:extLst xmlns:a="http://schemas.openxmlformats.org/drawingml/2006/main">
              <a:ext uri="{FF2B5EF4-FFF2-40B4-BE49-F238E27FC236}">
                <a16:creationId xmlns:a16="http://schemas.microsoft.com/office/drawing/2014/main" id="{1804E0A8-5A53-4937-B8A6-BD19B9B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2303145"/>
            <a:ext cx="73239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7" name="trouble-table-text-0-2">
            <a:extLst xmlns:a="http://schemas.openxmlformats.org/drawingml/2006/main">
              <a:ext uri="{FF2B5EF4-FFF2-40B4-BE49-F238E27FC236}">
                <a16:creationId xmlns:a16="http://schemas.microsoft.com/office/drawing/2014/main" id="{707F3E47-CC22-4383-AB29-2DE6CA53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1935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납품처 선택 → 수신처 선택 → 품목 관리 등록 상태 확인</a:t>
            </a:r>
          </a:p>
        </p:txBody>
      </p:sp>
      <p:sp>
        <p:nvSpPr>
          <p:cNvPr id="18" name="trouble-table-cell-1-0">
            <a:extLst xmlns:a="http://schemas.openxmlformats.org/drawingml/2006/main">
              <a:ext uri="{FF2B5EF4-FFF2-40B4-BE49-F238E27FC236}">
                <a16:creationId xmlns:a16="http://schemas.microsoft.com/office/drawing/2014/main" id="{AD7FDA29-A439-4DB4-86CA-E8E14DD5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6095"/>
            <a:ext cx="387740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19" name="trouble-table-text-1-0">
            <a:extLst xmlns:a="http://schemas.openxmlformats.org/drawingml/2006/main">
              <a:ext uri="{FF2B5EF4-FFF2-40B4-BE49-F238E27FC236}">
                <a16:creationId xmlns:a16="http://schemas.microsoft.com/office/drawing/2014/main" id="{C3279401-18AE-407A-9C3F-DCCBF141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월마감 금액이 다름</a:t>
            </a:r>
          </a:p>
        </p:txBody>
      </p:sp>
      <p:sp>
        <p:nvSpPr>
          <p:cNvPr id="20" name="trouble-table-cell-1-1">
            <a:extLst xmlns:a="http://schemas.openxmlformats.org/drawingml/2006/main">
              <a:ext uri="{FF2B5EF4-FFF2-40B4-BE49-F238E27FC236}">
                <a16:creationId xmlns:a16="http://schemas.microsoft.com/office/drawing/2014/main" id="{00967AD0-18DB-4831-B3CD-34F5DE6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3046095"/>
            <a:ext cx="560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1" name="trouble-table-text-1-1">
            <a:extLst xmlns:a="http://schemas.openxmlformats.org/drawingml/2006/main">
              <a:ext uri="{FF2B5EF4-FFF2-40B4-BE49-F238E27FC236}">
                <a16:creationId xmlns:a16="http://schemas.microsoft.com/office/drawing/2014/main" id="{A830FEC3-8909-44E0-A89B-4BD62FE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거래취소 제외, 발행 당시 단가 사용, 날짜 기준 차이</a:t>
            </a:r>
          </a:p>
        </p:txBody>
      </p:sp>
      <p:sp>
        <p:nvSpPr>
          <p:cNvPr id="22" name="trouble-table-cell-1-2">
            <a:extLst xmlns:a="http://schemas.openxmlformats.org/drawingml/2006/main">
              <a:ext uri="{FF2B5EF4-FFF2-40B4-BE49-F238E27FC236}">
                <a16:creationId xmlns:a16="http://schemas.microsoft.com/office/drawing/2014/main" id="{72CBA6A0-03E9-4B73-8157-B6A540D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3046095"/>
            <a:ext cx="73239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3" name="trouble-table-text-1-2">
            <a:extLst xmlns:a="http://schemas.openxmlformats.org/drawingml/2006/main">
              <a:ext uri="{FF2B5EF4-FFF2-40B4-BE49-F238E27FC236}">
                <a16:creationId xmlns:a16="http://schemas.microsoft.com/office/drawing/2014/main" id="{A8B66F3A-8EC6-42AD-80C7-77745C0F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6230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상세 금액 → 품목 상태 → 입고일 우선순위 확인</a:t>
            </a:r>
          </a:p>
        </p:txBody>
      </p:sp>
      <p:sp>
        <p:nvSpPr>
          <p:cNvPr id="24" name="trouble-table-cell-2-0">
            <a:extLst xmlns:a="http://schemas.openxmlformats.org/drawingml/2006/main">
              <a:ext uri="{FF2B5EF4-FFF2-40B4-BE49-F238E27FC236}">
                <a16:creationId xmlns:a16="http://schemas.microsoft.com/office/drawing/2014/main" id="{5B62BFE2-61E9-46FE-9097-94EDA08D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9045"/>
            <a:ext cx="387740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5" name="trouble-table-text-2-0">
            <a:extLst xmlns:a="http://schemas.openxmlformats.org/drawingml/2006/main">
              <a:ext uri="{FF2B5EF4-FFF2-40B4-BE49-F238E27FC236}">
                <a16:creationId xmlns:a16="http://schemas.microsoft.com/office/drawing/2014/main" id="{379AD7B5-6326-4785-AF13-0646B02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수주대장과 발행이력 불일치</a:t>
            </a:r>
          </a:p>
        </p:txBody>
      </p:sp>
      <p:sp>
        <p:nvSpPr>
          <p:cNvPr id="26" name="trouble-table-cell-2-1">
            <a:extLst xmlns:a="http://schemas.openxmlformats.org/drawingml/2006/main">
              <a:ext uri="{FF2B5EF4-FFF2-40B4-BE49-F238E27FC236}">
                <a16:creationId xmlns:a16="http://schemas.microsoft.com/office/drawing/2014/main" id="{A820C0D3-9C54-44DB-9DC2-F1695389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3789045"/>
            <a:ext cx="560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7" name="trouble-table-text-2-1">
            <a:extLst xmlns:a="http://schemas.openxmlformats.org/drawingml/2006/main">
              <a:ext uri="{FF2B5EF4-FFF2-40B4-BE49-F238E27FC236}">
                <a16:creationId xmlns:a16="http://schemas.microsoft.com/office/drawing/2014/main" id="{6006371E-FAFD-44A7-9E82-714564E6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 수정 저장 또는 과거 데이터 연결 누락</a:t>
            </a:r>
          </a:p>
        </p:txBody>
      </p:sp>
      <p:sp>
        <p:nvSpPr>
          <p:cNvPr id="28" name="trouble-table-cell-2-2">
            <a:extLst xmlns:a="http://schemas.openxmlformats.org/drawingml/2006/main">
              <a:ext uri="{FF2B5EF4-FFF2-40B4-BE49-F238E27FC236}">
                <a16:creationId xmlns:a16="http://schemas.microsoft.com/office/drawing/2014/main" id="{F1751D87-1A90-41B8-ADAF-6B5652C7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3789045"/>
            <a:ext cx="73239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29" name="trouble-table-text-2-2">
            <a:extLst xmlns:a="http://schemas.openxmlformats.org/drawingml/2006/main">
              <a:ext uri="{FF2B5EF4-FFF2-40B4-BE49-F238E27FC236}">
                <a16:creationId xmlns:a16="http://schemas.microsoft.com/office/drawing/2014/main" id="{E663944A-FED1-4D1A-84E5-9A03B25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문서번호 → document_item 연결 → 수주 항목 상태 확인</a:t>
            </a:r>
          </a:p>
        </p:txBody>
      </p:sp>
      <p:sp>
        <p:nvSpPr>
          <p:cNvPr id="30" name="trouble-table-cell-3-0">
            <a:extLst xmlns:a="http://schemas.openxmlformats.org/drawingml/2006/main">
              <a:ext uri="{FF2B5EF4-FFF2-40B4-BE49-F238E27FC236}">
                <a16:creationId xmlns:a16="http://schemas.microsoft.com/office/drawing/2014/main" id="{7F76802B-4E69-4154-B922-E5504C7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1995"/>
            <a:ext cx="387740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1" name="trouble-table-text-3-0">
            <a:extLst xmlns:a="http://schemas.openxmlformats.org/drawingml/2006/main">
              <a:ext uri="{FF2B5EF4-FFF2-40B4-BE49-F238E27FC236}">
                <a16:creationId xmlns:a16="http://schemas.microsoft.com/office/drawing/2014/main" id="{D3B37A51-4802-4405-BD39-65538A6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대시보드 지연 건수 이상</a:t>
            </a:r>
          </a:p>
        </p:txBody>
      </p:sp>
      <p:sp>
        <p:nvSpPr>
          <p:cNvPr id="32" name="trouble-table-cell-3-1">
            <a:extLst xmlns:a="http://schemas.openxmlformats.org/drawingml/2006/main">
              <a:ext uri="{FF2B5EF4-FFF2-40B4-BE49-F238E27FC236}">
                <a16:creationId xmlns:a16="http://schemas.microsoft.com/office/drawing/2014/main" id="{5915B84B-38C0-4C4D-9E87-DA38FFD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4531995"/>
            <a:ext cx="560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3" name="trouble-table-text-3-1">
            <a:extLst xmlns:a="http://schemas.openxmlformats.org/drawingml/2006/main">
              <a:ext uri="{FF2B5EF4-FFF2-40B4-BE49-F238E27FC236}">
                <a16:creationId xmlns:a16="http://schemas.microsoft.com/office/drawing/2014/main" id="{D7CC8D78-09D1-4259-BBE7-1CB2A5C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입고일이 과거이고 미출고 상태인 항목 존재</a:t>
            </a:r>
          </a:p>
        </p:txBody>
      </p:sp>
      <p:sp>
        <p:nvSpPr>
          <p:cNvPr id="34" name="trouble-table-cell-3-2">
            <a:extLst xmlns:a="http://schemas.openxmlformats.org/drawingml/2006/main">
              <a:ext uri="{FF2B5EF4-FFF2-40B4-BE49-F238E27FC236}">
                <a16:creationId xmlns:a16="http://schemas.microsoft.com/office/drawing/2014/main" id="{9716F23C-FDC2-4D34-AF01-8B80C253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4531995"/>
            <a:ext cx="73239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5" name="trouble-table-text-3-2">
            <a:extLst xmlns:a="http://schemas.openxmlformats.org/drawingml/2006/main">
              <a:ext uri="{FF2B5EF4-FFF2-40B4-BE49-F238E27FC236}">
                <a16:creationId xmlns:a16="http://schemas.microsoft.com/office/drawing/2014/main" id="{E5819A83-B715-4B62-952F-168947D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수주대장 입고일/출고상태/거래취소 여부 확인</a:t>
            </a:r>
          </a:p>
        </p:txBody>
      </p:sp>
      <p:sp>
        <p:nvSpPr>
          <p:cNvPr id="36" name="trouble-table-cell-4-0">
            <a:extLst xmlns:a="http://schemas.openxmlformats.org/drawingml/2006/main">
              <a:ext uri="{FF2B5EF4-FFF2-40B4-BE49-F238E27FC236}">
                <a16:creationId xmlns:a16="http://schemas.microsoft.com/office/drawing/2014/main" id="{66902BC6-AA31-4F7F-BF39-4EEB9D1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4945"/>
            <a:ext cx="387740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7" name="trouble-table-text-4-0">
            <a:extLst xmlns:a="http://schemas.openxmlformats.org/drawingml/2006/main">
              <a:ext uri="{FF2B5EF4-FFF2-40B4-BE49-F238E27FC236}">
                <a16:creationId xmlns:a16="http://schemas.microsoft.com/office/drawing/2014/main" id="{C0D2F904-FC21-47BF-BAB4-F1404C9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삭제했는데 과거 자료가 보임</a:t>
            </a:r>
          </a:p>
        </p:txBody>
      </p:sp>
      <p:sp>
        <p:nvSpPr>
          <p:cNvPr id="38" name="trouble-table-cell-4-1">
            <a:extLst xmlns:a="http://schemas.openxmlformats.org/drawingml/2006/main">
              <a:ext uri="{FF2B5EF4-FFF2-40B4-BE49-F238E27FC236}">
                <a16:creationId xmlns:a16="http://schemas.microsoft.com/office/drawing/2014/main" id="{8609A856-89E9-4D8B-9FFE-F23052C2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358" y="5274945"/>
            <a:ext cx="560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39" name="trouble-table-text-4-1">
            <a:extLst xmlns:a="http://schemas.openxmlformats.org/drawingml/2006/main">
              <a:ext uri="{FF2B5EF4-FFF2-40B4-BE49-F238E27FC236}">
                <a16:creationId xmlns:a16="http://schemas.microsoft.com/office/drawing/2014/main" id="{637D3255-4A20-4707-956B-62406C19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소프트 삭제와 과거 문서 보존 기준 차이</a:t>
            </a:r>
          </a:p>
        </p:txBody>
      </p:sp>
      <p:sp>
        <p:nvSpPr>
          <p:cNvPr id="40" name="trouble-table-cell-4-2">
            <a:extLst xmlns:a="http://schemas.openxmlformats.org/drawingml/2006/main">
              <a:ext uri="{FF2B5EF4-FFF2-40B4-BE49-F238E27FC236}">
                <a16:creationId xmlns:a16="http://schemas.microsoft.com/office/drawing/2014/main" id="{8836E115-EAEE-41A8-8BFC-1B0C0CBF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58" y="5274945"/>
            <a:ext cx="73239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4"/>
            </a:solidFill>
            <a:prstDash val="solid"/>
          </a:ln>
        </p:spPr>
      </p:sp>
      <p:sp>
        <p:nvSpPr>
          <p:cNvPr id="41" name="trouble-table-text-4-2">
            <a:extLst xmlns:a="http://schemas.openxmlformats.org/drawingml/2006/main">
              <a:ext uri="{FF2B5EF4-FFF2-40B4-BE49-F238E27FC236}">
                <a16:creationId xmlns:a16="http://schemas.microsoft.com/office/drawing/2014/main" id="{4280A4BB-46A9-4C53-ABE6-5EF7F66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9115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3645"/>
                </a:solidFill>
              </a:defRPr>
            </a:pPr>
            <a:r>
              <a:rPr sz="1350" b="0">
                <a:solidFill>
                  <a:srgbClr val="2B3645"/>
                </a:solidFill>
              </a:rPr>
              <a:t>마스터 목록과 발행 문서의 저장 시점 데이터 구분</a:t>
            </a:r>
          </a:p>
        </p:txBody>
      </p:sp>
      <p:sp>
        <p:nvSpPr>
          <p:cNvPr id="42" name="footer-16">
            <a:extLst xmlns:a="http://schemas.openxmlformats.org/drawingml/2006/main">
              <a:ext uri="{FF2B5EF4-FFF2-40B4-BE49-F238E27FC236}">
                <a16:creationId xmlns:a16="http://schemas.microsoft.com/office/drawing/2014/main" id="{90010C4B-3E9F-4DD6-B67A-79B9182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운영 팁: 화면 문제가 아니라 데이터 기준 차이인 경우가 많으므로, 먼저 ST00/ST01과 del_yn을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010905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7-num">
            <a:extLst xmlns:a="http://schemas.openxmlformats.org/drawingml/2006/main">
              <a:ext uri="{FF2B5EF4-FFF2-40B4-BE49-F238E27FC236}">
                <a16:creationId xmlns:a16="http://schemas.microsoft.com/office/drawing/2014/main" id="{58D0DD4F-7538-4137-9E95-3121276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17</a:t>
            </a:r>
          </a:p>
        </p:txBody>
      </p:sp>
      <p:sp>
        <p:nvSpPr>
          <p:cNvPr id="2" name="slide-17-rule">
            <a:extLst xmlns:a="http://schemas.openxmlformats.org/drawingml/2006/main">
              <a:ext uri="{FF2B5EF4-FFF2-40B4-BE49-F238E27FC236}">
                <a16:creationId xmlns:a16="http://schemas.microsoft.com/office/drawing/2014/main" id="{B9E908BE-D37F-4EC2-AA6C-FACE0ED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7-section">
            <a:extLst xmlns:a="http://schemas.openxmlformats.org/drawingml/2006/main">
              <a:ext uri="{FF2B5EF4-FFF2-40B4-BE49-F238E27FC236}">
                <a16:creationId xmlns:a16="http://schemas.microsoft.com/office/drawing/2014/main" id="{15199574-0844-440E-96BB-5610F869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"/>
            <a:ext cx="1501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운영 체크리스트</a:t>
            </a:r>
          </a:p>
        </p:txBody>
      </p:sp>
      <p:sp>
        <p:nvSpPr>
          <p:cNvPr id="4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20029568-837E-4494-90BC-3E5023F2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680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업무 마감 전 확인하면 좋은 기준만 모았습니다.</a:t>
            </a:r>
          </a:p>
        </p:txBody>
      </p:sp>
      <p:sp>
        <p:nvSpPr>
          <p:cNvPr id="5" name="slide-17-subtitle-empty">
            <a:extLst xmlns:a="http://schemas.openxmlformats.org/drawingml/2006/main">
              <a:ext uri="{FF2B5EF4-FFF2-40B4-BE49-F238E27FC236}">
                <a16:creationId xmlns:a16="http://schemas.microsoft.com/office/drawing/2014/main" id="{7D157C33-1C04-49B6-A041-DF103F2E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block-mark-문서 작성 전">
            <a:extLst xmlns:a="http://schemas.openxmlformats.org/drawingml/2006/main">
              <a:ext uri="{FF2B5EF4-FFF2-40B4-BE49-F238E27FC236}">
                <a16:creationId xmlns:a16="http://schemas.microsoft.com/office/drawing/2014/main" id="{CB227CB3-3F29-4359-B739-B5F5F569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7" name="block-title-문서 작성 전">
            <a:extLst xmlns:a="http://schemas.openxmlformats.org/drawingml/2006/main">
              <a:ext uri="{FF2B5EF4-FFF2-40B4-BE49-F238E27FC236}">
                <a16:creationId xmlns:a16="http://schemas.microsoft.com/office/drawing/2014/main" id="{2E19A383-CD49-4C57-827D-E1ED5481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문서 작성 전</a:t>
            </a:r>
          </a:p>
        </p:txBody>
      </p:sp>
      <p:sp>
        <p:nvSpPr>
          <p:cNvPr id="8" name="dot-납품처와 수신처">
            <a:extLst xmlns:a="http://schemas.openxmlformats.org/drawingml/2006/main">
              <a:ext uri="{FF2B5EF4-FFF2-40B4-BE49-F238E27FC236}">
                <a16:creationId xmlns:a16="http://schemas.microsoft.com/office/drawing/2014/main" id="{04162692-9C7D-49D9-8362-CB59828A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dot-text-납품처와 수신처가 맞는지">
            <a:extLst xmlns:a="http://schemas.openxmlformats.org/drawingml/2006/main">
              <a:ext uri="{FF2B5EF4-FFF2-40B4-BE49-F238E27FC236}">
                <a16:creationId xmlns:a16="http://schemas.microsoft.com/office/drawing/2014/main" id="{246F3D0D-7743-45B0-8802-92CB1A09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납품처와 수신처가 맞는지 확인합니다.</a:t>
            </a:r>
          </a:p>
        </p:txBody>
      </p:sp>
      <p:sp>
        <p:nvSpPr>
          <p:cNvPr id="10" name="dot-품목명, 수량,">
            <a:extLst xmlns:a="http://schemas.openxmlformats.org/drawingml/2006/main">
              <a:ext uri="{FF2B5EF4-FFF2-40B4-BE49-F238E27FC236}">
                <a16:creationId xmlns:a16="http://schemas.microsoft.com/office/drawing/2014/main" id="{C8E51CE8-BB7E-40F0-961C-8492A25B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1" name="dot-text-품목명, 수량, 단가, V">
            <a:extLst xmlns:a="http://schemas.openxmlformats.org/drawingml/2006/main">
              <a:ext uri="{FF2B5EF4-FFF2-40B4-BE49-F238E27FC236}">
                <a16:creationId xmlns:a16="http://schemas.microsoft.com/office/drawing/2014/main" id="{C02E24A5-1246-4AE9-AFF0-8BCC79F2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품목명, 수량, 단가, VAT 적용 여부를 확인합니다.</a:t>
            </a:r>
          </a:p>
        </p:txBody>
      </p:sp>
      <p:sp>
        <p:nvSpPr>
          <p:cNvPr id="12" name="dot-입고일이 실제">
            <a:extLst xmlns:a="http://schemas.openxmlformats.org/drawingml/2006/main">
              <a:ext uri="{FF2B5EF4-FFF2-40B4-BE49-F238E27FC236}">
                <a16:creationId xmlns:a16="http://schemas.microsoft.com/office/drawing/2014/main" id="{430D53B8-1C16-4BF4-AD97-554A400E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13" name="dot-text-입고일이 실제 마감 기준과">
            <a:extLst xmlns:a="http://schemas.openxmlformats.org/drawingml/2006/main">
              <a:ext uri="{FF2B5EF4-FFF2-40B4-BE49-F238E27FC236}">
                <a16:creationId xmlns:a16="http://schemas.microsoft.com/office/drawing/2014/main" id="{141E6C53-2B1E-4B95-B929-18CEE1A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입고일이 실제 마감 기준과 맞는지 확인합니다.</a:t>
            </a:r>
          </a:p>
        </p:txBody>
      </p:sp>
      <p:sp>
        <p:nvSpPr>
          <p:cNvPr id="14" name="block-mark-발행 후 수정 전">
            <a:extLst xmlns:a="http://schemas.openxmlformats.org/drawingml/2006/main">
              <a:ext uri="{FF2B5EF4-FFF2-40B4-BE49-F238E27FC236}">
                <a16:creationId xmlns:a16="http://schemas.microsoft.com/office/drawing/2014/main" id="{BD2FBB31-C1B9-4F04-BFB4-1DA5005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5" name="block-title-발행 후 수정 전">
            <a:extLst xmlns:a="http://schemas.openxmlformats.org/drawingml/2006/main">
              <a:ext uri="{FF2B5EF4-FFF2-40B4-BE49-F238E27FC236}">
                <a16:creationId xmlns:a16="http://schemas.microsoft.com/office/drawing/2014/main" id="{F86471AB-DABD-4705-A91D-0A50DC3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발행 후 수정 전</a:t>
            </a:r>
          </a:p>
        </p:txBody>
      </p:sp>
      <p:sp>
        <p:nvSpPr>
          <p:cNvPr id="16" name="dot-이미 출고 또는">
            <a:extLst xmlns:a="http://schemas.openxmlformats.org/drawingml/2006/main">
              <a:ext uri="{FF2B5EF4-FFF2-40B4-BE49-F238E27FC236}">
                <a16:creationId xmlns:a16="http://schemas.microsoft.com/office/drawing/2014/main" id="{37149F6B-DF44-48AE-92D6-6EEAD3D7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7" name="dot-text-이미 출고 또는 마감에 반">
            <a:extLst xmlns:a="http://schemas.openxmlformats.org/drawingml/2006/main">
              <a:ext uri="{FF2B5EF4-FFF2-40B4-BE49-F238E27FC236}">
                <a16:creationId xmlns:a16="http://schemas.microsoft.com/office/drawing/2014/main" id="{37C354EA-CEFE-49A9-9BB3-CFDBA6D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2885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이미 출고 또는 마감에 반영된 문서인지 확인합니다.</a:t>
            </a:r>
          </a:p>
        </p:txBody>
      </p:sp>
      <p:sp>
        <p:nvSpPr>
          <p:cNvPr id="18" name="dot-품목 삭제와 거">
            <a:extLst xmlns:a="http://schemas.openxmlformats.org/drawingml/2006/main">
              <a:ext uri="{FF2B5EF4-FFF2-40B4-BE49-F238E27FC236}">
                <a16:creationId xmlns:a16="http://schemas.microsoft.com/office/drawing/2014/main" id="{E7B7C7E9-CE7E-45DF-927B-67B3EE0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9" name="dot-text-품목 삭제와 거래취소의 차">
            <a:extLst xmlns:a="http://schemas.openxmlformats.org/drawingml/2006/main">
              <a:ext uri="{FF2B5EF4-FFF2-40B4-BE49-F238E27FC236}">
                <a16:creationId xmlns:a16="http://schemas.microsoft.com/office/drawing/2014/main" id="{09ACF4B9-8C57-4DC7-ABEC-87CCB0AC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품목 삭제와 거래취소의 차이를 구분합니다.</a:t>
            </a:r>
          </a:p>
        </p:txBody>
      </p:sp>
      <p:sp>
        <p:nvSpPr>
          <p:cNvPr id="20" name="dot-수정 후 수주대">
            <a:extLst xmlns:a="http://schemas.openxmlformats.org/drawingml/2006/main">
              <a:ext uri="{FF2B5EF4-FFF2-40B4-BE49-F238E27FC236}">
                <a16:creationId xmlns:a16="http://schemas.microsoft.com/office/drawing/2014/main" id="{4714DF41-0DE7-4A2D-AA17-E5EEAC6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9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21" name="dot-text-수정 후 수주대장 항목이">
            <a:extLst xmlns:a="http://schemas.openxmlformats.org/drawingml/2006/main">
              <a:ext uri="{FF2B5EF4-FFF2-40B4-BE49-F238E27FC236}">
                <a16:creationId xmlns:a16="http://schemas.microsoft.com/office/drawing/2014/main" id="{C9BF3648-C21B-4495-A27D-F6F3313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956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수정 후 수주대장 항목이 같이 맞는지 확인합니다.</a:t>
            </a:r>
          </a:p>
        </p:txBody>
      </p:sp>
      <p:sp>
        <p:nvSpPr>
          <p:cNvPr id="22" name="block-mark-마감 전">
            <a:extLst xmlns:a="http://schemas.openxmlformats.org/drawingml/2006/main">
              <a:ext uri="{FF2B5EF4-FFF2-40B4-BE49-F238E27FC236}">
                <a16:creationId xmlns:a16="http://schemas.microsoft.com/office/drawing/2014/main" id="{10D6F69C-BA8F-44AB-8514-93AE74A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23" name="block-title-마감 전">
            <a:extLst xmlns:a="http://schemas.openxmlformats.org/drawingml/2006/main">
              <a:ext uri="{FF2B5EF4-FFF2-40B4-BE49-F238E27FC236}">
                <a16:creationId xmlns:a16="http://schemas.microsoft.com/office/drawing/2014/main" id="{78CFA243-5C04-43C5-9453-36833D77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마감 전</a:t>
            </a:r>
          </a:p>
        </p:txBody>
      </p:sp>
      <p:sp>
        <p:nvSpPr>
          <p:cNvPr id="24" name="dot-ST01 거래취">
            <a:extLst xmlns:a="http://schemas.openxmlformats.org/drawingml/2006/main">
              <a:ext uri="{FF2B5EF4-FFF2-40B4-BE49-F238E27FC236}">
                <a16:creationId xmlns:a16="http://schemas.microsoft.com/office/drawing/2014/main" id="{E033852D-75CE-4B75-8193-CE04841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25" name="dot-text-ST01 거래취소 품목이">
            <a:extLst xmlns:a="http://schemas.openxmlformats.org/drawingml/2006/main">
              <a:ext uri="{FF2B5EF4-FFF2-40B4-BE49-F238E27FC236}">
                <a16:creationId xmlns:a16="http://schemas.microsoft.com/office/drawing/2014/main" id="{C98D0FD4-F961-4699-AA17-BD6ED98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1505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ST01 거래취소 품목이 제외되었는지 확인합니다.</a:t>
            </a:r>
          </a:p>
        </p:txBody>
      </p:sp>
      <p:sp>
        <p:nvSpPr>
          <p:cNvPr id="26" name="dot-월마감 비고가">
            <a:extLst xmlns:a="http://schemas.openxmlformats.org/drawingml/2006/main">
              <a:ext uri="{FF2B5EF4-FFF2-40B4-BE49-F238E27FC236}">
                <a16:creationId xmlns:a16="http://schemas.microsoft.com/office/drawing/2014/main" id="{DC600D20-A0F8-4966-8A60-3D697F21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38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27" name="dot-text-월마감 비고가 저장되었는지">
            <a:extLst xmlns:a="http://schemas.openxmlformats.org/drawingml/2006/main">
              <a:ext uri="{FF2B5EF4-FFF2-40B4-BE49-F238E27FC236}">
                <a16:creationId xmlns:a16="http://schemas.microsoft.com/office/drawing/2014/main" id="{F6DA9978-90CE-45FC-8BF9-8A310BE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389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월마감 비고가 저장되었는지 확인합니다.</a:t>
            </a:r>
          </a:p>
        </p:txBody>
      </p:sp>
      <p:sp>
        <p:nvSpPr>
          <p:cNvPr id="28" name="dot-엑셀 다운로드">
            <a:extLst xmlns:a="http://schemas.openxmlformats.org/drawingml/2006/main">
              <a:ext uri="{FF2B5EF4-FFF2-40B4-BE49-F238E27FC236}">
                <a16:creationId xmlns:a16="http://schemas.microsoft.com/office/drawing/2014/main" id="{2078D12F-9A6F-4524-8461-3160CA5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8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29" name="dot-text-엑셀 다운로드 전 기간과">
            <a:extLst xmlns:a="http://schemas.openxmlformats.org/drawingml/2006/main">
              <a:ext uri="{FF2B5EF4-FFF2-40B4-BE49-F238E27FC236}">
                <a16:creationId xmlns:a16="http://schemas.microsoft.com/office/drawing/2014/main" id="{D51D07D8-7461-4F08-AE8E-C63F3972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818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엑셀 다운로드 전 기간과 납품처 필터를 확인합니다.</a:t>
            </a:r>
          </a:p>
        </p:txBody>
      </p:sp>
      <p:sp>
        <p:nvSpPr>
          <p:cNvPr id="30" name="block-mark-관리자 작업">
            <a:extLst xmlns:a="http://schemas.openxmlformats.org/drawingml/2006/main">
              <a:ext uri="{FF2B5EF4-FFF2-40B4-BE49-F238E27FC236}">
                <a16:creationId xmlns:a16="http://schemas.microsoft.com/office/drawing/2014/main" id="{93ED0C42-852B-4B5C-8906-8503305E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76900"/>
            <a:ext cx="857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1" name="block-title-관리자 작업">
            <a:extLst xmlns:a="http://schemas.openxmlformats.org/drawingml/2006/main">
              <a:ext uri="{FF2B5EF4-FFF2-40B4-BE49-F238E27FC236}">
                <a16:creationId xmlns:a16="http://schemas.microsoft.com/office/drawing/2014/main" id="{B0CFA9F7-4436-42EA-8463-86E5CDC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769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관리자 작업</a:t>
            </a:r>
          </a:p>
        </p:txBody>
      </p:sp>
      <p:sp>
        <p:nvSpPr>
          <p:cNvPr id="32" name="dot-계정 권한 변경">
            <a:extLst xmlns:a="http://schemas.openxmlformats.org/drawingml/2006/main">
              <a:ext uri="{FF2B5EF4-FFF2-40B4-BE49-F238E27FC236}">
                <a16:creationId xmlns:a16="http://schemas.microsoft.com/office/drawing/2014/main" id="{CEB5D71E-68FB-445A-8F5D-D69BE3FD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1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3" name="dot-text-계정 권한 변경 후 사용자">
            <a:extLst xmlns:a="http://schemas.openxmlformats.org/drawingml/2006/main">
              <a:ext uri="{FF2B5EF4-FFF2-40B4-BE49-F238E27FC236}">
                <a16:creationId xmlns:a16="http://schemas.microsoft.com/office/drawing/2014/main" id="{6878BB01-40DD-4F40-A3B5-0453E84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계정 권한 변경 후 사용자에게 재로그인을 안내합니다.</a:t>
            </a:r>
          </a:p>
        </p:txBody>
      </p:sp>
      <p:sp>
        <p:nvSpPr>
          <p:cNvPr id="34" name="dot-단가 변경은 대">
            <a:extLst xmlns:a="http://schemas.openxmlformats.org/drawingml/2006/main">
              <a:ext uri="{FF2B5EF4-FFF2-40B4-BE49-F238E27FC236}">
                <a16:creationId xmlns:a16="http://schemas.microsoft.com/office/drawing/2014/main" id="{390B7DEB-E339-4061-80C1-BDBD1745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5" name="dot-text-단가 변경은 대상 품목을">
            <a:extLst xmlns:a="http://schemas.openxmlformats.org/drawingml/2006/main">
              <a:ext uri="{FF2B5EF4-FFF2-40B4-BE49-F238E27FC236}">
                <a16:creationId xmlns:a16="http://schemas.microsoft.com/office/drawing/2014/main" id="{A9F8A8D5-C65A-433C-A887-8912EEE6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4389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단가 변경은 대상 품목을 미리보기로 확인합니다.</a:t>
            </a:r>
          </a:p>
        </p:txBody>
      </p:sp>
      <p:sp>
        <p:nvSpPr>
          <p:cNvPr id="36" name="dot-마스터 삭제보다">
            <a:extLst xmlns:a="http://schemas.openxmlformats.org/drawingml/2006/main">
              <a:ext uri="{FF2B5EF4-FFF2-40B4-BE49-F238E27FC236}">
                <a16:creationId xmlns:a16="http://schemas.microsoft.com/office/drawing/2014/main" id="{E2E7D762-2C97-49D8-B2A6-B7FD76D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78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A48"/>
          </a:solidFill>
        </p:spPr>
      </p:sp>
      <p:sp>
        <p:nvSpPr>
          <p:cNvPr id="37" name="dot-text-마스터 삭제보다 비활성 또">
            <a:extLst xmlns:a="http://schemas.openxmlformats.org/drawingml/2006/main">
              <a:ext uri="{FF2B5EF4-FFF2-40B4-BE49-F238E27FC236}">
                <a16:creationId xmlns:a16="http://schemas.microsoft.com/office/drawing/2014/main" id="{5DA48968-ACD1-4AC5-8C6D-CFE2E6D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781800"/>
            <a:ext cx="807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B3645"/>
                </a:solidFill>
              </a:defRPr>
            </a:pPr>
            <a:r>
              <a:rPr sz="1575" b="0">
                <a:solidFill>
                  <a:srgbClr val="2B3645"/>
                </a:solidFill>
              </a:rPr>
              <a:t>마스터 삭제보다 비활성 또는 신규 등록을 우선 검토합니다.</a:t>
            </a:r>
          </a:p>
        </p:txBody>
      </p:sp>
      <p:sp>
        <p:nvSpPr>
          <p:cNvPr id="38" name="footer-17">
            <a:extLst xmlns:a="http://schemas.openxmlformats.org/drawingml/2006/main">
              <a:ext uri="{FF2B5EF4-FFF2-40B4-BE49-F238E27FC236}">
                <a16:creationId xmlns:a16="http://schemas.microsoft.com/office/drawing/2014/main" id="{097084C7-97CA-432E-996E-99447534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상세 운영 매뉴얼 기준: project-docs/system-manual.md</a:t>
            </a:r>
          </a:p>
        </p:txBody>
      </p:sp>
    </p:spTree>
    <p:extLst>
      <p:ext uri="{BB962C8B-B14F-4D97-AF65-F5344CB8AC3E}">
        <p14:creationId xmlns:p14="http://schemas.microsoft.com/office/powerpoint/2010/main" val="167278059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8-num">
            <a:extLst xmlns:a="http://schemas.openxmlformats.org/drawingml/2006/main">
              <a:ext uri="{FF2B5EF4-FFF2-40B4-BE49-F238E27FC236}">
                <a16:creationId xmlns:a16="http://schemas.microsoft.com/office/drawing/2014/main" id="{9AEBAD08-4A80-436C-97AB-628BC84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39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A6A6"/>
                </a:solidFill>
              </a:defRPr>
            </a:pPr>
            <a:r>
              <a:rPr sz="1575" b="1">
                <a:solidFill>
                  <a:srgbClr val="24A6A6"/>
                </a:solidFill>
              </a:rPr>
              <a:t>18</a:t>
            </a:r>
          </a:p>
        </p:txBody>
      </p:sp>
      <p:sp>
        <p:nvSpPr>
          <p:cNvPr id="2" name="slide-18-rule">
            <a:extLst xmlns:a="http://schemas.openxmlformats.org/drawingml/2006/main">
              <a:ext uri="{FF2B5EF4-FFF2-40B4-BE49-F238E27FC236}">
                <a16:creationId xmlns:a16="http://schemas.microsoft.com/office/drawing/2014/main" id="{E01E3642-89EE-44FD-A4BB-AF3FFCA5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3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3" name="slide-18-section">
            <a:extLst xmlns:a="http://schemas.openxmlformats.org/drawingml/2006/main">
              <a:ext uri="{FF2B5EF4-FFF2-40B4-BE49-F238E27FC236}">
                <a16:creationId xmlns:a16="http://schemas.microsoft.com/office/drawing/2014/main" id="{39BCE689-C37C-49C9-B243-5F3EF5C7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23900"/>
            <a:ext cx="1470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68A"/>
                </a:solidFill>
              </a:defRPr>
            </a:pPr>
            <a:r>
              <a:rPr sz="1575" b="1">
                <a:solidFill>
                  <a:srgbClr val="66768A"/>
                </a:solidFill>
              </a:rPr>
              <a:t>마무리</a:t>
            </a:r>
          </a:p>
        </p:txBody>
      </p:sp>
      <p:sp>
        <p:nvSpPr>
          <p:cNvPr id="4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767159C9-8397-4D81-8761-70C6D1D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66800"/>
            <a:ext cx="1649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운영 판단의 기준은 “문서 품목 상태”입니다.</a:t>
            </a:r>
          </a:p>
        </p:txBody>
      </p:sp>
      <p:sp>
        <p:nvSpPr>
          <p:cNvPr id="5" name="slide-18-subtitle-empty">
            <a:extLst xmlns:a="http://schemas.openxmlformats.org/drawingml/2006/main">
              <a:ext uri="{FF2B5EF4-FFF2-40B4-BE49-F238E27FC236}">
                <a16:creationId xmlns:a16="http://schemas.microsoft.com/office/drawing/2014/main" id="{306F0E6C-60F7-496B-B876-7EC265A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close-claim-1">
            <a:extLst xmlns:a="http://schemas.openxmlformats.org/drawingml/2006/main">
              <a:ext uri="{FF2B5EF4-FFF2-40B4-BE49-F238E27FC236}">
                <a16:creationId xmlns:a16="http://schemas.microsoft.com/office/drawing/2014/main" id="{C3B72699-9414-4ED0-A380-B9095E0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7239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정상 집계는 ST00 + del_yn=N에서 시작합니다.</a:t>
            </a:r>
          </a:p>
        </p:txBody>
      </p:sp>
      <p:sp>
        <p:nvSpPr>
          <p:cNvPr id="7" name="close-copy">
            <a:extLst xmlns:a="http://schemas.openxmlformats.org/drawingml/2006/main">
              <a:ext uri="{FF2B5EF4-FFF2-40B4-BE49-F238E27FC236}">
                <a16:creationId xmlns:a16="http://schemas.microsoft.com/office/drawing/2014/main" id="{DD973BB6-52E8-4036-8CAD-2777D0F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68A"/>
                </a:solidFill>
              </a:defRPr>
            </a:pPr>
            <a:r>
              <a:rPr sz="2025" b="0">
                <a:solidFill>
                  <a:srgbClr val="66768A"/>
                </a:solidFill>
              </a:rPr>
              <a:t>문서 작성, 발행 이력, 수주대장, 월마감, 일일판매가 모두 같은 데이터를 다른 관점으로 보는 구조입니다.</a:t>
            </a:r>
          </a:p>
        </p:txBody>
      </p:sp>
      <p:sp>
        <p:nvSpPr>
          <p:cNvPr id="8" name="label-문서">
            <a:extLst xmlns:a="http://schemas.openxmlformats.org/drawingml/2006/main">
              <a:ext uri="{FF2B5EF4-FFF2-40B4-BE49-F238E27FC236}">
                <a16:creationId xmlns:a16="http://schemas.microsoft.com/office/drawing/2014/main" id="{B577A373-A825-4B02-8574-B811807A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6445"/>
            <a:ext cx="60960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A8"/>
          </a:solidFill>
        </p:spPr>
      </p:sp>
      <p:sp>
        <p:nvSpPr>
          <p:cNvPr id="9" name="label-text-문서">
            <a:extLst xmlns:a="http://schemas.openxmlformats.org/drawingml/2006/main">
              <a:ext uri="{FF2B5EF4-FFF2-40B4-BE49-F238E27FC236}">
                <a16:creationId xmlns:a16="http://schemas.microsoft.com/office/drawing/2014/main" id="{A6C021BA-11C9-437C-BD4B-5092CCD5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문서</a:t>
            </a:r>
          </a:p>
        </p:txBody>
      </p:sp>
      <p:sp>
        <p:nvSpPr>
          <p:cNvPr id="10" name="label-문서 품목">
            <a:extLst xmlns:a="http://schemas.openxmlformats.org/drawingml/2006/main">
              <a:ext uri="{FF2B5EF4-FFF2-40B4-BE49-F238E27FC236}">
                <a16:creationId xmlns:a16="http://schemas.microsoft.com/office/drawing/2014/main" id="{7F907A27-017E-40BA-AB0E-0320DE6D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5555"/>
            <a:ext cx="970026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F63"/>
          </a:solidFill>
        </p:spPr>
      </p:sp>
      <p:sp>
        <p:nvSpPr>
          <p:cNvPr id="11" name="label-text-문서 품목">
            <a:extLst xmlns:a="http://schemas.openxmlformats.org/drawingml/2006/main">
              <a:ext uri="{FF2B5EF4-FFF2-40B4-BE49-F238E27FC236}">
                <a16:creationId xmlns:a16="http://schemas.microsoft.com/office/drawing/2014/main" id="{EEF73BA2-875D-47C1-A0D5-A4311DC3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98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문서 품목</a:t>
            </a:r>
          </a:p>
        </p:txBody>
      </p:sp>
      <p:sp>
        <p:nvSpPr>
          <p:cNvPr id="12" name="label-수주대장">
            <a:extLst xmlns:a="http://schemas.openxmlformats.org/drawingml/2006/main">
              <a:ext uri="{FF2B5EF4-FFF2-40B4-BE49-F238E27FC236}">
                <a16:creationId xmlns:a16="http://schemas.microsoft.com/office/drawing/2014/main" id="{A013B0D7-4DEB-489F-ABC8-C6E7D9F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34665"/>
            <a:ext cx="93345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B"/>
          </a:solidFill>
        </p:spPr>
      </p:sp>
      <p:sp>
        <p:nvSpPr>
          <p:cNvPr id="13" name="label-text-수주대장">
            <a:extLst xmlns:a="http://schemas.openxmlformats.org/drawingml/2006/main">
              <a:ext uri="{FF2B5EF4-FFF2-40B4-BE49-F238E27FC236}">
                <a16:creationId xmlns:a16="http://schemas.microsoft.com/office/drawing/2014/main" id="{459C9F8A-7DA8-4859-BE9C-2EAF041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수주대장</a:t>
            </a:r>
          </a:p>
        </p:txBody>
      </p:sp>
      <p:sp>
        <p:nvSpPr>
          <p:cNvPr id="14" name="label-정산 집계">
            <a:extLst xmlns:a="http://schemas.openxmlformats.org/drawingml/2006/main">
              <a:ext uri="{FF2B5EF4-FFF2-40B4-BE49-F238E27FC236}">
                <a16:creationId xmlns:a16="http://schemas.microsoft.com/office/drawing/2014/main" id="{D4A796E4-8BA9-4A9C-868D-32289A0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970026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66F"/>
          </a:solidFill>
        </p:spPr>
      </p:sp>
      <p:sp>
        <p:nvSpPr>
          <p:cNvPr id="15" name="label-text-정산 집계">
            <a:extLst xmlns:a="http://schemas.openxmlformats.org/drawingml/2006/main">
              <a:ext uri="{FF2B5EF4-FFF2-40B4-BE49-F238E27FC236}">
                <a16:creationId xmlns:a16="http://schemas.microsoft.com/office/drawing/2014/main" id="{96F40066-33EA-4040-8AD8-9F99E3C4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정산 집계</a:t>
            </a:r>
          </a:p>
        </p:txBody>
      </p:sp>
      <p:sp>
        <p:nvSpPr>
          <p:cNvPr id="16" name="close-rule">
            <a:extLst xmlns:a="http://schemas.openxmlformats.org/drawingml/2006/main">
              <a:ext uri="{FF2B5EF4-FFF2-40B4-BE49-F238E27FC236}">
                <a16:creationId xmlns:a16="http://schemas.microsoft.com/office/drawing/2014/main" id="{FB609A7D-1315-4783-BDDF-116212E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A6"/>
          </a:solidFill>
          <a:ln xmlns:a="http://schemas.openxmlformats.org/drawingml/2006/main" w="0">
            <a:solidFill>
              <a:srgbClr val="24A6A6"/>
            </a:solidFill>
            <a:prstDash val="solid"/>
          </a:ln>
        </p:spPr>
      </p:sp>
      <p:sp>
        <p:nvSpPr>
          <p:cNvPr id="17" name="close-note">
            <a:extLst xmlns:a="http://schemas.openxmlformats.org/drawingml/2006/main">
              <a:ext uri="{FF2B5EF4-FFF2-40B4-BE49-F238E27FC236}">
                <a16:creationId xmlns:a16="http://schemas.microsoft.com/office/drawing/2014/main" id="{FA1A0501-C7AA-480F-9963-BE30E0C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68A"/>
                </a:solidFill>
              </a:defRPr>
            </a:pPr>
            <a:r>
              <a:rPr sz="1650" b="0">
                <a:solidFill>
                  <a:srgbClr val="66768A"/>
                </a:solidFill>
              </a:rPr>
              <a:t>상세 기준은 project-docs/system-manual.md에 계속 누적해 관리합니다.</a:t>
            </a:r>
          </a:p>
        </p:txBody>
      </p:sp>
      <p:sp>
        <p:nvSpPr>
          <p:cNvPr id="18" name="footer-18">
            <a:extLst xmlns:a="http://schemas.openxmlformats.org/drawingml/2006/main">
              <a:ext uri="{FF2B5EF4-FFF2-40B4-BE49-F238E27FC236}">
                <a16:creationId xmlns:a16="http://schemas.microsoft.com/office/drawing/2014/main" id="{48380A42-5805-4D03-BED7-1D9CB38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91650"/>
            <a:ext cx="1649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97A8"/>
                </a:solidFill>
              </a:defRPr>
            </a:pPr>
            <a:r>
              <a:rPr sz="1125" b="0">
                <a:solidFill>
                  <a:srgbClr val="8A97A8"/>
                </a:solidFill>
              </a:rPr>
              <a:t>PPTX: DKH-system-manual-detail.pptx</a:t>
            </a:r>
          </a:p>
        </p:txBody>
      </p:sp>
    </p:spTree>
    <p:extLst>
      <p:ext uri="{BB962C8B-B14F-4D97-AF65-F5344CB8AC3E}">
        <p14:creationId xmlns:p14="http://schemas.microsoft.com/office/powerpoint/2010/main" val="278579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2026-05-14T06:50:03.6500000Z</dcterms:created>
  <dcterms:modified xsi:type="dcterms:W3CDTF">2026-05-14T06:50:03.6500000Z</dcterms:modified>
</coreProperties>
</file>