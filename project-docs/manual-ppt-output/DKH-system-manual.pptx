
<file path=[Content_Types].xml><?xml version="1.0" encoding="utf-8"?>
<Types xmlns="http://schemas.openxmlformats.org/package/2006/content-types">
  <Default Extension="xml" ContentType="application/vnd.openxmlformats-package.core-properties+xml"/>
  <Default Extension="png" ContentType="image/png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theme/theme1.xml" ContentType="application/vnd.openxmlformats-officedocument.theme+xml"/>
  <Override PartName="/ppt/notesMasters/notesMaster1.xml" ContentType="application/vnd.openxmlformats-officedocument.presentationml.notesMaster+xml"/>
  <Override PartName="/ppt/notesMasters/theme/theme2.xml" ContentType="application/vnd.openxmlformats-officedocument.them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ableStyles.xml" ContentType="application/vnd.openxmlformats-officedocument.presentationml.tableStyles+xml"/>
  <Override PartName="/ppt/slideLayouts/slideLayout2.xml" ContentType="application/vnd.openxmlformats-officedocument.presentationml.slideLayout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6.xml" ContentType="application/vnd.openxmlformats-officedocument.presentationml.notesSlide+xml"/>
  <Override PartName="/ppt/slides/slide7.xml" ContentType="application/vnd.openxmlformats-officedocument.presentationml.slide+xml"/>
  <Override PartName="/ppt/notesSlides/notesSlide7.xml" ContentType="application/vnd.openxmlformats-officedocument.presentationml.notesSlide+xml"/>
  <Override PartName="/ppt/slides/slide8.xml" ContentType="application/vnd.openxmlformats-officedocument.presentationml.slide+xml"/>
  <Override PartName="/ppt/notesSlides/notesSlide8.xml" ContentType="application/vnd.openxmlformats-officedocument.presentationml.notesSlide+xml"/>
  <Override PartName="/ppt/slides/slide9.xml" ContentType="application/vnd.openxmlformats-officedocument.presentationml.slide+xml"/>
  <Override PartName="/ppt/notesSlides/notesSlide9.xml" ContentType="application/vnd.openxmlformats-officedocument.presentationml.notesSlide+xml"/>
  <Override PartName="/ppt/slides/slide10.xml" ContentType="application/vnd.openxmlformats-officedocument.presentationml.slide+xml"/>
  <Override PartName="/ppt/notesSlides/notesSlide10.xml" ContentType="application/vnd.openxmlformats-officedocument.presentationml.notesSlide+xml"/>
  <Override PartName="/ppt/slides/slide11.xml" ContentType="application/vnd.openxmlformats-officedocument.presentationml.slide+xml"/>
  <Override PartName="/ppt/notesSlides/notesSlide11.xml" ContentType="application/vnd.openxmlformats-officedocument.presentationml.notesSlide+xml"/>
  <Override PartName="/ppt/slides/slide12.xml" ContentType="application/vnd.openxmlformats-officedocument.presentationml.slide+xml"/>
  <Override PartName="/ppt/notesSlides/notesSlide12.xml" ContentType="application/vnd.openxmlformats-officedocument.presentationml.notesSlide+xml"/>
  <Override PartName="/ppt/slides/slide13.xml" ContentType="application/vnd.openxmlformats-officedocument.presentationml.slide+xml"/>
  <Override PartName="/ppt/notesSlides/notesSlide13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555f7ad97e4f4618" /><Relationship Type="http://schemas.openxmlformats.org/officeDocument/2006/relationships/extended-properties" Target="/docProps/app.xml" Id="Ra2fd1aeac88841da" /><Relationship Type="http://schemas.openxmlformats.org/officeDocument/2006/relationships/officeDocument" Target="/ppt/presentation.xml" Id="R668b0bcf98cb4fc3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6b9f9677235b48cd"/>
  </p:sldMasterIdLst>
  <p:notesMasterIdLst>
    <p:notesMasterId xmlns:r="http://schemas.openxmlformats.org/officeDocument/2006/relationships" r:id="R087daefbb0bd4449"/>
  </p:notesMasterIdLst>
  <p:sldIdLst>
    <p:sldId xmlns:r="http://schemas.openxmlformats.org/officeDocument/2006/relationships" id="256" r:id="R30b7f80fd519444d"/>
    <p:sldId xmlns:r="http://schemas.openxmlformats.org/officeDocument/2006/relationships" id="257" r:id="Rb7e6973140bd4d45"/>
    <p:sldId xmlns:r="http://schemas.openxmlformats.org/officeDocument/2006/relationships" id="258" r:id="R93c79b0122da4893"/>
    <p:sldId xmlns:r="http://schemas.openxmlformats.org/officeDocument/2006/relationships" id="259" r:id="Rdea80596fc1941d1"/>
    <p:sldId xmlns:r="http://schemas.openxmlformats.org/officeDocument/2006/relationships" id="260" r:id="R9fc39f5e339c4900"/>
    <p:sldId xmlns:r="http://schemas.openxmlformats.org/officeDocument/2006/relationships" id="261" r:id="R07896e8bff2d41d7"/>
    <p:sldId xmlns:r="http://schemas.openxmlformats.org/officeDocument/2006/relationships" id="262" r:id="Raa6ecd4e373f4028"/>
    <p:sldId xmlns:r="http://schemas.openxmlformats.org/officeDocument/2006/relationships" id="263" r:id="R493499f063d34b9a"/>
    <p:sldId xmlns:r="http://schemas.openxmlformats.org/officeDocument/2006/relationships" id="264" r:id="R6d38d8dd0bc2497b"/>
    <p:sldId xmlns:r="http://schemas.openxmlformats.org/officeDocument/2006/relationships" id="265" r:id="R8c607838529d48f4"/>
    <p:sldId xmlns:r="http://schemas.openxmlformats.org/officeDocument/2006/relationships" id="266" r:id="Rb7eec17afbf74d9b"/>
    <p:sldId xmlns:r="http://schemas.openxmlformats.org/officeDocument/2006/relationships" id="267" r:id="Refc7c2e29a364172"/>
    <p:sldId xmlns:r="http://schemas.openxmlformats.org/officeDocument/2006/relationships" id="268" r:id="R6a319842fcf24c0f"/>
  </p:sldIdLst>
  <p:sldSz cx="18288000" cy="10287000"/>
  <p:notesSz cx="6858000" cy="9144000"/>
  <p:defaultTextStyle>
    <a:defPPr xmlns:a="http://schemas.openxmlformats.org/drawingml/2006/main">
      <a:defRPr lang="en-US"/>
    </a:defPPr>
    <a:lvl1pPr xmlns:a="http://schemas.openxmlformats.org/drawingml/2006/main" marL="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1pPr>
    <a:lvl2pPr xmlns:a="http://schemas.openxmlformats.org/drawingml/2006/main" marL="4572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2pPr>
    <a:lvl3pPr xmlns:a="http://schemas.openxmlformats.org/drawingml/2006/main" marL="9144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3pPr>
    <a:lvl4pPr xmlns:a="http://schemas.openxmlformats.org/drawingml/2006/main" marL="13716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4pPr>
    <a:lvl5pPr xmlns:a="http://schemas.openxmlformats.org/drawingml/2006/main" marL="18288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5pPr>
    <a:lvl6pPr xmlns:a="http://schemas.openxmlformats.org/drawingml/2006/main" marL="22860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6pPr>
    <a:lvl7pPr xmlns:a="http://schemas.openxmlformats.org/drawingml/2006/main" marL="27432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7pPr>
    <a:lvl8pPr xmlns:a="http://schemas.openxmlformats.org/drawingml/2006/main" marL="32004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8pPr>
    <a:lvl9pPr xmlns:a="http://schemas.openxmlformats.org/drawingml/2006/main" marL="36576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p="http://schemas.openxmlformats.org/presentationml/2006/main">
  <p:normalViewPr>
    <p:restoredLeft sz="15611"/>
    <p:restoredTop sz="94658"/>
  </p:normalViewPr>
  <p:slideViewPr>
    <p:cSldViewPr snapToGrid="0">
      <p:cViewPr varScale="1">
        <p:scale>
          <a:sx xmlns:a="http://schemas.openxmlformats.org/drawingml/2006/main" n="120" d="100"/>
          <a:sy xmlns:a="http://schemas.openxmlformats.org/drawingml/2006/main" n="120" d="100"/>
        </p:scale>
        <p:origin x="800" y="184"/>
      </p:cViewPr>
      <p:guideLst/>
    </p:cSldViewPr>
  </p:slideViewPr>
  <p:notesTextViewPr>
    <p:cViewPr>
      <p:scale>
        <a:sx xmlns:a="http://schemas.openxmlformats.org/drawingml/2006/main" n="1" d="1"/>
        <a:sy xmlns:a="http://schemas.openxmlformats.org/drawingml/2006/main" n="1" d="1"/>
      </p:scale>
      <p:origin x="0" y="0"/>
    </p:cViewPr>
  </p:notesTextViewPr>
  <p:gridSpacing cx="76200" cy="76200"/>
</p:viewPr>
</file>

<file path=ppt/_rels/presentation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6b9f9677235b48cd" /><Relationship Type="http://schemas.openxmlformats.org/officeDocument/2006/relationships/theme" Target="/ppt/theme/theme1.xml" Id="R28d4458463c24d99" /><Relationship Type="http://schemas.openxmlformats.org/officeDocument/2006/relationships/notesMaster" Target="/ppt/notesMasters/notesMaster1.xml" Id="R087daefbb0bd4449" /><Relationship Type="http://schemas.openxmlformats.org/officeDocument/2006/relationships/presProps" Target="/ppt/presProps.xml" Id="Rfcf2dacaa1164243" /><Relationship Type="http://schemas.openxmlformats.org/officeDocument/2006/relationships/viewProps" Target="/ppt/viewProps.xml" Id="R105164efd5924a58" /><Relationship Type="http://schemas.openxmlformats.org/officeDocument/2006/relationships/tableStyles" Target="/ppt/tableStyles.xml" Id="Rfb0ee333b6204276" /><Relationship Type="http://schemas.openxmlformats.org/officeDocument/2006/relationships/slide" Target="/ppt/slides/slide1.xml" Id="R30b7f80fd519444d" /><Relationship Type="http://schemas.openxmlformats.org/officeDocument/2006/relationships/slide" Target="/ppt/slides/slide2.xml" Id="Rb7e6973140bd4d45" /><Relationship Type="http://schemas.openxmlformats.org/officeDocument/2006/relationships/slide" Target="/ppt/slides/slide3.xml" Id="R93c79b0122da4893" /><Relationship Type="http://schemas.openxmlformats.org/officeDocument/2006/relationships/slide" Target="/ppt/slides/slide4.xml" Id="Rdea80596fc1941d1" /><Relationship Type="http://schemas.openxmlformats.org/officeDocument/2006/relationships/slide" Target="/ppt/slides/slide5.xml" Id="R9fc39f5e339c4900" /><Relationship Type="http://schemas.openxmlformats.org/officeDocument/2006/relationships/slide" Target="/ppt/slides/slide6.xml" Id="R07896e8bff2d41d7" /><Relationship Type="http://schemas.openxmlformats.org/officeDocument/2006/relationships/slide" Target="/ppt/slides/slide7.xml" Id="Raa6ecd4e373f4028" /><Relationship Type="http://schemas.openxmlformats.org/officeDocument/2006/relationships/slide" Target="/ppt/slides/slide8.xml" Id="R493499f063d34b9a" /><Relationship Type="http://schemas.openxmlformats.org/officeDocument/2006/relationships/slide" Target="/ppt/slides/slide9.xml" Id="R6d38d8dd0bc2497b" /><Relationship Type="http://schemas.openxmlformats.org/officeDocument/2006/relationships/slide" Target="/ppt/slides/slide10.xml" Id="R8c607838529d48f4" /><Relationship Type="http://schemas.openxmlformats.org/officeDocument/2006/relationships/slide" Target="/ppt/slides/slide11.xml" Id="Rb7eec17afbf74d9b" /><Relationship Type="http://schemas.openxmlformats.org/officeDocument/2006/relationships/slide" Target="/ppt/slides/slide12.xml" Id="Refc7c2e29a364172" /><Relationship Type="http://schemas.openxmlformats.org/officeDocument/2006/relationships/slide" Target="/ppt/slides/slide13.xml" Id="R6a319842fcf24c0f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2.xml" Id="R486d2a3ccb0649f6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solidFill>
          <a:schemeClr val="dk1"/>
        </a:solidFill>
        <a:solidFill>
          <a:schemeClr val="accent1"/>
        </a:soli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a92e2d005b454cc6" /><Relationship Type="http://schemas.openxmlformats.org/officeDocument/2006/relationships/notesMaster" Target="/ppt/notesMasters/notesMaster1.xml" Id="R143af60016d94b5f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fe595ff22cda4b0a" /><Relationship Type="http://schemas.openxmlformats.org/officeDocument/2006/relationships/notesMaster" Target="/ppt/notesMasters/notesMaster1.xml" Id="R0a5205a340814fef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c27546dedd974ef6" /><Relationship Type="http://schemas.openxmlformats.org/officeDocument/2006/relationships/notesMaster" Target="/ppt/notesMasters/notesMaster1.xml" Id="Rddb55c7cab534ba7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3c9e14c5fb284dd7" /><Relationship Type="http://schemas.openxmlformats.org/officeDocument/2006/relationships/notesMaster" Target="/ppt/notesMasters/notesMaster1.xml" Id="Rdfed3a9e59264547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f9e54be3052e4744" /><Relationship Type="http://schemas.openxmlformats.org/officeDocument/2006/relationships/notesMaster" Target="/ppt/notesMasters/notesMaster1.xml" Id="R71f7c420cac74149" /></Relationships>
</file>

<file path=ppt/notesSlides/_rels/notesSlide6.xml.rels>&#65279;<?xml version="1.0" encoding="utf-8"?><Relationships xmlns="http://schemas.openxmlformats.org/package/2006/relationships"><Relationship Type="http://schemas.openxmlformats.org/officeDocument/2006/relationships/slide" Target="/ppt/slides/slide6.xml" Id="Rb8b317b541244cfa" /><Relationship Type="http://schemas.openxmlformats.org/officeDocument/2006/relationships/notesMaster" Target="/ppt/notesMasters/notesMaster1.xml" Id="Rf77d644cbf494b82" /></Relationships>
</file>

<file path=ppt/notesSlides/_rels/notesSlide7.xml.rels>&#65279;<?xml version="1.0" encoding="utf-8"?><Relationships xmlns="http://schemas.openxmlformats.org/package/2006/relationships"><Relationship Type="http://schemas.openxmlformats.org/officeDocument/2006/relationships/slide" Target="/ppt/slides/slide7.xml" Id="R326dadc115cc4f5b" /><Relationship Type="http://schemas.openxmlformats.org/officeDocument/2006/relationships/notesMaster" Target="/ppt/notesMasters/notesMaster1.xml" Id="R6028be548d1c4534" /></Relationships>
</file>

<file path=ppt/notesSlides/_rels/notesSlide8.xml.rels>&#65279;<?xml version="1.0" encoding="utf-8"?><Relationships xmlns="http://schemas.openxmlformats.org/package/2006/relationships"><Relationship Type="http://schemas.openxmlformats.org/officeDocument/2006/relationships/slide" Target="/ppt/slides/slide8.xml" Id="R94f972aae18447dc" /><Relationship Type="http://schemas.openxmlformats.org/officeDocument/2006/relationships/notesMaster" Target="/ppt/notesMasters/notesMaster1.xml" Id="R406e892d4af84f2f" /></Relationships>
</file>

<file path=ppt/notesSlides/_rels/notesSlide9.xml.rels>&#65279;<?xml version="1.0" encoding="utf-8"?><Relationships xmlns="http://schemas.openxmlformats.org/package/2006/relationships"><Relationship Type="http://schemas.openxmlformats.org/officeDocument/2006/relationships/slide" Target="/ppt/slides/slide9.xml" Id="R534fbb21014a4506" /><Relationship Type="http://schemas.openxmlformats.org/officeDocument/2006/relationships/notesMaster" Target="/ppt/notesMasters/notesMaster1.xml" Id="R58b38956ed3b4488" /></Relationships>
</file>

<file path=ppt/notesSlides/_rels/notesSlide10.xml.rels>&#65279;<?xml version="1.0" encoding="utf-8"?><Relationships xmlns="http://schemas.openxmlformats.org/package/2006/relationships"><Relationship Type="http://schemas.openxmlformats.org/officeDocument/2006/relationships/slide" Target="/ppt/slides/slide10.xml" Id="Rc60c8166ab8f4dad" /><Relationship Type="http://schemas.openxmlformats.org/officeDocument/2006/relationships/notesMaster" Target="/ppt/notesMasters/notesMaster1.xml" Id="Rce603b25694a4e88" /></Relationships>
</file>

<file path=ppt/notesSlides/_rels/notesSlide11.xml.rels>&#65279;<?xml version="1.0" encoding="utf-8"?><Relationships xmlns="http://schemas.openxmlformats.org/package/2006/relationships"><Relationship Type="http://schemas.openxmlformats.org/officeDocument/2006/relationships/slide" Target="/ppt/slides/slide11.xml" Id="R304bf4f6a4754eaf" /><Relationship Type="http://schemas.openxmlformats.org/officeDocument/2006/relationships/notesMaster" Target="/ppt/notesMasters/notesMaster1.xml" Id="Rfcd8d0c294da47cc" /></Relationships>
</file>

<file path=ppt/notesSlides/_rels/notesSlide12.xml.rels>&#65279;<?xml version="1.0" encoding="utf-8"?><Relationships xmlns="http://schemas.openxmlformats.org/package/2006/relationships"><Relationship Type="http://schemas.openxmlformats.org/officeDocument/2006/relationships/slide" Target="/ppt/slides/slide12.xml" Id="Rbf73117fc1e34e40" /><Relationship Type="http://schemas.openxmlformats.org/officeDocument/2006/relationships/notesMaster" Target="/ppt/notesMasters/notesMaster1.xml" Id="R43a919910ddf49fb" /></Relationships>
</file>

<file path=ppt/notesSlides/_rels/notesSlide13.xml.rels>&#65279;<?xml version="1.0" encoding="utf-8"?><Relationships xmlns="http://schemas.openxmlformats.org/package/2006/relationships"><Relationship Type="http://schemas.openxmlformats.org/officeDocument/2006/relationships/slide" Target="/ppt/slides/slide13.xml" Id="R81fc62cb4fb0427d" /><Relationship Type="http://schemas.openxmlformats.org/officeDocument/2006/relationships/notesMaster" Target="/ppt/notesMasters/notesMaster1.xml" Id="R1da1c3b07cfa4048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2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78d9f7a745194f9b" /></Relationships>
</file>

<file path=ppt/slideLayouts/slideLayout2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theme/theme1.xml" Id="R63c407f79d1142da" /><Relationship Type="http://schemas.openxmlformats.org/officeDocument/2006/relationships/slideLayout" Target="/ppt/slideLayouts/slideLayout2.xml" Id="R4fa82884c8934283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4fa82884c8934283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a3a702f1985245a4" /><Relationship Type="http://schemas.openxmlformats.org/officeDocument/2006/relationships/image" Target="/ppt/media/image.png" Id="R571592d776d840b0" /><Relationship Type="http://schemas.openxmlformats.org/officeDocument/2006/relationships/notesSlide" Target="/ppt/notesSlides/notesSlide1.xml" Id="Rb4e2b3075fb443cc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3891a11a634e47b9" /><Relationship Type="http://schemas.openxmlformats.org/officeDocument/2006/relationships/notesSlide" Target="/ppt/notesSlides/notesSlide2.xml" Id="R3d687f4bccb04231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384a7c71bfff4e5b" /><Relationship Type="http://schemas.openxmlformats.org/officeDocument/2006/relationships/image" Target="/ppt/media/image2.png" Id="R7daf7ee381354bbd" /><Relationship Type="http://schemas.openxmlformats.org/officeDocument/2006/relationships/notesSlide" Target="/ppt/notesSlides/notesSlide3.xml" Id="R9e020a6de01d42e7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4c535e8908e64435" /><Relationship Type="http://schemas.openxmlformats.org/officeDocument/2006/relationships/image" Target="/ppt/media/image3.png" Id="R2ebc16f83e744663" /><Relationship Type="http://schemas.openxmlformats.org/officeDocument/2006/relationships/notesSlide" Target="/ppt/notesSlides/notesSlide4.xml" Id="Ra076577f8cfa4e6d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0bcc3a667a834f0a" /><Relationship Type="http://schemas.openxmlformats.org/officeDocument/2006/relationships/image" Target="/ppt/media/image4.png" Id="Rd2b5a4688ad8419c" /><Relationship Type="http://schemas.openxmlformats.org/officeDocument/2006/relationships/notesSlide" Target="/ppt/notesSlides/notesSlide5.xml" Id="R7fce86bdb8054db1" /></Relationships>
</file>

<file path=ppt/slides/_rels/slide6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6f2c7c45c14b441e" /><Relationship Type="http://schemas.openxmlformats.org/officeDocument/2006/relationships/image" Target="/ppt/media/image5.png" Id="Rc79b6bfd30184138" /><Relationship Type="http://schemas.openxmlformats.org/officeDocument/2006/relationships/notesSlide" Target="/ppt/notesSlides/notesSlide6.xml" Id="R8671c259c9c84faf" /></Relationships>
</file>

<file path=ppt/slides/_rels/slide7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c9de94c146b14b90" /><Relationship Type="http://schemas.openxmlformats.org/officeDocument/2006/relationships/image" Target="/ppt/media/image6.png" Id="Rd4a8ad15112c4f8f" /><Relationship Type="http://schemas.openxmlformats.org/officeDocument/2006/relationships/notesSlide" Target="/ppt/notesSlides/notesSlide7.xml" Id="R2753f80ecb02467c" /></Relationships>
</file>

<file path=ppt/slides/_rels/slide8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6a49c1f0b3fd4cb4" /><Relationship Type="http://schemas.openxmlformats.org/officeDocument/2006/relationships/image" Target="/ppt/media/image7.png" Id="R9d919aa2cf384112" /><Relationship Type="http://schemas.openxmlformats.org/officeDocument/2006/relationships/notesSlide" Target="/ppt/notesSlides/notesSlide8.xml" Id="Re68917509b0f42de" /></Relationships>
</file>

<file path=ppt/slides/_rels/slide9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e5e1d4654194455e" /><Relationship Type="http://schemas.openxmlformats.org/officeDocument/2006/relationships/image" Target="/ppt/media/image8.png" Id="R54b86fed65b847dd" /><Relationship Type="http://schemas.openxmlformats.org/officeDocument/2006/relationships/notesSlide" Target="/ppt/notesSlides/notesSlide9.xml" Id="R6893ddca83304232" /></Relationships>
</file>

<file path=ppt/slides/_rels/slide10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d87632ebcada4fab" /><Relationship Type="http://schemas.openxmlformats.org/officeDocument/2006/relationships/image" Target="/ppt/media/image9.png" Id="R0484fabe19ea402e" /><Relationship Type="http://schemas.openxmlformats.org/officeDocument/2006/relationships/notesSlide" Target="/ppt/notesSlides/notesSlide10.xml" Id="Rf0d69a0848b84f36" /></Relationships>
</file>

<file path=ppt/slides/_rels/slide11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1d81947b74f64b28" /><Relationship Type="http://schemas.openxmlformats.org/officeDocument/2006/relationships/image" Target="/ppt/media/image10.png" Id="R8228557a3cd04fe6" /><Relationship Type="http://schemas.openxmlformats.org/officeDocument/2006/relationships/notesSlide" Target="/ppt/notesSlides/notesSlide11.xml" Id="R55e7908766284087" /></Relationships>
</file>

<file path=ppt/slides/_rels/slide12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5a70f8a392514067" /><Relationship Type="http://schemas.openxmlformats.org/officeDocument/2006/relationships/image" Target="/ppt/media/image11.png" Id="Re5abea2d578c4bd7" /><Relationship Type="http://schemas.openxmlformats.org/officeDocument/2006/relationships/notesSlide" Target="/ppt/notesSlides/notesSlide12.xml" Id="R08044a19388b4708" /></Relationships>
</file>

<file path=ppt/slides/_rels/slide13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67300307217540ff" /><Relationship Type="http://schemas.openxmlformats.org/officeDocument/2006/relationships/notesSlide" Target="/ppt/notesSlides/notesSlide13.xml" Id="R658166ef3dbd451a" /></Relationships>
</file>

<file path=ppt/slides/slide1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cover-title">
            <a:extLst xmlns:a="http://schemas.openxmlformats.org/drawingml/2006/main">
              <a:ext uri="{FF2B5EF4-FFF2-40B4-BE49-F238E27FC236}">
                <a16:creationId xmlns:a16="http://schemas.microsoft.com/office/drawing/2014/main" id="{7334071C-41A2-4D7E-93AB-37A12DDD56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742950"/>
            <a:ext cx="6934200" cy="8763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5700" b="1">
                <a:solidFill>
                  <a:srgbClr val="1B2430"/>
                </a:solidFill>
              </a:defRPr>
            </a:pPr>
            <a:r>
              <a:rPr sz="5700" b="1">
                <a:solidFill>
                  <a:srgbClr val="1B2430"/>
                </a:solidFill>
              </a:rPr>
              <a:t>DKH 업무관리시스템</a:t>
            </a:r>
          </a:p>
        </p:txBody>
      </p:sp>
      <p:sp>
        <p:nvSpPr>
          <p:cNvPr id="2" name="cover-subtitle">
            <a:extLst xmlns:a="http://schemas.openxmlformats.org/drawingml/2006/main">
              <a:ext uri="{FF2B5EF4-FFF2-40B4-BE49-F238E27FC236}">
                <a16:creationId xmlns:a16="http://schemas.microsoft.com/office/drawing/2014/main" id="{59D93D74-7A3B-464A-981C-D9F9367034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1847850"/>
            <a:ext cx="6934200" cy="4191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2700" b="1">
                <a:solidFill>
                  <a:srgbClr val="1D5D9B"/>
                </a:solidFill>
              </a:defRPr>
            </a:pPr>
            <a:r>
              <a:rPr sz="2700" b="1">
                <a:solidFill>
                  <a:srgbClr val="1D5D9B"/>
                </a:solidFill>
              </a:rPr>
              <a:t>화면 캡쳐 기반 사용자 매뉴얼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E52438F8-5E3A-4253-96A1-4CF616AC96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2476500"/>
            <a:ext cx="2286000" cy="57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FB7A1"/>
          </a:solidFill>
          <a:ln xmlns:a="http://schemas.openxmlformats.org/drawingml/2006/main" w="0">
            <a:solidFill>
              <a:srgbClr val="2FB7A1"/>
            </a:solidFill>
            <a:prstDash val="solid"/>
          </a:ln>
        </p:spPr>
      </p:sp>
      <p:sp>
        <p:nvSpPr>
          <p:cNvPr id="4" name="cover-copyline">
            <a:extLst xmlns:a="http://schemas.openxmlformats.org/drawingml/2006/main">
              <a:ext uri="{FF2B5EF4-FFF2-40B4-BE49-F238E27FC236}">
                <a16:creationId xmlns:a16="http://schemas.microsoft.com/office/drawing/2014/main" id="{0341244F-DF6E-4689-82A4-43D2612962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2762250"/>
            <a:ext cx="5886450" cy="6477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2100" b="0">
                <a:solidFill>
                  <a:srgbClr val="64748B"/>
                </a:solidFill>
              </a:defRPr>
            </a:pPr>
            <a:r>
              <a:rPr sz="2100" b="0">
                <a:solidFill>
                  <a:srgbClr val="64748B"/>
                </a:solidFill>
              </a:rPr>
              <a:t>문서 작성부터 발행 이력, 수주대장, 월마감, 마스터 관리까지 실제 화면 흐름으로 안내합니다.</a:t>
            </a:r>
          </a:p>
        </p:txBody>
      </p:sp>
      <p:sp>
        <p:nvSpPr>
          <p:cNvPr id="5" name="cover-date">
            <a:extLst xmlns:a="http://schemas.openxmlformats.org/drawingml/2006/main">
              <a:ext uri="{FF2B5EF4-FFF2-40B4-BE49-F238E27FC236}">
                <a16:creationId xmlns:a16="http://schemas.microsoft.com/office/drawing/2014/main" id="{DA903EFE-D9D2-45FD-984B-D451F5790D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9296400"/>
            <a:ext cx="6934200" cy="2667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650" b="0">
                <a:solidFill>
                  <a:srgbClr val="64748B"/>
                </a:solidFill>
              </a:defRPr>
            </a:pPr>
            <a:r>
              <a:rPr sz="1650" b="0">
                <a:solidFill>
                  <a:srgbClr val="64748B"/>
                </a:solidFill>
              </a:rPr>
              <a:t>작성일 2026-05-14</a:t>
            </a:r>
          </a:p>
        </p:txBody>
      </p:sp>
      <p:sp>
        <p:nvSpPr>
          <p:cNvPr id="6" name="screen-frame-01-dashboard.png">
            <a:extLst xmlns:a="http://schemas.openxmlformats.org/drawingml/2006/main">
              <a:ext uri="{FF2B5EF4-FFF2-40B4-BE49-F238E27FC236}">
                <a16:creationId xmlns:a16="http://schemas.microsoft.com/office/drawing/2014/main" id="{9A421F26-EB71-41B3-835E-6B385DC7DF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71701" y="742950"/>
            <a:ext cx="8858250" cy="4981575"/>
          </a:xfrm>
          <a:prstGeom xmlns:a="http://schemas.openxmlformats.org/drawingml/2006/main" prst="roundRect">
            <a:avLst>
              <a:gd name="adj" fmla="val 2677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9050">
            <a:solidFill>
              <a:srgbClr val="DDE5EE"/>
            </a:solidFill>
            <a:prstDash val="solid"/>
          </a:ln>
        </p:spPr>
      </p:sp>
      <p:pic>
        <p:nvPicPr>
          <p:cNvPr id="7" name="screenshot-01-dashboard.png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571592d776d840b0"/>
          <a:stretch xmlns:a="http://schemas.openxmlformats.org/drawingml/2006/main"/>
        </p:blipFill>
        <p:spPr>
          <a:xfrm xmlns:a="http://schemas.openxmlformats.org/drawingml/2006/main">
            <a:off x="8402450" y="838200"/>
            <a:ext cx="8596752" cy="4791075"/>
          </a:xfrm>
          <a:prstGeom xmlns:a="http://schemas.openxmlformats.org/drawingml/2006/main"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077691006"/>
      </p:ext>
    </p:extLst>
  </p:cSld>
</p:sld>
</file>

<file path=ppt/slides/slide2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slide-2-num">
            <a:extLst xmlns:a="http://schemas.openxmlformats.org/drawingml/2006/main">
              <a:ext uri="{FF2B5EF4-FFF2-40B4-BE49-F238E27FC236}">
                <a16:creationId xmlns:a16="http://schemas.microsoft.com/office/drawing/2014/main" id="{901BD2DD-B657-4DD8-A7AE-7000FE8D66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609600"/>
            <a:ext cx="457200" cy="2667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650" b="1">
                <a:solidFill>
                  <a:srgbClr val="2FB7A1"/>
                </a:solidFill>
              </a:defRPr>
            </a:pPr>
            <a:r>
              <a:rPr sz="1650" b="1">
                <a:solidFill>
                  <a:srgbClr val="2FB7A1"/>
                </a:solidFill>
              </a:rPr>
              <a:t>02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E147D6E8-720C-4FAE-9D8B-7A89019C0D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47800" y="609600"/>
            <a:ext cx="91440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FB7A1"/>
          </a:solidFill>
          <a:ln xmlns:a="http://schemas.openxmlformats.org/drawingml/2006/main" w="0">
            <a:solidFill>
              <a:srgbClr val="2FB7A1"/>
            </a:solidFill>
            <a:prstDash val="solid"/>
          </a:ln>
        </p:spPr>
      </p:sp>
      <p:sp>
        <p:nvSpPr>
          <p:cNvPr id="3" name="slide-2-section">
            <a:extLst xmlns:a="http://schemas.openxmlformats.org/drawingml/2006/main">
              <a:ext uri="{FF2B5EF4-FFF2-40B4-BE49-F238E27FC236}">
                <a16:creationId xmlns:a16="http://schemas.microsoft.com/office/drawing/2014/main" id="{8A77D6DA-6D37-4C38-A8C4-B3531C8161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33650" y="609600"/>
            <a:ext cx="14935200" cy="2667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650" b="1">
                <a:solidFill>
                  <a:srgbClr val="64748B"/>
                </a:solidFill>
              </a:defRPr>
            </a:pPr>
            <a:r>
              <a:rPr sz="1650" b="1">
                <a:solidFill>
                  <a:srgbClr val="64748B"/>
                </a:solidFill>
              </a:rPr>
              <a:t>전체 구조</a:t>
            </a:r>
          </a:p>
        </p:txBody>
      </p:sp>
      <p:sp>
        <p:nvSpPr>
          <p:cNvPr id="4" name="slide-2-title">
            <a:extLst xmlns:a="http://schemas.openxmlformats.org/drawingml/2006/main">
              <a:ext uri="{FF2B5EF4-FFF2-40B4-BE49-F238E27FC236}">
                <a16:creationId xmlns:a16="http://schemas.microsoft.com/office/drawing/2014/main" id="{EF7BDAD8-8B8A-4FA9-A38B-7BF77EED75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952500"/>
            <a:ext cx="16649700" cy="5715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3750" b="1">
                <a:solidFill>
                  <a:srgbClr val="1B2430"/>
                </a:solidFill>
              </a:defRPr>
            </a:pPr>
            <a:r>
              <a:rPr sz="3750" b="1">
                <a:solidFill>
                  <a:srgbClr val="1B2430"/>
                </a:solidFill>
              </a:rPr>
              <a:t>업무 흐름은 “마스터 → 문서 → 출고 → 정산”으로 이어집니다.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8E18F48A-AD09-4834-82F9-EF31971328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1619250"/>
            <a:ext cx="9525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</p:spPr>
      </p:sp>
      <p:sp>
        <p:nvSpPr>
          <p:cNvPr id="6" name="flow-0">
            <a:extLst xmlns:a="http://schemas.openxmlformats.org/drawingml/2006/main">
              <a:ext uri="{FF2B5EF4-FFF2-40B4-BE49-F238E27FC236}">
                <a16:creationId xmlns:a16="http://schemas.microsoft.com/office/drawing/2014/main" id="{0EECC5E7-017D-4ECD-8DDC-9E11DFE9E6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2013585"/>
            <a:ext cx="3162300" cy="7008495"/>
          </a:xfrm>
          <a:prstGeom xmlns:a="http://schemas.openxmlformats.org/drawingml/2006/main" prst="roundRect">
            <a:avLst>
              <a:gd name="adj" fmla="val 4819"/>
            </a:avLst>
          </a:prstGeom>
          <a:solidFill xmlns:a="http://schemas.openxmlformats.org/drawingml/2006/main">
            <a:srgbClr val="F4F7FA"/>
          </a:solidFill>
          <a:ln xmlns:a="http://schemas.openxmlformats.org/drawingml/2006/main" w="19050">
            <a:solidFill>
              <a:srgbClr val="DDE5EE"/>
            </a:solidFill>
            <a:prstDash val="solid"/>
          </a:ln>
        </p:spPr>
      </p:sp>
      <p:sp>
        <p:nvSpPr>
          <p:cNvPr id="7" name="flow-label-0">
            <a:extLst xmlns:a="http://schemas.openxmlformats.org/drawingml/2006/main">
              <a:ext uri="{FF2B5EF4-FFF2-40B4-BE49-F238E27FC236}">
                <a16:creationId xmlns:a16="http://schemas.microsoft.com/office/drawing/2014/main" id="{58C2D69C-4022-45C8-A01E-BCD49282CD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5143500"/>
            <a:ext cx="2705100" cy="3429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2250" b="1">
                <a:solidFill>
                  <a:srgbClr val="1B2430"/>
                </a:solidFill>
              </a:defRPr>
            </a:pPr>
            <a:r>
              <a:rPr sz="2250" b="1">
                <a:solidFill>
                  <a:srgbClr val="1B2430"/>
                </a:solidFill>
              </a:rPr>
              <a:t>기초정보</a:t>
            </a:r>
          </a:p>
        </p:txBody>
      </p:sp>
      <p:sp>
        <p:nvSpPr>
          <p:cNvPr id="8" name="flow-desc-0">
            <a:extLst xmlns:a="http://schemas.openxmlformats.org/drawingml/2006/main">
              <a:ext uri="{FF2B5EF4-FFF2-40B4-BE49-F238E27FC236}">
                <a16:creationId xmlns:a16="http://schemas.microsoft.com/office/drawing/2014/main" id="{4DF57EC1-9F55-4C74-A973-4C5488B5EF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5657850"/>
            <a:ext cx="2705100" cy="2667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650" b="0">
                <a:solidFill>
                  <a:srgbClr val="64748B"/>
                </a:solidFill>
              </a:defRPr>
            </a:pPr>
            <a:r>
              <a:rPr sz="1650" b="0">
                <a:solidFill>
                  <a:srgbClr val="64748B"/>
                </a:solidFill>
              </a:rPr>
              <a:t>납품처, 공급자, 품목, 계정</a:t>
            </a:r>
          </a:p>
        </p:txBody>
      </p:sp>
      <p:sp>
        <p:nvSpPr>
          <p:cNvPr id="9" name="flow-1">
            <a:extLst xmlns:a="http://schemas.openxmlformats.org/drawingml/2006/main">
              <a:ext uri="{FF2B5EF4-FFF2-40B4-BE49-F238E27FC236}">
                <a16:creationId xmlns:a16="http://schemas.microsoft.com/office/drawing/2014/main" id="{3DD13895-A0C1-4CED-BB94-510FF8538D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1000" y="2013585"/>
            <a:ext cx="3162300" cy="7008495"/>
          </a:xfrm>
          <a:prstGeom xmlns:a="http://schemas.openxmlformats.org/drawingml/2006/main" prst="roundRect">
            <a:avLst>
              <a:gd name="adj" fmla="val 4819"/>
            </a:avLst>
          </a:prstGeom>
          <a:solidFill xmlns:a="http://schemas.openxmlformats.org/drawingml/2006/main">
            <a:srgbClr val="E8F4FF"/>
          </a:solidFill>
          <a:ln xmlns:a="http://schemas.openxmlformats.org/drawingml/2006/main" w="19050">
            <a:solidFill>
              <a:srgbClr val="1D5D9B"/>
            </a:solidFill>
            <a:prstDash val="solid"/>
          </a:ln>
        </p:spPr>
      </p:sp>
      <p:sp>
        <p:nvSpPr>
          <p:cNvPr id="10" name="flow-label-1">
            <a:extLst xmlns:a="http://schemas.openxmlformats.org/drawingml/2006/main">
              <a:ext uri="{FF2B5EF4-FFF2-40B4-BE49-F238E27FC236}">
                <a16:creationId xmlns:a16="http://schemas.microsoft.com/office/drawing/2014/main" id="{CB239446-C7B8-4769-9594-89B1A21476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19600" y="5143500"/>
            <a:ext cx="2705100" cy="3429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2250" b="1">
                <a:solidFill>
                  <a:srgbClr val="113B63"/>
                </a:solidFill>
              </a:defRPr>
            </a:pPr>
            <a:r>
              <a:rPr sz="2250" b="1">
                <a:solidFill>
                  <a:srgbClr val="113B63"/>
                </a:solidFill>
              </a:rPr>
              <a:t>문서작성</a:t>
            </a:r>
          </a:p>
        </p:txBody>
      </p:sp>
      <p:sp>
        <p:nvSpPr>
          <p:cNvPr id="11" name="flow-desc-1">
            <a:extLst xmlns:a="http://schemas.openxmlformats.org/drawingml/2006/main">
              <a:ext uri="{FF2B5EF4-FFF2-40B4-BE49-F238E27FC236}">
                <a16:creationId xmlns:a16="http://schemas.microsoft.com/office/drawing/2014/main" id="{D3C26156-F297-409F-A238-692D5A04D5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19600" y="5657850"/>
            <a:ext cx="2705100" cy="2667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650" b="0">
                <a:solidFill>
                  <a:srgbClr val="64748B"/>
                </a:solidFill>
              </a:defRPr>
            </a:pPr>
            <a:r>
              <a:rPr sz="1650" b="0">
                <a:solidFill>
                  <a:srgbClr val="64748B"/>
                </a:solidFill>
              </a:rPr>
              <a:t>출고의뢰서, 거래명세서 입력</a:t>
            </a:r>
          </a:p>
        </p:txBody>
      </p:sp>
      <p:sp>
        <p:nvSpPr>
          <p:cNvPr id="12" name="flow-2">
            <a:extLst xmlns:a="http://schemas.openxmlformats.org/drawingml/2006/main">
              <a:ext uri="{FF2B5EF4-FFF2-40B4-BE49-F238E27FC236}">
                <a16:creationId xmlns:a16="http://schemas.microsoft.com/office/drawing/2014/main" id="{CCD9FAEA-E312-4BAB-A5CE-3A6C903C2E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62850" y="2013585"/>
            <a:ext cx="3162300" cy="7008495"/>
          </a:xfrm>
          <a:prstGeom xmlns:a="http://schemas.openxmlformats.org/drawingml/2006/main" prst="roundRect">
            <a:avLst>
              <a:gd name="adj" fmla="val 4819"/>
            </a:avLst>
          </a:prstGeom>
          <a:solidFill xmlns:a="http://schemas.openxmlformats.org/drawingml/2006/main">
            <a:srgbClr val="F4F7FA"/>
          </a:solidFill>
          <a:ln xmlns:a="http://schemas.openxmlformats.org/drawingml/2006/main" w="19050">
            <a:solidFill>
              <a:srgbClr val="DDE5EE"/>
            </a:solidFill>
            <a:prstDash val="solid"/>
          </a:ln>
        </p:spPr>
      </p:sp>
      <p:sp>
        <p:nvSpPr>
          <p:cNvPr id="13" name="flow-label-2">
            <a:extLst xmlns:a="http://schemas.openxmlformats.org/drawingml/2006/main">
              <a:ext uri="{FF2B5EF4-FFF2-40B4-BE49-F238E27FC236}">
                <a16:creationId xmlns:a16="http://schemas.microsoft.com/office/drawing/2014/main" id="{7BF05263-636B-4936-913A-F20BA1A59A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91450" y="5143500"/>
            <a:ext cx="2705100" cy="3429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2250" b="1">
                <a:solidFill>
                  <a:srgbClr val="1B2430"/>
                </a:solidFill>
              </a:defRPr>
            </a:pPr>
            <a:r>
              <a:rPr sz="2250" b="1">
                <a:solidFill>
                  <a:srgbClr val="1B2430"/>
                </a:solidFill>
              </a:rPr>
              <a:t>발행관리</a:t>
            </a:r>
          </a:p>
        </p:txBody>
      </p:sp>
      <p:sp>
        <p:nvSpPr>
          <p:cNvPr id="14" name="flow-desc-2">
            <a:extLst xmlns:a="http://schemas.openxmlformats.org/drawingml/2006/main">
              <a:ext uri="{FF2B5EF4-FFF2-40B4-BE49-F238E27FC236}">
                <a16:creationId xmlns:a16="http://schemas.microsoft.com/office/drawing/2014/main" id="{B6BE8188-0A86-47B1-8FE7-EDBDD497B0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91450" y="5657850"/>
            <a:ext cx="2705100" cy="2667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650" b="0">
                <a:solidFill>
                  <a:srgbClr val="64748B"/>
                </a:solidFill>
              </a:defRPr>
            </a:pPr>
            <a:r>
              <a:rPr sz="1650" b="0">
                <a:solidFill>
                  <a:srgbClr val="64748B"/>
                </a:solidFill>
              </a:rPr>
              <a:t>수정, 거래취소, 엑셀 출력</a:t>
            </a:r>
          </a:p>
        </p:txBody>
      </p:sp>
      <p:sp>
        <p:nvSpPr>
          <p:cNvPr id="15" name="flow-3">
            <a:extLst xmlns:a="http://schemas.openxmlformats.org/drawingml/2006/main">
              <a:ext uri="{FF2B5EF4-FFF2-40B4-BE49-F238E27FC236}">
                <a16:creationId xmlns:a16="http://schemas.microsoft.com/office/drawing/2014/main" id="{990F029F-34DB-4B20-8977-A0EC6CA85F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34700" y="2013585"/>
            <a:ext cx="3162300" cy="7008495"/>
          </a:xfrm>
          <a:prstGeom xmlns:a="http://schemas.openxmlformats.org/drawingml/2006/main" prst="roundRect">
            <a:avLst>
              <a:gd name="adj" fmla="val 4819"/>
            </a:avLst>
          </a:prstGeom>
          <a:solidFill xmlns:a="http://schemas.openxmlformats.org/drawingml/2006/main">
            <a:srgbClr val="F4F7FA"/>
          </a:solidFill>
          <a:ln xmlns:a="http://schemas.openxmlformats.org/drawingml/2006/main" w="19050">
            <a:solidFill>
              <a:srgbClr val="DDE5EE"/>
            </a:solidFill>
            <a:prstDash val="solid"/>
          </a:ln>
        </p:spPr>
      </p:sp>
      <p:sp>
        <p:nvSpPr>
          <p:cNvPr id="16" name="flow-label-3">
            <a:extLst xmlns:a="http://schemas.openxmlformats.org/drawingml/2006/main">
              <a:ext uri="{FF2B5EF4-FFF2-40B4-BE49-F238E27FC236}">
                <a16:creationId xmlns:a16="http://schemas.microsoft.com/office/drawing/2014/main" id="{47B67563-AC92-490A-9966-537A9CCE53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63300" y="5143500"/>
            <a:ext cx="2705100" cy="3429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2250" b="1">
                <a:solidFill>
                  <a:srgbClr val="1B2430"/>
                </a:solidFill>
              </a:defRPr>
            </a:pPr>
            <a:r>
              <a:rPr sz="2250" b="1">
                <a:solidFill>
                  <a:srgbClr val="1B2430"/>
                </a:solidFill>
              </a:rPr>
              <a:t>출고관리</a:t>
            </a:r>
          </a:p>
        </p:txBody>
      </p:sp>
      <p:sp>
        <p:nvSpPr>
          <p:cNvPr id="17" name="flow-desc-3">
            <a:extLst xmlns:a="http://schemas.openxmlformats.org/drawingml/2006/main">
              <a:ext uri="{FF2B5EF4-FFF2-40B4-BE49-F238E27FC236}">
                <a16:creationId xmlns:a16="http://schemas.microsoft.com/office/drawing/2014/main" id="{554FEDE0-65B6-43D0-9F8F-5A552E0AE4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63300" y="5657850"/>
            <a:ext cx="2705100" cy="2667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650" b="0">
                <a:solidFill>
                  <a:srgbClr val="64748B"/>
                </a:solidFill>
              </a:defRPr>
            </a:pPr>
            <a:r>
              <a:rPr sz="1650" b="0">
                <a:solidFill>
                  <a:srgbClr val="64748B"/>
                </a:solidFill>
              </a:rPr>
              <a:t>수주대장 미출고/출고 상태</a:t>
            </a:r>
          </a:p>
        </p:txBody>
      </p:sp>
      <p:sp>
        <p:nvSpPr>
          <p:cNvPr id="18" name="flow-4">
            <a:extLst xmlns:a="http://schemas.openxmlformats.org/drawingml/2006/main">
              <a:ext uri="{FF2B5EF4-FFF2-40B4-BE49-F238E27FC236}">
                <a16:creationId xmlns:a16="http://schemas.microsoft.com/office/drawing/2014/main" id="{3F873354-63B0-4941-9D3D-200CA79EFC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306550" y="2013585"/>
            <a:ext cx="3162300" cy="7008495"/>
          </a:xfrm>
          <a:prstGeom xmlns:a="http://schemas.openxmlformats.org/drawingml/2006/main" prst="roundRect">
            <a:avLst>
              <a:gd name="adj" fmla="val 4819"/>
            </a:avLst>
          </a:prstGeom>
          <a:solidFill xmlns:a="http://schemas.openxmlformats.org/drawingml/2006/main">
            <a:srgbClr val="F4F7FA"/>
          </a:solidFill>
          <a:ln xmlns:a="http://schemas.openxmlformats.org/drawingml/2006/main" w="19050">
            <a:solidFill>
              <a:srgbClr val="DDE5EE"/>
            </a:solidFill>
            <a:prstDash val="solid"/>
          </a:ln>
        </p:spPr>
      </p:sp>
      <p:sp>
        <p:nvSpPr>
          <p:cNvPr id="19" name="flow-label-4">
            <a:extLst xmlns:a="http://schemas.openxmlformats.org/drawingml/2006/main">
              <a:ext uri="{FF2B5EF4-FFF2-40B4-BE49-F238E27FC236}">
                <a16:creationId xmlns:a16="http://schemas.microsoft.com/office/drawing/2014/main" id="{486BD0C0-508F-4609-8B76-64B2AB6FE0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535150" y="5143500"/>
            <a:ext cx="2705100" cy="3429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2250" b="1">
                <a:solidFill>
                  <a:srgbClr val="1B2430"/>
                </a:solidFill>
              </a:defRPr>
            </a:pPr>
            <a:r>
              <a:rPr sz="2250" b="1">
                <a:solidFill>
                  <a:srgbClr val="1B2430"/>
                </a:solidFill>
              </a:rPr>
              <a:t>정산</a:t>
            </a:r>
          </a:p>
        </p:txBody>
      </p:sp>
      <p:sp>
        <p:nvSpPr>
          <p:cNvPr id="20" name="flow-desc-4">
            <a:extLst xmlns:a="http://schemas.openxmlformats.org/drawingml/2006/main">
              <a:ext uri="{FF2B5EF4-FFF2-40B4-BE49-F238E27FC236}">
                <a16:creationId xmlns:a16="http://schemas.microsoft.com/office/drawing/2014/main" id="{FDA9FDA2-F667-4B5C-BF6E-0DBBB14535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535150" y="5657850"/>
            <a:ext cx="2705100" cy="2667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650" b="0">
                <a:solidFill>
                  <a:srgbClr val="64748B"/>
                </a:solidFill>
              </a:defRPr>
            </a:pPr>
            <a:r>
              <a:rPr sz="1650" b="0">
                <a:solidFill>
                  <a:srgbClr val="64748B"/>
                </a:solidFill>
              </a:rPr>
              <a:t>월마감, 종합장, 일일판매</a:t>
            </a:r>
          </a:p>
        </p:txBody>
      </p:sp>
      <p:sp>
        <p:nvSpPr>
          <p:cNvPr id="21" name="overview-note">
            <a:extLst xmlns:a="http://schemas.openxmlformats.org/drawingml/2006/main">
              <a:ext uri="{FF2B5EF4-FFF2-40B4-BE49-F238E27FC236}">
                <a16:creationId xmlns:a16="http://schemas.microsoft.com/office/drawing/2014/main" id="{003500A2-6E85-4B66-B981-7ECE50CF02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9410700"/>
            <a:ext cx="16649700" cy="2857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800" b="0">
                <a:solidFill>
                  <a:srgbClr val="64748B"/>
                </a:solidFill>
              </a:defRPr>
            </a:pPr>
            <a:r>
              <a:rPr sz="1800" b="0">
                <a:solidFill>
                  <a:srgbClr val="64748B"/>
                </a:solidFill>
              </a:rPr>
              <a:t>권한 기준: 일반 사용자는 핵심 업무 메뉴를 사용하고, 관리자는 일일판매와 계정 관리까지 접근합니다.</a:t>
            </a:r>
          </a:p>
        </p:txBody>
      </p:sp>
    </p:spTree>
    <p:extLst>
      <p:ext uri="{BB962C8B-B14F-4D97-AF65-F5344CB8AC3E}">
        <p14:creationId xmlns:p14="http://schemas.microsoft.com/office/powerpoint/2010/main" val="1153701064"/>
      </p:ext>
    </p:extLst>
  </p:cSld>
</p:sld>
</file>

<file path=ppt/slides/slide3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slide-3-num">
            <a:extLst xmlns:a="http://schemas.openxmlformats.org/drawingml/2006/main">
              <a:ext uri="{FF2B5EF4-FFF2-40B4-BE49-F238E27FC236}">
                <a16:creationId xmlns:a16="http://schemas.microsoft.com/office/drawing/2014/main" id="{DA5AD0BA-01D3-4BCE-B6E9-1E26D53668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495300"/>
            <a:ext cx="457200" cy="2667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650" b="1">
                <a:solidFill>
                  <a:srgbClr val="2FB7A1"/>
                </a:solidFill>
              </a:defRPr>
            </a:pPr>
            <a:r>
              <a:rPr sz="1650" b="1">
                <a:solidFill>
                  <a:srgbClr val="2FB7A1"/>
                </a:solidFill>
              </a:rPr>
              <a:t>03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2B2F529C-A37A-478B-B979-F5ECB6B0BD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95400" y="495300"/>
            <a:ext cx="91440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FB7A1"/>
          </a:solidFill>
          <a:ln xmlns:a="http://schemas.openxmlformats.org/drawingml/2006/main" w="0">
            <a:solidFill>
              <a:srgbClr val="2FB7A1"/>
            </a:solidFill>
            <a:prstDash val="solid"/>
          </a:ln>
        </p:spPr>
      </p:sp>
      <p:sp>
        <p:nvSpPr>
          <p:cNvPr id="3" name="slide-3-section">
            <a:extLst xmlns:a="http://schemas.openxmlformats.org/drawingml/2006/main">
              <a:ext uri="{FF2B5EF4-FFF2-40B4-BE49-F238E27FC236}">
                <a16:creationId xmlns:a16="http://schemas.microsoft.com/office/drawing/2014/main" id="{C670A1DE-5BA5-4E7A-A95A-5DD4697363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81250" y="495300"/>
            <a:ext cx="15240000" cy="2667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650" b="1">
                <a:solidFill>
                  <a:srgbClr val="64748B"/>
                </a:solidFill>
              </a:defRPr>
            </a:pPr>
            <a:r>
              <a:rPr sz="1650" b="1">
                <a:solidFill>
                  <a:srgbClr val="64748B"/>
                </a:solidFill>
              </a:rPr>
              <a:t>메인</a:t>
            </a:r>
          </a:p>
        </p:txBody>
      </p:sp>
      <p:sp>
        <p:nvSpPr>
          <p:cNvPr id="4" name="slide-3-title">
            <a:extLst xmlns:a="http://schemas.openxmlformats.org/drawingml/2006/main">
              <a:ext uri="{FF2B5EF4-FFF2-40B4-BE49-F238E27FC236}">
                <a16:creationId xmlns:a16="http://schemas.microsoft.com/office/drawing/2014/main" id="{78109805-3BBA-4F91-83C2-9D28883640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838200"/>
            <a:ext cx="16954500" cy="5715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3750" b="1">
                <a:solidFill>
                  <a:srgbClr val="1B2430"/>
                </a:solidFill>
              </a:defRPr>
            </a:pPr>
            <a:r>
              <a:rPr sz="3750" b="1">
                <a:solidFill>
                  <a:srgbClr val="1B2430"/>
                </a:solidFill>
              </a:rPr>
              <a:t>대시보드에서 오늘 처리할 일을 먼저 확인합니다.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C80B5AED-570D-489D-9AC1-18122C1C05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1504950"/>
            <a:ext cx="9525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</p:spPr>
      </p:sp>
      <p:sp>
        <p:nvSpPr>
          <p:cNvPr id="6" name="screen-frame-01-dashboard.png">
            <a:extLst xmlns:a="http://schemas.openxmlformats.org/drawingml/2006/main">
              <a:ext uri="{FF2B5EF4-FFF2-40B4-BE49-F238E27FC236}">
                <a16:creationId xmlns:a16="http://schemas.microsoft.com/office/drawing/2014/main" id="{B7EFD054-5B8B-4E74-8D39-E6E062D0F4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1765935"/>
            <a:ext cx="11239500" cy="6324600"/>
          </a:xfrm>
          <a:prstGeom xmlns:a="http://schemas.openxmlformats.org/drawingml/2006/main" prst="roundRect">
            <a:avLst>
              <a:gd name="adj" fmla="val 2108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9050">
            <a:solidFill>
              <a:srgbClr val="DDE5EE"/>
            </a:solidFill>
            <a:prstDash val="solid"/>
          </a:ln>
        </p:spPr>
      </p:sp>
      <p:pic>
        <p:nvPicPr>
          <p:cNvPr id="7" name="screenshot-01-dashboard.png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7daf7ee381354bbd"/>
          <a:stretch xmlns:a="http://schemas.openxmlformats.org/drawingml/2006/main"/>
        </p:blipFill>
        <p:spPr>
          <a:xfrm xmlns:a="http://schemas.openxmlformats.org/drawingml/2006/main">
            <a:off x="783212" y="1861185"/>
            <a:ext cx="11006577" cy="6134100"/>
          </a:xfrm>
          <a:prstGeom xmlns:a="http://schemas.openxmlformats.org/drawingml/2006/main" prst="rect">
            <a:avLst/>
          </a:prstGeom>
        </p:spPr>
      </p:pic>
      <p:sp>
        <p:nvSpPr>
          <p:cNvPr id="8" name="dot-오늘의 할 일과">
            <a:extLst xmlns:a="http://schemas.openxmlformats.org/drawingml/2006/main">
              <a:ext uri="{FF2B5EF4-FFF2-40B4-BE49-F238E27FC236}">
                <a16:creationId xmlns:a16="http://schemas.microsoft.com/office/drawing/2014/main" id="{876C94AE-6BDF-43D6-B273-7AFD20F1D9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249150" y="1771650"/>
            <a:ext cx="76200" cy="7620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2FB7A1"/>
          </a:solidFill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65DF12DA-71D6-41DC-A743-19CBCBD994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439650" y="1771650"/>
            <a:ext cx="5181600" cy="2857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800" b="0">
                <a:solidFill>
                  <a:srgbClr val="1B2430"/>
                </a:solidFill>
              </a:defRPr>
            </a:pPr>
            <a:r>
              <a:rPr sz="1800" b="0">
                <a:solidFill>
                  <a:srgbClr val="1B2430"/>
                </a:solidFill>
              </a:rPr>
              <a:t>오늘의 할 일과 지연 건수를 바로 확인합니다.</a:t>
            </a:r>
          </a:p>
        </p:txBody>
      </p:sp>
      <p:sp>
        <p:nvSpPr>
          <p:cNvPr id="10" name="dot-입고예정건수는">
            <a:extLst xmlns:a="http://schemas.openxmlformats.org/drawingml/2006/main">
              <a:ext uri="{FF2B5EF4-FFF2-40B4-BE49-F238E27FC236}">
                <a16:creationId xmlns:a16="http://schemas.microsoft.com/office/drawing/2014/main" id="{58DD7275-94AB-49D9-8380-DA6C2612FE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249150" y="2247900"/>
            <a:ext cx="76200" cy="7620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2FB7A1"/>
          </a:solidFill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59A48964-1836-41CA-8CE3-232F56CD50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439650" y="2247900"/>
            <a:ext cx="5181600" cy="5524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800" b="0">
                <a:solidFill>
                  <a:srgbClr val="1B2430"/>
                </a:solidFill>
              </a:defRPr>
            </a:pPr>
            <a:r>
              <a:rPr sz="1800" b="0">
                <a:solidFill>
                  <a:srgbClr val="1B2430"/>
                </a:solidFill>
              </a:rPr>
              <a:t>입고예정건수는 주간 단위로 이동하며 볼 수 있습니다.</a:t>
            </a:r>
          </a:p>
        </p:txBody>
      </p:sp>
      <p:sp>
        <p:nvSpPr>
          <p:cNvPr id="12" name="dot-최근 등록 문서">
            <a:extLst xmlns:a="http://schemas.openxmlformats.org/drawingml/2006/main">
              <a:ext uri="{FF2B5EF4-FFF2-40B4-BE49-F238E27FC236}">
                <a16:creationId xmlns:a16="http://schemas.microsoft.com/office/drawing/2014/main" id="{3DE4C108-51C7-42EB-A165-0A4358F443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249150" y="3009900"/>
            <a:ext cx="76200" cy="7620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2FB7A1"/>
          </a:solidFill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E2AC3D48-7102-4637-A986-0A18428912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439650" y="3009900"/>
            <a:ext cx="5181600" cy="5524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800" b="0">
                <a:solidFill>
                  <a:srgbClr val="1B2430"/>
                </a:solidFill>
              </a:defRPr>
            </a:pPr>
            <a:r>
              <a:rPr sz="1800" b="0">
                <a:solidFill>
                  <a:srgbClr val="1B2430"/>
                </a:solidFill>
              </a:rPr>
              <a:t>최근 등록 문서를 클릭하면 발행이력 상세로 이동합니다.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D0DA9AE2-A4BE-443F-892F-C7F53B54A7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249150" y="3771900"/>
            <a:ext cx="9525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</p:spPr>
      </p:sp>
    </p:spTree>
    <p:extLst>
      <p:ext uri="{BB962C8B-B14F-4D97-AF65-F5344CB8AC3E}">
        <p14:creationId xmlns:p14="http://schemas.microsoft.com/office/powerpoint/2010/main" val="1160016515"/>
      </p:ext>
    </p:extLst>
  </p:cSld>
</p:sld>
</file>

<file path=ppt/slides/slide4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slide-4-num">
            <a:extLst xmlns:a="http://schemas.openxmlformats.org/drawingml/2006/main">
              <a:ext uri="{FF2B5EF4-FFF2-40B4-BE49-F238E27FC236}">
                <a16:creationId xmlns:a16="http://schemas.microsoft.com/office/drawing/2014/main" id="{AD069E39-0693-4AF4-BC76-DA0D0F017F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495300"/>
            <a:ext cx="457200" cy="2667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650" b="1">
                <a:solidFill>
                  <a:srgbClr val="2FB7A1"/>
                </a:solidFill>
              </a:defRPr>
            </a:pPr>
            <a:r>
              <a:rPr sz="1650" b="1">
                <a:solidFill>
                  <a:srgbClr val="2FB7A1"/>
                </a:solidFill>
              </a:rPr>
              <a:t>04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AA9D33C9-E718-4FB6-B520-87ECDE7BF1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95400" y="495300"/>
            <a:ext cx="91440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FB7A1"/>
          </a:solidFill>
          <a:ln xmlns:a="http://schemas.openxmlformats.org/drawingml/2006/main" w="0">
            <a:solidFill>
              <a:srgbClr val="2FB7A1"/>
            </a:solidFill>
            <a:prstDash val="solid"/>
          </a:ln>
        </p:spPr>
      </p:sp>
      <p:sp>
        <p:nvSpPr>
          <p:cNvPr id="3" name="slide-4-section">
            <a:extLst xmlns:a="http://schemas.openxmlformats.org/drawingml/2006/main">
              <a:ext uri="{FF2B5EF4-FFF2-40B4-BE49-F238E27FC236}">
                <a16:creationId xmlns:a16="http://schemas.microsoft.com/office/drawing/2014/main" id="{4FD41555-6062-47B8-BCCA-F072679BFC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81250" y="495300"/>
            <a:ext cx="15240000" cy="2667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650" b="1">
                <a:solidFill>
                  <a:srgbClr val="64748B"/>
                </a:solidFill>
              </a:defRPr>
            </a:pPr>
            <a:r>
              <a:rPr sz="1650" b="1">
                <a:solidFill>
                  <a:srgbClr val="64748B"/>
                </a:solidFill>
              </a:rPr>
              <a:t>문서</a:t>
            </a:r>
          </a:p>
        </p:txBody>
      </p:sp>
      <p:sp>
        <p:nvSpPr>
          <p:cNvPr id="4" name="slide-4-title">
            <a:extLst xmlns:a="http://schemas.openxmlformats.org/drawingml/2006/main">
              <a:ext uri="{FF2B5EF4-FFF2-40B4-BE49-F238E27FC236}">
                <a16:creationId xmlns:a16="http://schemas.microsoft.com/office/drawing/2014/main" id="{3701EC4F-948E-490D-B844-C011BD328D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838200"/>
            <a:ext cx="16954500" cy="5715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3750" b="1">
                <a:solidFill>
                  <a:srgbClr val="1B2430"/>
                </a:solidFill>
              </a:defRPr>
            </a:pPr>
            <a:r>
              <a:rPr sz="3750" b="1">
                <a:solidFill>
                  <a:srgbClr val="1B2430"/>
                </a:solidFill>
              </a:rPr>
              <a:t>문서 작성은 납품처와 수신처 선택에서 시작합니다.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495A5CC9-89F9-40DC-BEA3-3842CAAFEF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1504950"/>
            <a:ext cx="9525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</p:spPr>
      </p:sp>
      <p:sp>
        <p:nvSpPr>
          <p:cNvPr id="6" name="screen-frame-02-doc-create.png">
            <a:extLst xmlns:a="http://schemas.openxmlformats.org/drawingml/2006/main">
              <a:ext uri="{FF2B5EF4-FFF2-40B4-BE49-F238E27FC236}">
                <a16:creationId xmlns:a16="http://schemas.microsoft.com/office/drawing/2014/main" id="{A7F3D0F1-5984-4D05-96B6-F5FA6F4E8B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1765935"/>
            <a:ext cx="11239500" cy="6324600"/>
          </a:xfrm>
          <a:prstGeom xmlns:a="http://schemas.openxmlformats.org/drawingml/2006/main" prst="roundRect">
            <a:avLst>
              <a:gd name="adj" fmla="val 2108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9050">
            <a:solidFill>
              <a:srgbClr val="DDE5EE"/>
            </a:solidFill>
            <a:prstDash val="solid"/>
          </a:ln>
        </p:spPr>
      </p:sp>
      <p:pic>
        <p:nvPicPr>
          <p:cNvPr id="7" name="screenshot-02-doc-create.png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2ebc16f83e744663"/>
          <a:stretch xmlns:a="http://schemas.openxmlformats.org/drawingml/2006/main"/>
        </p:blipFill>
        <p:spPr>
          <a:xfrm xmlns:a="http://schemas.openxmlformats.org/drawingml/2006/main">
            <a:off x="897864" y="1861185"/>
            <a:ext cx="10777273" cy="6134100"/>
          </a:xfrm>
          <a:prstGeom xmlns:a="http://schemas.openxmlformats.org/drawingml/2006/main" prst="rect">
            <a:avLst/>
          </a:prstGeom>
        </p:spPr>
      </p:pic>
      <p:sp>
        <p:nvSpPr>
          <p:cNvPr id="8" name="dot-발주일, 입고일">
            <a:extLst xmlns:a="http://schemas.openxmlformats.org/drawingml/2006/main">
              <a:ext uri="{FF2B5EF4-FFF2-40B4-BE49-F238E27FC236}">
                <a16:creationId xmlns:a16="http://schemas.microsoft.com/office/drawing/2014/main" id="{CBA3F7C9-280B-4DBF-AE17-41C20E7662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249150" y="1771650"/>
            <a:ext cx="76200" cy="7620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2FB7A1"/>
          </a:solidFill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B20BC845-3441-45E7-8659-1258433E50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439650" y="1771650"/>
            <a:ext cx="5181600" cy="2857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800" b="0">
                <a:solidFill>
                  <a:srgbClr val="1B2430"/>
                </a:solidFill>
              </a:defRPr>
            </a:pPr>
            <a:r>
              <a:rPr sz="1800" b="0">
                <a:solidFill>
                  <a:srgbClr val="1B2430"/>
                </a:solidFill>
              </a:rPr>
              <a:t>발주일, 입고일, 납품처, 수신처를 먼저 입력합니다.</a:t>
            </a:r>
          </a:p>
        </p:txBody>
      </p:sp>
      <p:sp>
        <p:nvSpPr>
          <p:cNvPr id="10" name="dot-품목 정보에서">
            <a:extLst xmlns:a="http://schemas.openxmlformats.org/drawingml/2006/main">
              <a:ext uri="{FF2B5EF4-FFF2-40B4-BE49-F238E27FC236}">
                <a16:creationId xmlns:a16="http://schemas.microsoft.com/office/drawing/2014/main" id="{55FD63B8-EC9E-4A35-AADB-1726405EA7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249150" y="2247900"/>
            <a:ext cx="76200" cy="7620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2FB7A1"/>
          </a:solidFill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1ABC3F0F-CD8A-42D1-A3AE-56C60DAECC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439650" y="2247900"/>
            <a:ext cx="5181600" cy="2857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800" b="0">
                <a:solidFill>
                  <a:srgbClr val="1B2430"/>
                </a:solidFill>
              </a:defRPr>
            </a:pPr>
            <a:r>
              <a:rPr sz="1800" b="0">
                <a:solidFill>
                  <a:srgbClr val="1B2430"/>
                </a:solidFill>
              </a:rPr>
              <a:t>품목 정보에서 수량, 단가, VAT, 비고를 입력합니다.</a:t>
            </a:r>
          </a:p>
        </p:txBody>
      </p:sp>
      <p:sp>
        <p:nvSpPr>
          <p:cNvPr id="12" name="dot-미리보기와 엑셀">
            <a:extLst xmlns:a="http://schemas.openxmlformats.org/drawingml/2006/main">
              <a:ext uri="{FF2B5EF4-FFF2-40B4-BE49-F238E27FC236}">
                <a16:creationId xmlns:a16="http://schemas.microsoft.com/office/drawing/2014/main" id="{DA9503BB-7A9F-4ED3-B546-A4BC0BD1D5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249150" y="2743200"/>
            <a:ext cx="76200" cy="7620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2FB7A1"/>
          </a:solidFill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C08CF9CA-42E4-4014-A0FB-FD81ED3F1B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439650" y="2743200"/>
            <a:ext cx="5181600" cy="5524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800" b="0">
                <a:solidFill>
                  <a:srgbClr val="1B2430"/>
                </a:solidFill>
              </a:defRPr>
            </a:pPr>
            <a:r>
              <a:rPr sz="1800" b="0">
                <a:solidFill>
                  <a:srgbClr val="1B2430"/>
                </a:solidFill>
              </a:rPr>
              <a:t>미리보기와 엑셀 다운로드로 출력 내용을 확인한 뒤 저장합니다.</a:t>
            </a:r>
          </a:p>
        </p:txBody>
      </p:sp>
      <p:sp>
        <p:nvSpPr>
          <p:cNvPr id="14" name="tip-4">
            <a:extLst xmlns:a="http://schemas.openxmlformats.org/drawingml/2006/main">
              <a:ext uri="{FF2B5EF4-FFF2-40B4-BE49-F238E27FC236}">
                <a16:creationId xmlns:a16="http://schemas.microsoft.com/office/drawing/2014/main" id="{625FC8D4-D209-479E-91B8-7C9A700C52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249150" y="3491865"/>
            <a:ext cx="5372100" cy="822960"/>
          </a:xfrm>
          <a:prstGeom xmlns:a="http://schemas.openxmlformats.org/drawingml/2006/main" prst="roundRect">
            <a:avLst>
              <a:gd name="adj" fmla="val 13889"/>
            </a:avLst>
          </a:prstGeom>
          <a:solidFill xmlns:a="http://schemas.openxmlformats.org/drawingml/2006/main">
            <a:srgbClr val="FFF7E7"/>
          </a:solidFill>
          <a:ln xmlns:a="http://schemas.openxmlformats.org/drawingml/2006/main" w="9525">
            <a:solidFill>
              <a:srgbClr val="F3C676"/>
            </a:solidFill>
            <a:prstDash val="solid"/>
          </a:ln>
        </p:spPr>
      </p:sp>
      <p:sp>
        <p:nvSpPr>
          <p:cNvPr id="15" name="tip-text-4">
            <a:extLst xmlns:a="http://schemas.openxmlformats.org/drawingml/2006/main">
              <a:ext uri="{FF2B5EF4-FFF2-40B4-BE49-F238E27FC236}">
                <a16:creationId xmlns:a16="http://schemas.microsoft.com/office/drawing/2014/main" id="{1894484B-B49F-4CE8-9614-50CA34CA4E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439650" y="3657600"/>
            <a:ext cx="4991100" cy="4953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575" b="0">
                <a:solidFill>
                  <a:srgbClr val="7A4F00"/>
                </a:solidFill>
              </a:defRPr>
            </a:pPr>
            <a:r>
              <a:rPr sz="1575" b="0">
                <a:solidFill>
                  <a:srgbClr val="7A4F00"/>
                </a:solidFill>
              </a:rPr>
              <a:t>납품처와 수신처가 선택되어야 해당 조건의 품목 목록이 표시됩니다.</a:t>
            </a:r>
          </a:p>
        </p:txBody>
      </p:sp>
    </p:spTree>
    <p:extLst>
      <p:ext uri="{BB962C8B-B14F-4D97-AF65-F5344CB8AC3E}">
        <p14:creationId xmlns:p14="http://schemas.microsoft.com/office/powerpoint/2010/main" val="2072072691"/>
      </p:ext>
    </p:extLst>
  </p:cSld>
</p:sld>
</file>

<file path=ppt/slides/slide5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slide-5-num">
            <a:extLst xmlns:a="http://schemas.openxmlformats.org/drawingml/2006/main">
              <a:ext uri="{FF2B5EF4-FFF2-40B4-BE49-F238E27FC236}">
                <a16:creationId xmlns:a16="http://schemas.microsoft.com/office/drawing/2014/main" id="{69EF0917-2374-4B1F-96F8-5221A505FB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495300"/>
            <a:ext cx="457200" cy="2667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650" b="1">
                <a:solidFill>
                  <a:srgbClr val="2FB7A1"/>
                </a:solidFill>
              </a:defRPr>
            </a:pPr>
            <a:r>
              <a:rPr sz="1650" b="1">
                <a:solidFill>
                  <a:srgbClr val="2FB7A1"/>
                </a:solidFill>
              </a:rPr>
              <a:t>05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CA875626-7265-4602-89AB-0890B051BF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95400" y="495300"/>
            <a:ext cx="91440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FB7A1"/>
          </a:solidFill>
          <a:ln xmlns:a="http://schemas.openxmlformats.org/drawingml/2006/main" w="0">
            <a:solidFill>
              <a:srgbClr val="2FB7A1"/>
            </a:solidFill>
            <a:prstDash val="solid"/>
          </a:ln>
        </p:spPr>
      </p:sp>
      <p:sp>
        <p:nvSpPr>
          <p:cNvPr id="3" name="slide-5-section">
            <a:extLst xmlns:a="http://schemas.openxmlformats.org/drawingml/2006/main">
              <a:ext uri="{FF2B5EF4-FFF2-40B4-BE49-F238E27FC236}">
                <a16:creationId xmlns:a16="http://schemas.microsoft.com/office/drawing/2014/main" id="{EA113670-FA48-443C-A6DE-937A79E21C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81250" y="495300"/>
            <a:ext cx="15240000" cy="2667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650" b="1">
                <a:solidFill>
                  <a:srgbClr val="64748B"/>
                </a:solidFill>
              </a:defRPr>
            </a:pPr>
            <a:r>
              <a:rPr sz="1650" b="1">
                <a:solidFill>
                  <a:srgbClr val="64748B"/>
                </a:solidFill>
              </a:rPr>
              <a:t>문서</a:t>
            </a:r>
          </a:p>
        </p:txBody>
      </p:sp>
      <p:sp>
        <p:nvSpPr>
          <p:cNvPr id="4" name="slide-5-title">
            <a:extLst xmlns:a="http://schemas.openxmlformats.org/drawingml/2006/main">
              <a:ext uri="{FF2B5EF4-FFF2-40B4-BE49-F238E27FC236}">
                <a16:creationId xmlns:a16="http://schemas.microsoft.com/office/drawing/2014/main" id="{4E440061-067B-4F93-B180-B942383E38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838200"/>
            <a:ext cx="16954500" cy="5715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3750" b="1">
                <a:solidFill>
                  <a:srgbClr val="1B2430"/>
                </a:solidFill>
              </a:defRPr>
            </a:pPr>
            <a:r>
              <a:rPr sz="3750" b="1">
                <a:solidFill>
                  <a:srgbClr val="1B2430"/>
                </a:solidFill>
              </a:rPr>
              <a:t>발행 이력은 조회, 수정, 거래취소의 기준 화면입니다.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91797BEC-3600-4E7B-99D1-871799B892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1504950"/>
            <a:ext cx="9525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</p:spPr>
      </p:sp>
      <p:sp>
        <p:nvSpPr>
          <p:cNvPr id="6" name="screen-frame-03-doc-history.png">
            <a:extLst xmlns:a="http://schemas.openxmlformats.org/drawingml/2006/main">
              <a:ext uri="{FF2B5EF4-FFF2-40B4-BE49-F238E27FC236}">
                <a16:creationId xmlns:a16="http://schemas.microsoft.com/office/drawing/2014/main" id="{697D97F5-045D-4C37-8221-238CC33FCF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1765935"/>
            <a:ext cx="11239500" cy="6324600"/>
          </a:xfrm>
          <a:prstGeom xmlns:a="http://schemas.openxmlformats.org/drawingml/2006/main" prst="roundRect">
            <a:avLst>
              <a:gd name="adj" fmla="val 2108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9050">
            <a:solidFill>
              <a:srgbClr val="DDE5EE"/>
            </a:solidFill>
            <a:prstDash val="solid"/>
          </a:ln>
        </p:spPr>
      </p:sp>
      <p:pic>
        <p:nvPicPr>
          <p:cNvPr id="7" name="screenshot-03-doc-history.png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d2b5a4688ad8419c"/>
          <a:stretch xmlns:a="http://schemas.openxmlformats.org/drawingml/2006/main"/>
        </p:blipFill>
        <p:spPr>
          <a:xfrm xmlns:a="http://schemas.openxmlformats.org/drawingml/2006/main">
            <a:off x="833967" y="1861185"/>
            <a:ext cx="10905067" cy="6134100"/>
          </a:xfrm>
          <a:prstGeom xmlns:a="http://schemas.openxmlformats.org/drawingml/2006/main" prst="rect">
            <a:avLst/>
          </a:prstGeom>
        </p:spPr>
      </p:pic>
      <p:sp>
        <p:nvSpPr>
          <p:cNvPr id="8" name="dot-기간, 필터,">
            <a:extLst xmlns:a="http://schemas.openxmlformats.org/drawingml/2006/main">
              <a:ext uri="{FF2B5EF4-FFF2-40B4-BE49-F238E27FC236}">
                <a16:creationId xmlns:a16="http://schemas.microsoft.com/office/drawing/2014/main" id="{05BBA417-48D2-4801-B65B-BE99E433E8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249150" y="1771650"/>
            <a:ext cx="76200" cy="7620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2FB7A1"/>
          </a:solidFill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68FE1A65-0B10-4A6B-8634-A4A3577CBE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439650" y="1771650"/>
            <a:ext cx="5181600" cy="2857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800" b="0">
                <a:solidFill>
                  <a:srgbClr val="1B2430"/>
                </a:solidFill>
              </a:defRPr>
            </a:pPr>
            <a:r>
              <a:rPr sz="1800" b="0">
                <a:solidFill>
                  <a:srgbClr val="1B2430"/>
                </a:solidFill>
              </a:rPr>
              <a:t>기간, 필터, 키워드로 발행 문서를 검색합니다.</a:t>
            </a:r>
          </a:p>
        </p:txBody>
      </p:sp>
      <p:sp>
        <p:nvSpPr>
          <p:cNvPr id="10" name="dot-행을 클릭하면">
            <a:extLst xmlns:a="http://schemas.openxmlformats.org/drawingml/2006/main">
              <a:ext uri="{FF2B5EF4-FFF2-40B4-BE49-F238E27FC236}">
                <a16:creationId xmlns:a16="http://schemas.microsoft.com/office/drawing/2014/main" id="{CAAC3A61-F475-47F7-8AEA-61CE5417CA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249150" y="2247900"/>
            <a:ext cx="76200" cy="7620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2FB7A1"/>
          </a:solidFill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9BF8D364-10E3-4E9F-9A28-1BC0FAB12B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439650" y="2247900"/>
            <a:ext cx="5181600" cy="5524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800" b="0">
                <a:solidFill>
                  <a:srgbClr val="1B2430"/>
                </a:solidFill>
              </a:defRPr>
            </a:pPr>
            <a:r>
              <a:rPr sz="1800" b="0">
                <a:solidFill>
                  <a:srgbClr val="1B2430"/>
                </a:solidFill>
              </a:rPr>
              <a:t>행을 클릭하면 상세 화면에서 내용을 수정할 수 있습니다.</a:t>
            </a:r>
          </a:p>
        </p:txBody>
      </p:sp>
      <p:sp>
        <p:nvSpPr>
          <p:cNvPr id="12" name="dot-문서 전체 또는">
            <a:extLst xmlns:a="http://schemas.openxmlformats.org/drawingml/2006/main">
              <a:ext uri="{FF2B5EF4-FFF2-40B4-BE49-F238E27FC236}">
                <a16:creationId xmlns:a16="http://schemas.microsoft.com/office/drawing/2014/main" id="{006C7EDE-317C-42C3-AAE4-CF50090D38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249150" y="3009900"/>
            <a:ext cx="76200" cy="7620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2FB7A1"/>
          </a:solidFill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26A34572-8500-414C-B3F7-F4B7EDBB3E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439650" y="3009900"/>
            <a:ext cx="5181600" cy="2857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800" b="0">
                <a:solidFill>
                  <a:srgbClr val="1B2430"/>
                </a:solidFill>
              </a:defRPr>
            </a:pPr>
            <a:r>
              <a:rPr sz="1800" b="0">
                <a:solidFill>
                  <a:srgbClr val="1B2430"/>
                </a:solidFill>
              </a:rPr>
              <a:t>문서 전체 또는 품목 단위로 거래취소를 처리합니다.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B05A8B94-7B9A-4348-B0DC-D0D95E609B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249150" y="3486150"/>
            <a:ext cx="9525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</p:spPr>
      </p:sp>
    </p:spTree>
    <p:extLst>
      <p:ext uri="{BB962C8B-B14F-4D97-AF65-F5344CB8AC3E}">
        <p14:creationId xmlns:p14="http://schemas.microsoft.com/office/powerpoint/2010/main" val="1609230785"/>
      </p:ext>
    </p:extLst>
  </p:cSld>
</p:sld>
</file>

<file path=ppt/slides/slide6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slide-6-num">
            <a:extLst xmlns:a="http://schemas.openxmlformats.org/drawingml/2006/main">
              <a:ext uri="{FF2B5EF4-FFF2-40B4-BE49-F238E27FC236}">
                <a16:creationId xmlns:a16="http://schemas.microsoft.com/office/drawing/2014/main" id="{D189F63E-CCF2-4439-9F81-29436A0A02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495300"/>
            <a:ext cx="457200" cy="2667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650" b="1">
                <a:solidFill>
                  <a:srgbClr val="2FB7A1"/>
                </a:solidFill>
              </a:defRPr>
            </a:pPr>
            <a:r>
              <a:rPr sz="1650" b="1">
                <a:solidFill>
                  <a:srgbClr val="2FB7A1"/>
                </a:solidFill>
              </a:rPr>
              <a:t>06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19F42F37-E6B0-4020-9AFD-EBA9514AED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95400" y="495300"/>
            <a:ext cx="91440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FB7A1"/>
          </a:solidFill>
          <a:ln xmlns:a="http://schemas.openxmlformats.org/drawingml/2006/main" w="0">
            <a:solidFill>
              <a:srgbClr val="2FB7A1"/>
            </a:solidFill>
            <a:prstDash val="solid"/>
          </a:ln>
        </p:spPr>
      </p:sp>
      <p:sp>
        <p:nvSpPr>
          <p:cNvPr id="3" name="slide-6-section">
            <a:extLst xmlns:a="http://schemas.openxmlformats.org/drawingml/2006/main">
              <a:ext uri="{FF2B5EF4-FFF2-40B4-BE49-F238E27FC236}">
                <a16:creationId xmlns:a16="http://schemas.microsoft.com/office/drawing/2014/main" id="{1FAA9F09-277D-4670-B374-73541AE810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81250" y="495300"/>
            <a:ext cx="15240000" cy="2667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650" b="1">
                <a:solidFill>
                  <a:srgbClr val="64748B"/>
                </a:solidFill>
              </a:defRPr>
            </a:pPr>
            <a:r>
              <a:rPr sz="1650" b="1">
                <a:solidFill>
                  <a:srgbClr val="64748B"/>
                </a:solidFill>
              </a:rPr>
              <a:t>출고</a:t>
            </a:r>
          </a:p>
        </p:txBody>
      </p:sp>
      <p:sp>
        <p:nvSpPr>
          <p:cNvPr id="4" name="slide-6-title">
            <a:extLst xmlns:a="http://schemas.openxmlformats.org/drawingml/2006/main">
              <a:ext uri="{FF2B5EF4-FFF2-40B4-BE49-F238E27FC236}">
                <a16:creationId xmlns:a16="http://schemas.microsoft.com/office/drawing/2014/main" id="{5FBC6503-9138-49BA-BD34-EB630B6FF5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838200"/>
            <a:ext cx="16954500" cy="5715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3750" b="1">
                <a:solidFill>
                  <a:srgbClr val="1B2430"/>
                </a:solidFill>
              </a:defRPr>
            </a:pPr>
            <a:r>
              <a:rPr sz="3750" b="1">
                <a:solidFill>
                  <a:srgbClr val="1B2430"/>
                </a:solidFill>
              </a:rPr>
              <a:t>수주대장에서 미출고와 출고 상태를 관리합니다.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FE8F29F1-7982-4725-9677-865F697ACB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1504950"/>
            <a:ext cx="9525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</p:spPr>
      </p:sp>
      <p:sp>
        <p:nvSpPr>
          <p:cNvPr id="6" name="screen-frame-04-order-book.png">
            <a:extLst xmlns:a="http://schemas.openxmlformats.org/drawingml/2006/main">
              <a:ext uri="{FF2B5EF4-FFF2-40B4-BE49-F238E27FC236}">
                <a16:creationId xmlns:a16="http://schemas.microsoft.com/office/drawing/2014/main" id="{AABEE606-A105-4344-A182-46A3CEDE61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1765935"/>
            <a:ext cx="11239500" cy="6324600"/>
          </a:xfrm>
          <a:prstGeom xmlns:a="http://schemas.openxmlformats.org/drawingml/2006/main" prst="roundRect">
            <a:avLst>
              <a:gd name="adj" fmla="val 2108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9050">
            <a:solidFill>
              <a:srgbClr val="DDE5EE"/>
            </a:solidFill>
            <a:prstDash val="solid"/>
          </a:ln>
        </p:spPr>
      </p:sp>
      <p:pic>
        <p:nvPicPr>
          <p:cNvPr id="7" name="screenshot-04-order-book.png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c79b6bfd30184138"/>
          <a:stretch xmlns:a="http://schemas.openxmlformats.org/drawingml/2006/main"/>
        </p:blipFill>
        <p:spPr>
          <a:xfrm xmlns:a="http://schemas.openxmlformats.org/drawingml/2006/main">
            <a:off x="833967" y="1861185"/>
            <a:ext cx="10905067" cy="6134100"/>
          </a:xfrm>
          <a:prstGeom xmlns:a="http://schemas.openxmlformats.org/drawingml/2006/main" prst="rect">
            <a:avLst/>
          </a:prstGeom>
        </p:spPr>
      </p:pic>
      <p:sp>
        <p:nvSpPr>
          <p:cNvPr id="8" name="dot-입고일 기간과">
            <a:extLst xmlns:a="http://schemas.openxmlformats.org/drawingml/2006/main">
              <a:ext uri="{FF2B5EF4-FFF2-40B4-BE49-F238E27FC236}">
                <a16:creationId xmlns:a16="http://schemas.microsoft.com/office/drawing/2014/main" id="{B7CAC7BB-9FE2-4F39-84CE-48FC975568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249150" y="1771650"/>
            <a:ext cx="76200" cy="7620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2FB7A1"/>
          </a:solidFill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0BE2969D-BFF8-480D-BC5D-4FFEB0C081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439650" y="1771650"/>
            <a:ext cx="5181600" cy="2857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800" b="0">
                <a:solidFill>
                  <a:srgbClr val="1B2430"/>
                </a:solidFill>
              </a:defRPr>
            </a:pPr>
            <a:r>
              <a:rPr sz="1800" b="0">
                <a:solidFill>
                  <a:srgbClr val="1B2430"/>
                </a:solidFill>
              </a:rPr>
              <a:t>입고일 기간과 검색 필터로 수주 항목을 조회합니다.</a:t>
            </a:r>
          </a:p>
        </p:txBody>
      </p:sp>
      <p:sp>
        <p:nvSpPr>
          <p:cNvPr id="10" name="dot-각 행의 출고상">
            <a:extLst xmlns:a="http://schemas.openxmlformats.org/drawingml/2006/main">
              <a:ext uri="{FF2B5EF4-FFF2-40B4-BE49-F238E27FC236}">
                <a16:creationId xmlns:a16="http://schemas.microsoft.com/office/drawing/2014/main" id="{3EE5F35D-B65D-4335-B502-0E2EA71B27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249150" y="2247900"/>
            <a:ext cx="76200" cy="7620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2FB7A1"/>
          </a:solidFill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90498567-88D7-4DF8-827A-BAA139CDFF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439650" y="2247900"/>
            <a:ext cx="5181600" cy="2857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800" b="0">
                <a:solidFill>
                  <a:srgbClr val="1B2430"/>
                </a:solidFill>
              </a:defRPr>
            </a:pPr>
            <a:r>
              <a:rPr sz="1800" b="0">
                <a:solidFill>
                  <a:srgbClr val="1B2430"/>
                </a:solidFill>
              </a:rPr>
              <a:t>각 행의 출고상태를 미출고 또는 출고로 변경합니다.</a:t>
            </a:r>
          </a:p>
        </p:txBody>
      </p:sp>
      <p:sp>
        <p:nvSpPr>
          <p:cNvPr id="12" name="dot-여러 항목을 선">
            <a:extLst xmlns:a="http://schemas.openxmlformats.org/drawingml/2006/main">
              <a:ext uri="{FF2B5EF4-FFF2-40B4-BE49-F238E27FC236}">
                <a16:creationId xmlns:a16="http://schemas.microsoft.com/office/drawing/2014/main" id="{000F4D5D-3D36-44B8-988D-75B9EAD7B0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249150" y="2743200"/>
            <a:ext cx="76200" cy="7620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2FB7A1"/>
          </a:solidFill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6C4FD37C-9AC5-47DE-AD79-DD71F373AC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439650" y="2743200"/>
            <a:ext cx="5181600" cy="2857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800" b="0">
                <a:solidFill>
                  <a:srgbClr val="1B2430"/>
                </a:solidFill>
              </a:defRPr>
            </a:pPr>
            <a:r>
              <a:rPr sz="1800" b="0">
                <a:solidFill>
                  <a:srgbClr val="1B2430"/>
                </a:solidFill>
              </a:rPr>
              <a:t>여러 항목을 선택해 일괄 출고처리할 수 있습니다.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23428190-8FDE-4C18-A343-7CBC0D9F30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249150" y="3219450"/>
            <a:ext cx="9525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</p:spPr>
      </p:sp>
    </p:spTree>
    <p:extLst>
      <p:ext uri="{BB962C8B-B14F-4D97-AF65-F5344CB8AC3E}">
        <p14:creationId xmlns:p14="http://schemas.microsoft.com/office/powerpoint/2010/main" val="1867640981"/>
      </p:ext>
    </p:extLst>
  </p:cSld>
</p:sld>
</file>

<file path=ppt/slides/slide7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slide-7-num">
            <a:extLst xmlns:a="http://schemas.openxmlformats.org/drawingml/2006/main">
              <a:ext uri="{FF2B5EF4-FFF2-40B4-BE49-F238E27FC236}">
                <a16:creationId xmlns:a16="http://schemas.microsoft.com/office/drawing/2014/main" id="{1DA94B33-1C3D-4518-95D9-80B4A54498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495300"/>
            <a:ext cx="457200" cy="2667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650" b="1">
                <a:solidFill>
                  <a:srgbClr val="2FB7A1"/>
                </a:solidFill>
              </a:defRPr>
            </a:pPr>
            <a:r>
              <a:rPr sz="1650" b="1">
                <a:solidFill>
                  <a:srgbClr val="2FB7A1"/>
                </a:solidFill>
              </a:rPr>
              <a:t>07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2F3C6AC9-18E8-46E9-8B13-C9BBDA1F35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95400" y="495300"/>
            <a:ext cx="91440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FB7A1"/>
          </a:solidFill>
          <a:ln xmlns:a="http://schemas.openxmlformats.org/drawingml/2006/main" w="0">
            <a:solidFill>
              <a:srgbClr val="2FB7A1"/>
            </a:solidFill>
            <a:prstDash val="solid"/>
          </a:ln>
        </p:spPr>
      </p:sp>
      <p:sp>
        <p:nvSpPr>
          <p:cNvPr id="3" name="slide-7-section">
            <a:extLst xmlns:a="http://schemas.openxmlformats.org/drawingml/2006/main">
              <a:ext uri="{FF2B5EF4-FFF2-40B4-BE49-F238E27FC236}">
                <a16:creationId xmlns:a16="http://schemas.microsoft.com/office/drawing/2014/main" id="{70580584-3AF2-4458-8DA4-4B50EFC1EE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81250" y="495300"/>
            <a:ext cx="15240000" cy="2667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650" b="1">
                <a:solidFill>
                  <a:srgbClr val="64748B"/>
                </a:solidFill>
              </a:defRPr>
            </a:pPr>
            <a:r>
              <a:rPr sz="1650" b="1">
                <a:solidFill>
                  <a:srgbClr val="64748B"/>
                </a:solidFill>
              </a:rPr>
              <a:t>관리</a:t>
            </a:r>
          </a:p>
        </p:txBody>
      </p:sp>
      <p:sp>
        <p:nvSpPr>
          <p:cNvPr id="4" name="slide-7-title">
            <a:extLst xmlns:a="http://schemas.openxmlformats.org/drawingml/2006/main">
              <a:ext uri="{FF2B5EF4-FFF2-40B4-BE49-F238E27FC236}">
                <a16:creationId xmlns:a16="http://schemas.microsoft.com/office/drawing/2014/main" id="{638147A4-AB9A-4B39-B2A8-D899727742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838200"/>
            <a:ext cx="16954500" cy="5715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3750" b="1">
                <a:solidFill>
                  <a:srgbClr val="1B2430"/>
                </a:solidFill>
              </a:defRPr>
            </a:pPr>
            <a:r>
              <a:rPr sz="3750" b="1">
                <a:solidFill>
                  <a:srgbClr val="1B2430"/>
                </a:solidFill>
              </a:rPr>
              <a:t>납품처 관리는 문서 자동입력의 기준 데이터입니다.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493B6B73-18D3-41EB-934E-5F338CEF68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1504950"/>
            <a:ext cx="9525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</p:spPr>
      </p:sp>
      <p:sp>
        <p:nvSpPr>
          <p:cNvPr id="6" name="screen-frame-05-master-client.png">
            <a:extLst xmlns:a="http://schemas.openxmlformats.org/drawingml/2006/main">
              <a:ext uri="{FF2B5EF4-FFF2-40B4-BE49-F238E27FC236}">
                <a16:creationId xmlns:a16="http://schemas.microsoft.com/office/drawing/2014/main" id="{0E237D46-B6B3-419F-9E1A-BC77B7E0E8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1765935"/>
            <a:ext cx="11239500" cy="6324600"/>
          </a:xfrm>
          <a:prstGeom xmlns:a="http://schemas.openxmlformats.org/drawingml/2006/main" prst="roundRect">
            <a:avLst>
              <a:gd name="adj" fmla="val 2108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9050">
            <a:solidFill>
              <a:srgbClr val="DDE5EE"/>
            </a:solidFill>
            <a:prstDash val="solid"/>
          </a:ln>
        </p:spPr>
      </p:sp>
      <p:pic>
        <p:nvPicPr>
          <p:cNvPr id="7" name="screenshot-05-master-client.png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d4a8ad15112c4f8f"/>
          <a:stretch xmlns:a="http://schemas.openxmlformats.org/drawingml/2006/main"/>
        </p:blipFill>
        <p:spPr>
          <a:xfrm xmlns:a="http://schemas.openxmlformats.org/drawingml/2006/main">
            <a:off x="897864" y="1861185"/>
            <a:ext cx="10777273" cy="6134100"/>
          </a:xfrm>
          <a:prstGeom xmlns:a="http://schemas.openxmlformats.org/drawingml/2006/main" prst="rect">
            <a:avLst/>
          </a:prstGeom>
        </p:spPr>
      </p:pic>
      <p:sp>
        <p:nvSpPr>
          <p:cNvPr id="8" name="dot-납품처명, 주소">
            <a:extLst xmlns:a="http://schemas.openxmlformats.org/drawingml/2006/main">
              <a:ext uri="{FF2B5EF4-FFF2-40B4-BE49-F238E27FC236}">
                <a16:creationId xmlns:a16="http://schemas.microsoft.com/office/drawing/2014/main" id="{335160D0-A458-41D3-9DCE-46C6F4653D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249150" y="1771650"/>
            <a:ext cx="76200" cy="7620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2FB7A1"/>
          </a:solidFill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D8845C3F-BFB4-42CE-8179-FE9C3864AC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439650" y="1771650"/>
            <a:ext cx="5181600" cy="2857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800" b="0">
                <a:solidFill>
                  <a:srgbClr val="1B2430"/>
                </a:solidFill>
              </a:defRPr>
            </a:pPr>
            <a:r>
              <a:rPr sz="1800" b="0">
                <a:solidFill>
                  <a:srgbClr val="1B2430"/>
                </a:solidFill>
              </a:rPr>
              <a:t>납품처명, 주소, 담당자, 연락처 등으로 검색합니다.</a:t>
            </a:r>
          </a:p>
        </p:txBody>
      </p:sp>
      <p:sp>
        <p:nvSpPr>
          <p:cNvPr id="10" name="dot-납품처 추가 또">
            <a:extLst xmlns:a="http://schemas.openxmlformats.org/drawingml/2006/main">
              <a:ext uri="{FF2B5EF4-FFF2-40B4-BE49-F238E27FC236}">
                <a16:creationId xmlns:a16="http://schemas.microsoft.com/office/drawing/2014/main" id="{70A2BFB5-3DA4-4865-B5B8-822DE979F9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249150" y="2247900"/>
            <a:ext cx="76200" cy="7620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2FB7A1"/>
          </a:solidFill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73472C38-9954-4879-861E-763344E5D6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439650" y="2247900"/>
            <a:ext cx="5181600" cy="5524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800" b="0">
                <a:solidFill>
                  <a:srgbClr val="1B2430"/>
                </a:solidFill>
              </a:defRPr>
            </a:pPr>
            <a:r>
              <a:rPr sz="1800" b="0">
                <a:solidFill>
                  <a:srgbClr val="1B2430"/>
                </a:solidFill>
              </a:rPr>
              <a:t>납품처 추가 또는 행 클릭으로 정보를 등록/수정합니다.</a:t>
            </a:r>
          </a:p>
        </p:txBody>
      </p:sp>
      <p:sp>
        <p:nvSpPr>
          <p:cNvPr id="12" name="dot-입고시간, 점심">
            <a:extLst xmlns:a="http://schemas.openxmlformats.org/drawingml/2006/main">
              <a:ext uri="{FF2B5EF4-FFF2-40B4-BE49-F238E27FC236}">
                <a16:creationId xmlns:a16="http://schemas.microsoft.com/office/drawing/2014/main" id="{FAA5E659-51C6-44A8-8B7A-1C1009EB61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249150" y="3009900"/>
            <a:ext cx="76200" cy="7620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2FB7A1"/>
          </a:solidFill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2F78C768-BF8E-4B4A-A5F2-42C9C2D8D0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439650" y="3009900"/>
            <a:ext cx="5181600" cy="5524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800" b="0">
                <a:solidFill>
                  <a:srgbClr val="1B2430"/>
                </a:solidFill>
              </a:defRPr>
            </a:pPr>
            <a:r>
              <a:rPr sz="1800" b="0">
                <a:solidFill>
                  <a:srgbClr val="1B2430"/>
                </a:solidFill>
              </a:rPr>
              <a:t>입고시간, 점심시간, 비고는 문서 유의사항에 활용됩니다.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8193412F-F3CA-4266-BB3C-4BC3226DBF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249150" y="3771900"/>
            <a:ext cx="9525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</p:spPr>
      </p:sp>
    </p:spTree>
    <p:extLst>
      <p:ext uri="{BB962C8B-B14F-4D97-AF65-F5344CB8AC3E}">
        <p14:creationId xmlns:p14="http://schemas.microsoft.com/office/powerpoint/2010/main" val="1521505491"/>
      </p:ext>
    </p:extLst>
  </p:cSld>
</p:sld>
</file>

<file path=ppt/slides/slide8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slide-8-num">
            <a:extLst xmlns:a="http://schemas.openxmlformats.org/drawingml/2006/main">
              <a:ext uri="{FF2B5EF4-FFF2-40B4-BE49-F238E27FC236}">
                <a16:creationId xmlns:a16="http://schemas.microsoft.com/office/drawing/2014/main" id="{EB4F4CCC-4DFF-46F4-8ECE-1A7D352832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495300"/>
            <a:ext cx="457200" cy="2667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650" b="1">
                <a:solidFill>
                  <a:srgbClr val="2FB7A1"/>
                </a:solidFill>
              </a:defRPr>
            </a:pPr>
            <a:r>
              <a:rPr sz="1650" b="1">
                <a:solidFill>
                  <a:srgbClr val="2FB7A1"/>
                </a:solidFill>
              </a:rPr>
              <a:t>08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D2548E4B-81A2-430A-92D6-6CA8251E32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95400" y="495300"/>
            <a:ext cx="91440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FB7A1"/>
          </a:solidFill>
          <a:ln xmlns:a="http://schemas.openxmlformats.org/drawingml/2006/main" w="0">
            <a:solidFill>
              <a:srgbClr val="2FB7A1"/>
            </a:solidFill>
            <a:prstDash val="solid"/>
          </a:ln>
        </p:spPr>
      </p:sp>
      <p:sp>
        <p:nvSpPr>
          <p:cNvPr id="3" name="slide-8-section">
            <a:extLst xmlns:a="http://schemas.openxmlformats.org/drawingml/2006/main">
              <a:ext uri="{FF2B5EF4-FFF2-40B4-BE49-F238E27FC236}">
                <a16:creationId xmlns:a16="http://schemas.microsoft.com/office/drawing/2014/main" id="{1396A0FE-9674-40CA-96F6-D82FC2F4FF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81250" y="495300"/>
            <a:ext cx="15240000" cy="2667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650" b="1">
                <a:solidFill>
                  <a:srgbClr val="64748B"/>
                </a:solidFill>
              </a:defRPr>
            </a:pPr>
            <a:r>
              <a:rPr sz="1650" b="1">
                <a:solidFill>
                  <a:srgbClr val="64748B"/>
                </a:solidFill>
              </a:rPr>
              <a:t>관리</a:t>
            </a:r>
          </a:p>
        </p:txBody>
      </p:sp>
      <p:sp>
        <p:nvSpPr>
          <p:cNvPr id="4" name="slide-8-title">
            <a:extLst xmlns:a="http://schemas.openxmlformats.org/drawingml/2006/main">
              <a:ext uri="{FF2B5EF4-FFF2-40B4-BE49-F238E27FC236}">
                <a16:creationId xmlns:a16="http://schemas.microsoft.com/office/drawing/2014/main" id="{7A16383A-A475-4CBE-9851-21A69C338B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838200"/>
            <a:ext cx="16954500" cy="5715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3750" b="1">
                <a:solidFill>
                  <a:srgbClr val="1B2430"/>
                </a:solidFill>
              </a:defRPr>
            </a:pPr>
            <a:r>
              <a:rPr sz="3750" b="1">
                <a:solidFill>
                  <a:srgbClr val="1B2430"/>
                </a:solidFill>
              </a:rPr>
              <a:t>품목 관리는 공통 품목과 납품처별 품목으로 나뉩니다.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0A160658-3C5D-4C22-8D07-BE309158EF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1504950"/>
            <a:ext cx="9525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</p:spPr>
      </p:sp>
      <p:sp>
        <p:nvSpPr>
          <p:cNvPr id="6" name="screen-frame-06-master-product.png">
            <a:extLst xmlns:a="http://schemas.openxmlformats.org/drawingml/2006/main">
              <a:ext uri="{FF2B5EF4-FFF2-40B4-BE49-F238E27FC236}">
                <a16:creationId xmlns:a16="http://schemas.microsoft.com/office/drawing/2014/main" id="{B83B4B01-2DF2-4E96-9CEF-823991341B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1765935"/>
            <a:ext cx="11239500" cy="6324600"/>
          </a:xfrm>
          <a:prstGeom xmlns:a="http://schemas.openxmlformats.org/drawingml/2006/main" prst="roundRect">
            <a:avLst>
              <a:gd name="adj" fmla="val 2108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9050">
            <a:solidFill>
              <a:srgbClr val="DDE5EE"/>
            </a:solidFill>
            <a:prstDash val="solid"/>
          </a:ln>
        </p:spPr>
      </p:sp>
      <p:pic>
        <p:nvPicPr>
          <p:cNvPr id="7" name="screenshot-06-master-product.png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9d919aa2cf384112"/>
          <a:stretch xmlns:a="http://schemas.openxmlformats.org/drawingml/2006/main"/>
        </p:blipFill>
        <p:spPr>
          <a:xfrm xmlns:a="http://schemas.openxmlformats.org/drawingml/2006/main">
            <a:off x="897864" y="1861185"/>
            <a:ext cx="10777273" cy="6134100"/>
          </a:xfrm>
          <a:prstGeom xmlns:a="http://schemas.openxmlformats.org/drawingml/2006/main" prst="rect">
            <a:avLst/>
          </a:prstGeom>
        </p:spPr>
      </p:pic>
      <p:sp>
        <p:nvSpPr>
          <p:cNvPr id="8" name="dot-공통 품목은 기">
            <a:extLst xmlns:a="http://schemas.openxmlformats.org/drawingml/2006/main">
              <a:ext uri="{FF2B5EF4-FFF2-40B4-BE49-F238E27FC236}">
                <a16:creationId xmlns:a16="http://schemas.microsoft.com/office/drawing/2014/main" id="{DB80709D-13A8-4E6A-B718-B095906923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249150" y="1771650"/>
            <a:ext cx="76200" cy="7620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2FB7A1"/>
          </a:solidFill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87A196D0-4CD4-443F-969A-35084BE582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439650" y="1771650"/>
            <a:ext cx="5181600" cy="2857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800" b="0">
                <a:solidFill>
                  <a:srgbClr val="1B2430"/>
                </a:solidFill>
              </a:defRPr>
            </a:pPr>
            <a:r>
              <a:rPr sz="1800" b="0">
                <a:solidFill>
                  <a:srgbClr val="1B2430"/>
                </a:solidFill>
              </a:rPr>
              <a:t>공통 품목은 기본 품목명과 포장 기준을 관리합니다.</a:t>
            </a:r>
          </a:p>
        </p:txBody>
      </p:sp>
      <p:sp>
        <p:nvSpPr>
          <p:cNvPr id="10" name="dot-납품처별 품목은">
            <a:extLst xmlns:a="http://schemas.openxmlformats.org/drawingml/2006/main">
              <a:ext uri="{FF2B5EF4-FFF2-40B4-BE49-F238E27FC236}">
                <a16:creationId xmlns:a16="http://schemas.microsoft.com/office/drawing/2014/main" id="{2A096D2F-54AB-480B-B899-CC7CF78811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249150" y="2247900"/>
            <a:ext cx="76200" cy="7620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2FB7A1"/>
          </a:solidFill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089CEC14-F796-4CA4-9AE7-1EFF6D51B6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439650" y="2247900"/>
            <a:ext cx="5181600" cy="5524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800" b="0">
                <a:solidFill>
                  <a:srgbClr val="1B2430"/>
                </a:solidFill>
              </a:defRPr>
            </a:pPr>
            <a:r>
              <a:rPr sz="1800" b="0">
                <a:solidFill>
                  <a:srgbClr val="1B2430"/>
                </a:solidFill>
              </a:rPr>
              <a:t>납품처별 품목은 수신처, 단가, 실제 문서명을 관리합니다.</a:t>
            </a:r>
          </a:p>
        </p:txBody>
      </p:sp>
      <p:sp>
        <p:nvSpPr>
          <p:cNvPr id="12" name="dot-단가 수정 탭에">
            <a:extLst xmlns:a="http://schemas.openxmlformats.org/drawingml/2006/main">
              <a:ext uri="{FF2B5EF4-FFF2-40B4-BE49-F238E27FC236}">
                <a16:creationId xmlns:a16="http://schemas.microsoft.com/office/drawing/2014/main" id="{6F0AEAC9-3362-4A0F-A2F7-C3A8D2792C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249150" y="3009900"/>
            <a:ext cx="76200" cy="7620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2FB7A1"/>
          </a:solidFill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680957DB-97D7-4FBA-9123-348807BCB1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439650" y="3009900"/>
            <a:ext cx="5181600" cy="5524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800" b="0">
                <a:solidFill>
                  <a:srgbClr val="1B2430"/>
                </a:solidFill>
              </a:defRPr>
            </a:pPr>
            <a:r>
              <a:rPr sz="1800" b="0">
                <a:solidFill>
                  <a:srgbClr val="1B2430"/>
                </a:solidFill>
              </a:rPr>
              <a:t>단가 수정 탭에서는 미리보기 후 변경분을 적용합니다.</a:t>
            </a:r>
          </a:p>
        </p:txBody>
      </p:sp>
      <p:sp>
        <p:nvSpPr>
          <p:cNvPr id="14" name="tip-8">
            <a:extLst xmlns:a="http://schemas.openxmlformats.org/drawingml/2006/main">
              <a:ext uri="{FF2B5EF4-FFF2-40B4-BE49-F238E27FC236}">
                <a16:creationId xmlns:a16="http://schemas.microsoft.com/office/drawing/2014/main" id="{8DF561CE-B1E8-4F71-9AD5-0402806D6D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249150" y="3766185"/>
            <a:ext cx="5372100" cy="822960"/>
          </a:xfrm>
          <a:prstGeom xmlns:a="http://schemas.openxmlformats.org/drawingml/2006/main" prst="roundRect">
            <a:avLst>
              <a:gd name="adj" fmla="val 13889"/>
            </a:avLst>
          </a:prstGeom>
          <a:solidFill xmlns:a="http://schemas.openxmlformats.org/drawingml/2006/main">
            <a:srgbClr val="FFF7E7"/>
          </a:solidFill>
          <a:ln xmlns:a="http://schemas.openxmlformats.org/drawingml/2006/main" w="9525">
            <a:solidFill>
              <a:srgbClr val="F3C676"/>
            </a:solidFill>
            <a:prstDash val="solid"/>
          </a:ln>
        </p:spPr>
      </p:sp>
      <p:sp>
        <p:nvSpPr>
          <p:cNvPr id="15" name="tip-text-8">
            <a:extLst xmlns:a="http://schemas.openxmlformats.org/drawingml/2006/main">
              <a:ext uri="{FF2B5EF4-FFF2-40B4-BE49-F238E27FC236}">
                <a16:creationId xmlns:a16="http://schemas.microsoft.com/office/drawing/2014/main" id="{3FF65334-B331-4764-9EF9-3BF83EC0AB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439650" y="3943350"/>
            <a:ext cx="4991100" cy="4953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575" b="0">
                <a:solidFill>
                  <a:srgbClr val="7A4F00"/>
                </a:solidFill>
              </a:defRPr>
            </a:pPr>
            <a:r>
              <a:rPr sz="1575" b="0">
                <a:solidFill>
                  <a:srgbClr val="7A4F00"/>
                </a:solidFill>
              </a:rPr>
              <a:t>단가 변경은 문서 작성 금액에 직접 영향을 주므로 적용 전 대상 품목을 확인합니다.</a:t>
            </a:r>
          </a:p>
        </p:txBody>
      </p:sp>
    </p:spTree>
    <p:extLst>
      <p:ext uri="{BB962C8B-B14F-4D97-AF65-F5344CB8AC3E}">
        <p14:creationId xmlns:p14="http://schemas.microsoft.com/office/powerpoint/2010/main" val="181703294"/>
      </p:ext>
    </p:extLst>
  </p:cSld>
</p:sld>
</file>

<file path=ppt/slides/slide9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slide-9-num">
            <a:extLst xmlns:a="http://schemas.openxmlformats.org/drawingml/2006/main">
              <a:ext uri="{FF2B5EF4-FFF2-40B4-BE49-F238E27FC236}">
                <a16:creationId xmlns:a16="http://schemas.microsoft.com/office/drawing/2014/main" id="{0F7FE43F-DA8A-4E9C-A156-39182CFE98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495300"/>
            <a:ext cx="457200" cy="2667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650" b="1">
                <a:solidFill>
                  <a:srgbClr val="2FB7A1"/>
                </a:solidFill>
              </a:defRPr>
            </a:pPr>
            <a:r>
              <a:rPr sz="1650" b="1">
                <a:solidFill>
                  <a:srgbClr val="2FB7A1"/>
                </a:solidFill>
              </a:rPr>
              <a:t>09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D79D78C6-9081-473F-BC51-42B604E03F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95400" y="495300"/>
            <a:ext cx="91440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FB7A1"/>
          </a:solidFill>
          <a:ln xmlns:a="http://schemas.openxmlformats.org/drawingml/2006/main" w="0">
            <a:solidFill>
              <a:srgbClr val="2FB7A1"/>
            </a:solidFill>
            <a:prstDash val="solid"/>
          </a:ln>
        </p:spPr>
      </p:sp>
      <p:sp>
        <p:nvSpPr>
          <p:cNvPr id="3" name="slide-9-section">
            <a:extLst xmlns:a="http://schemas.openxmlformats.org/drawingml/2006/main">
              <a:ext uri="{FF2B5EF4-FFF2-40B4-BE49-F238E27FC236}">
                <a16:creationId xmlns:a16="http://schemas.microsoft.com/office/drawing/2014/main" id="{E81D0776-00DA-452C-A5AB-41A8E40FD0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81250" y="495300"/>
            <a:ext cx="15240000" cy="2667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650" b="1">
                <a:solidFill>
                  <a:srgbClr val="64748B"/>
                </a:solidFill>
              </a:defRPr>
            </a:pPr>
            <a:r>
              <a:rPr sz="1650" b="1">
                <a:solidFill>
                  <a:srgbClr val="64748B"/>
                </a:solidFill>
              </a:rPr>
              <a:t>정산</a:t>
            </a:r>
          </a:p>
        </p:txBody>
      </p:sp>
      <p:sp>
        <p:nvSpPr>
          <p:cNvPr id="4" name="slide-9-title">
            <a:extLst xmlns:a="http://schemas.openxmlformats.org/drawingml/2006/main">
              <a:ext uri="{FF2B5EF4-FFF2-40B4-BE49-F238E27FC236}">
                <a16:creationId xmlns:a16="http://schemas.microsoft.com/office/drawing/2014/main" id="{312C3DFA-2DBC-41EB-A9AE-8CE6CDAB1E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838200"/>
            <a:ext cx="16954500" cy="5715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3750" b="1">
                <a:solidFill>
                  <a:srgbClr val="1B2430"/>
                </a:solidFill>
              </a:defRPr>
            </a:pPr>
            <a:r>
              <a:rPr sz="3750" b="1">
                <a:solidFill>
                  <a:srgbClr val="1B2430"/>
                </a:solidFill>
              </a:rPr>
              <a:t>월마감은 발행이력 기준으로 월별 입고 내역을 묶습니다.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FEF469D1-2B29-459F-A9D5-B4D43239D1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1504950"/>
            <a:ext cx="9525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</p:spPr>
      </p:sp>
      <p:sp>
        <p:nvSpPr>
          <p:cNvPr id="6" name="screen-frame-07-monthly-closing.png">
            <a:extLst xmlns:a="http://schemas.openxmlformats.org/drawingml/2006/main">
              <a:ext uri="{FF2B5EF4-FFF2-40B4-BE49-F238E27FC236}">
                <a16:creationId xmlns:a16="http://schemas.microsoft.com/office/drawing/2014/main" id="{34B68694-6733-4444-A2B1-AF3C8306D7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1765935"/>
            <a:ext cx="11239500" cy="6324600"/>
          </a:xfrm>
          <a:prstGeom xmlns:a="http://schemas.openxmlformats.org/drawingml/2006/main" prst="roundRect">
            <a:avLst>
              <a:gd name="adj" fmla="val 2108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9050">
            <a:solidFill>
              <a:srgbClr val="DDE5EE"/>
            </a:solidFill>
            <a:prstDash val="solid"/>
          </a:ln>
        </p:spPr>
      </p:sp>
      <p:pic>
        <p:nvPicPr>
          <p:cNvPr id="7" name="screenshot-07-monthly-closing.png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54b86fed65b847dd"/>
          <a:stretch xmlns:a="http://schemas.openxmlformats.org/drawingml/2006/main"/>
        </p:blipFill>
        <p:spPr>
          <a:xfrm xmlns:a="http://schemas.openxmlformats.org/drawingml/2006/main">
            <a:off x="833967" y="1861185"/>
            <a:ext cx="10905067" cy="6134100"/>
          </a:xfrm>
          <a:prstGeom xmlns:a="http://schemas.openxmlformats.org/drawingml/2006/main" prst="rect">
            <a:avLst/>
          </a:prstGeom>
        </p:spPr>
      </p:pic>
      <p:sp>
        <p:nvSpPr>
          <p:cNvPr id="8" name="dot-연월과 납품처를">
            <a:extLst xmlns:a="http://schemas.openxmlformats.org/drawingml/2006/main">
              <a:ext uri="{FF2B5EF4-FFF2-40B4-BE49-F238E27FC236}">
                <a16:creationId xmlns:a16="http://schemas.microsoft.com/office/drawing/2014/main" id="{8C21D8EF-0302-4612-999D-8C8D6EC144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249150" y="1771650"/>
            <a:ext cx="76200" cy="7620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2FB7A1"/>
          </a:solidFill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278FD0AA-0BEF-491E-9234-80013A900C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439650" y="1771650"/>
            <a:ext cx="5181600" cy="5524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800" b="0">
                <a:solidFill>
                  <a:srgbClr val="1B2430"/>
                </a:solidFill>
              </a:defRPr>
            </a:pPr>
            <a:r>
              <a:rPr sz="1800" b="0">
                <a:solidFill>
                  <a:srgbClr val="1B2430"/>
                </a:solidFill>
              </a:rPr>
              <a:t>연월과 납품처를 선택해 품목별 입고 내역을 확인합니다.</a:t>
            </a:r>
          </a:p>
        </p:txBody>
      </p:sp>
      <p:sp>
        <p:nvSpPr>
          <p:cNvPr id="10" name="dot-비고란은 입력">
            <a:extLst xmlns:a="http://schemas.openxmlformats.org/drawingml/2006/main">
              <a:ext uri="{FF2B5EF4-FFF2-40B4-BE49-F238E27FC236}">
                <a16:creationId xmlns:a16="http://schemas.microsoft.com/office/drawing/2014/main" id="{4B207361-FB4B-4799-A91B-C052B0DCF3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249150" y="2533650"/>
            <a:ext cx="76200" cy="7620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2FB7A1"/>
          </a:solidFill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B6127507-4CE3-41C9-8998-4B64DF8499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439650" y="2533650"/>
            <a:ext cx="5181600" cy="2857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800" b="0">
                <a:solidFill>
                  <a:srgbClr val="1B2430"/>
                </a:solidFill>
              </a:defRPr>
            </a:pPr>
            <a:r>
              <a:rPr sz="1800" b="0">
                <a:solidFill>
                  <a:srgbClr val="1B2430"/>
                </a:solidFill>
              </a:rPr>
              <a:t>비고란은 입력 후 Enter로 저장합니다.</a:t>
            </a:r>
          </a:p>
        </p:txBody>
      </p:sp>
      <p:sp>
        <p:nvSpPr>
          <p:cNvPr id="12" name="dot-월마감 엑셀과">
            <a:extLst xmlns:a="http://schemas.openxmlformats.org/drawingml/2006/main">
              <a:ext uri="{FF2B5EF4-FFF2-40B4-BE49-F238E27FC236}">
                <a16:creationId xmlns:a16="http://schemas.microsoft.com/office/drawing/2014/main" id="{83BC1341-2564-4D91-B617-08CEB54C81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249150" y="3009900"/>
            <a:ext cx="76200" cy="7620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2FB7A1"/>
          </a:solidFill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B7B9AF3C-E472-4244-B288-8920CCC133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439650" y="3009900"/>
            <a:ext cx="5181600" cy="5524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800" b="0">
                <a:solidFill>
                  <a:srgbClr val="1B2430"/>
                </a:solidFill>
              </a:defRPr>
            </a:pPr>
            <a:r>
              <a:rPr sz="1800" b="0">
                <a:solidFill>
                  <a:srgbClr val="1B2430"/>
                </a:solidFill>
              </a:rPr>
              <a:t>월마감 엑셀과 종합장 엑셀을 다운로드할 수 있습니다.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5707EAD1-0723-48A8-B828-8D59EE705E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249150" y="3771900"/>
            <a:ext cx="9525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</p:spPr>
      </p:sp>
    </p:spTree>
    <p:extLst>
      <p:ext uri="{BB962C8B-B14F-4D97-AF65-F5344CB8AC3E}">
        <p14:creationId xmlns:p14="http://schemas.microsoft.com/office/powerpoint/2010/main" val="1667711845"/>
      </p:ext>
    </p:extLst>
  </p:cSld>
</p:sld>
</file>

<file path=ppt/slides/slide10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slide-10-num">
            <a:extLst xmlns:a="http://schemas.openxmlformats.org/drawingml/2006/main">
              <a:ext uri="{FF2B5EF4-FFF2-40B4-BE49-F238E27FC236}">
                <a16:creationId xmlns:a16="http://schemas.microsoft.com/office/drawing/2014/main" id="{7F0D8739-13CE-45F9-BC1D-87EBB1D706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495300"/>
            <a:ext cx="457200" cy="2667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650" b="1">
                <a:solidFill>
                  <a:srgbClr val="2FB7A1"/>
                </a:solidFill>
              </a:defRPr>
            </a:pPr>
            <a:r>
              <a:rPr sz="1650" b="1">
                <a:solidFill>
                  <a:srgbClr val="2FB7A1"/>
                </a:solidFill>
              </a:rPr>
              <a:t>10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C8664B6C-5203-48FC-9DC1-8C2F9F1C21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95400" y="495300"/>
            <a:ext cx="91440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FB7A1"/>
          </a:solidFill>
          <a:ln xmlns:a="http://schemas.openxmlformats.org/drawingml/2006/main" w="0">
            <a:solidFill>
              <a:srgbClr val="2FB7A1"/>
            </a:solidFill>
            <a:prstDash val="solid"/>
          </a:ln>
        </p:spPr>
      </p:sp>
      <p:sp>
        <p:nvSpPr>
          <p:cNvPr id="3" name="slide-10-section">
            <a:extLst xmlns:a="http://schemas.openxmlformats.org/drawingml/2006/main">
              <a:ext uri="{FF2B5EF4-FFF2-40B4-BE49-F238E27FC236}">
                <a16:creationId xmlns:a16="http://schemas.microsoft.com/office/drawing/2014/main" id="{6E8A827C-E5E9-4BE2-8DFA-E75FCA2449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81250" y="495300"/>
            <a:ext cx="15240000" cy="2667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650" b="1">
                <a:solidFill>
                  <a:srgbClr val="64748B"/>
                </a:solidFill>
              </a:defRPr>
            </a:pPr>
            <a:r>
              <a:rPr sz="1650" b="1">
                <a:solidFill>
                  <a:srgbClr val="64748B"/>
                </a:solidFill>
              </a:rPr>
              <a:t>정산</a:t>
            </a:r>
          </a:p>
        </p:txBody>
      </p:sp>
      <p:sp>
        <p:nvSpPr>
          <p:cNvPr id="4" name="slide-10-title">
            <a:extLst xmlns:a="http://schemas.openxmlformats.org/drawingml/2006/main">
              <a:ext uri="{FF2B5EF4-FFF2-40B4-BE49-F238E27FC236}">
                <a16:creationId xmlns:a16="http://schemas.microsoft.com/office/drawing/2014/main" id="{973D6AC9-6202-4AFA-95D8-9A9EB37229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838200"/>
            <a:ext cx="16954500" cy="5715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3750" b="1">
                <a:solidFill>
                  <a:srgbClr val="1B2430"/>
                </a:solidFill>
              </a:defRPr>
            </a:pPr>
            <a:r>
              <a:rPr sz="3750" b="1">
                <a:solidFill>
                  <a:srgbClr val="1B2430"/>
                </a:solidFill>
              </a:rPr>
              <a:t>일일판매는 관리자용 판매 현황 화면입니다.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FAE76959-2EA3-4FE6-B86B-32A09C80F0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1504950"/>
            <a:ext cx="9525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</p:spPr>
      </p:sp>
      <p:sp>
        <p:nvSpPr>
          <p:cNvPr id="6" name="screen-frame-08-daily-sales.png">
            <a:extLst xmlns:a="http://schemas.openxmlformats.org/drawingml/2006/main">
              <a:ext uri="{FF2B5EF4-FFF2-40B4-BE49-F238E27FC236}">
                <a16:creationId xmlns:a16="http://schemas.microsoft.com/office/drawing/2014/main" id="{88742C68-A390-47E2-AB8F-382D6E745B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1765935"/>
            <a:ext cx="11239500" cy="6324600"/>
          </a:xfrm>
          <a:prstGeom xmlns:a="http://schemas.openxmlformats.org/drawingml/2006/main" prst="roundRect">
            <a:avLst>
              <a:gd name="adj" fmla="val 2108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9050">
            <a:solidFill>
              <a:srgbClr val="DDE5EE"/>
            </a:solidFill>
            <a:prstDash val="solid"/>
          </a:ln>
        </p:spPr>
      </p:sp>
      <p:pic>
        <p:nvPicPr>
          <p:cNvPr id="7" name="screenshot-08-daily-sales.png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0484fabe19ea402e"/>
          <a:stretch xmlns:a="http://schemas.openxmlformats.org/drawingml/2006/main"/>
        </p:blipFill>
        <p:spPr>
          <a:xfrm xmlns:a="http://schemas.openxmlformats.org/drawingml/2006/main">
            <a:off x="897864" y="1861185"/>
            <a:ext cx="10777273" cy="6134100"/>
          </a:xfrm>
          <a:prstGeom xmlns:a="http://schemas.openxmlformats.org/drawingml/2006/main" prst="rect">
            <a:avLst/>
          </a:prstGeom>
        </p:spPr>
      </p:pic>
      <p:sp>
        <p:nvSpPr>
          <p:cNvPr id="8" name="dot-월 단위로 납품">
            <a:extLst xmlns:a="http://schemas.openxmlformats.org/drawingml/2006/main">
              <a:ext uri="{FF2B5EF4-FFF2-40B4-BE49-F238E27FC236}">
                <a16:creationId xmlns:a16="http://schemas.microsoft.com/office/drawing/2014/main" id="{7D60E219-8B39-4E0D-A280-0FA9722348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249150" y="1771650"/>
            <a:ext cx="76200" cy="7620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2FB7A1"/>
          </a:solidFill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F7344B4E-BCAA-4927-A3EF-D171060C9B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439650" y="1771650"/>
            <a:ext cx="5181600" cy="5524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800" b="0">
                <a:solidFill>
                  <a:srgbClr val="1B2430"/>
                </a:solidFill>
              </a:defRPr>
            </a:pPr>
            <a:r>
              <a:rPr sz="1800" b="0">
                <a:solidFill>
                  <a:srgbClr val="1B2430"/>
                </a:solidFill>
              </a:rPr>
              <a:t>월 단위로 납품처, 품목명, 수신처 기준 판매를 조회합니다.</a:t>
            </a:r>
          </a:p>
        </p:txBody>
      </p:sp>
      <p:sp>
        <p:nvSpPr>
          <p:cNvPr id="10" name="dot-총수량, 입고금">
            <a:extLst xmlns:a="http://schemas.openxmlformats.org/drawingml/2006/main">
              <a:ext uri="{FF2B5EF4-FFF2-40B4-BE49-F238E27FC236}">
                <a16:creationId xmlns:a16="http://schemas.microsoft.com/office/drawing/2014/main" id="{074443E1-8FAD-4BA7-BF32-3032D46FC4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249150" y="2533650"/>
            <a:ext cx="76200" cy="7620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2FB7A1"/>
          </a:solidFill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54E65A9A-5EB7-481D-918B-2EC735DBD3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439650" y="2533650"/>
            <a:ext cx="5181600" cy="5524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800" b="0">
                <a:solidFill>
                  <a:srgbClr val="1B2430"/>
                </a:solidFill>
              </a:defRPr>
            </a:pPr>
            <a:r>
              <a:rPr sz="1800" b="0">
                <a:solidFill>
                  <a:srgbClr val="1B2430"/>
                </a:solidFill>
              </a:rPr>
              <a:t>총수량, 입고금액, 출고금액과 일자별 수량을 확인합니다.</a:t>
            </a:r>
          </a:p>
        </p:txBody>
      </p:sp>
      <p:sp>
        <p:nvSpPr>
          <p:cNvPr id="12" name="dot-비고란을 입력해">
            <a:extLst xmlns:a="http://schemas.openxmlformats.org/drawingml/2006/main">
              <a:ext uri="{FF2B5EF4-FFF2-40B4-BE49-F238E27FC236}">
                <a16:creationId xmlns:a16="http://schemas.microsoft.com/office/drawing/2014/main" id="{19D1979A-6391-4702-BA49-C3CDB363FF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249150" y="3276600"/>
            <a:ext cx="76200" cy="7620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2FB7A1"/>
          </a:solidFill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EB170F94-DBA5-4715-9480-156A03FBDB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439650" y="3276600"/>
            <a:ext cx="5181600" cy="2857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800" b="0">
                <a:solidFill>
                  <a:srgbClr val="1B2430"/>
                </a:solidFill>
              </a:defRPr>
            </a:pPr>
            <a:r>
              <a:rPr sz="1800" b="0">
                <a:solidFill>
                  <a:srgbClr val="1B2430"/>
                </a:solidFill>
              </a:rPr>
              <a:t>비고란을 입력해 월별 판매 메모를 관리합니다.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9FC20E77-8E6C-4181-B214-ABF7B15A37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249150" y="3771900"/>
            <a:ext cx="9525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</p:spPr>
      </p:sp>
    </p:spTree>
    <p:extLst>
      <p:ext uri="{BB962C8B-B14F-4D97-AF65-F5344CB8AC3E}">
        <p14:creationId xmlns:p14="http://schemas.microsoft.com/office/powerpoint/2010/main" val="148257474"/>
      </p:ext>
    </p:extLst>
  </p:cSld>
</p:sld>
</file>

<file path=ppt/slides/slide11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slide-11-num">
            <a:extLst xmlns:a="http://schemas.openxmlformats.org/drawingml/2006/main">
              <a:ext uri="{FF2B5EF4-FFF2-40B4-BE49-F238E27FC236}">
                <a16:creationId xmlns:a16="http://schemas.microsoft.com/office/drawing/2014/main" id="{CB715D1D-266C-48F9-B1FE-B8DBC552C5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495300"/>
            <a:ext cx="457200" cy="2667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650" b="1">
                <a:solidFill>
                  <a:srgbClr val="2FB7A1"/>
                </a:solidFill>
              </a:defRPr>
            </a:pPr>
            <a:r>
              <a:rPr sz="1650" b="1">
                <a:solidFill>
                  <a:srgbClr val="2FB7A1"/>
                </a:solidFill>
              </a:rPr>
              <a:t>11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C2A79F02-7702-4A03-8D03-765BE56D2F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95400" y="495300"/>
            <a:ext cx="91440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FB7A1"/>
          </a:solidFill>
          <a:ln xmlns:a="http://schemas.openxmlformats.org/drawingml/2006/main" w="0">
            <a:solidFill>
              <a:srgbClr val="2FB7A1"/>
            </a:solidFill>
            <a:prstDash val="solid"/>
          </a:ln>
        </p:spPr>
      </p:sp>
      <p:sp>
        <p:nvSpPr>
          <p:cNvPr id="3" name="slide-11-section">
            <a:extLst xmlns:a="http://schemas.openxmlformats.org/drawingml/2006/main">
              <a:ext uri="{FF2B5EF4-FFF2-40B4-BE49-F238E27FC236}">
                <a16:creationId xmlns:a16="http://schemas.microsoft.com/office/drawing/2014/main" id="{54BB3080-8E37-4FCF-AC29-7824E5A085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81250" y="495300"/>
            <a:ext cx="15240000" cy="2667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650" b="1">
                <a:solidFill>
                  <a:srgbClr val="64748B"/>
                </a:solidFill>
              </a:defRPr>
            </a:pPr>
            <a:r>
              <a:rPr sz="1650" b="1">
                <a:solidFill>
                  <a:srgbClr val="64748B"/>
                </a:solidFill>
              </a:rPr>
              <a:t>관리자</a:t>
            </a:r>
          </a:p>
        </p:txBody>
      </p:sp>
      <p:sp>
        <p:nvSpPr>
          <p:cNvPr id="4" name="slide-11-title">
            <a:extLst xmlns:a="http://schemas.openxmlformats.org/drawingml/2006/main">
              <a:ext uri="{FF2B5EF4-FFF2-40B4-BE49-F238E27FC236}">
                <a16:creationId xmlns:a16="http://schemas.microsoft.com/office/drawing/2014/main" id="{1C92D107-23F8-409D-BCB4-1B57E76E5B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838200"/>
            <a:ext cx="16954500" cy="5715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3750" b="1">
                <a:solidFill>
                  <a:srgbClr val="1B2430"/>
                </a:solidFill>
              </a:defRPr>
            </a:pPr>
            <a:r>
              <a:rPr sz="3750" b="1">
                <a:solidFill>
                  <a:srgbClr val="1B2430"/>
                </a:solidFill>
              </a:rPr>
              <a:t>계정 관리는 사용자와 권한을 관리합니다.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0B170026-BA3A-4F9A-AB09-A7B6DA69B3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1504950"/>
            <a:ext cx="9525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</p:spPr>
      </p:sp>
      <p:sp>
        <p:nvSpPr>
          <p:cNvPr id="6" name="screen-frame-09-account.png">
            <a:extLst xmlns:a="http://schemas.openxmlformats.org/drawingml/2006/main">
              <a:ext uri="{FF2B5EF4-FFF2-40B4-BE49-F238E27FC236}">
                <a16:creationId xmlns:a16="http://schemas.microsoft.com/office/drawing/2014/main" id="{77E956B1-6FE3-43DE-B1F5-BEE12AC671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1765935"/>
            <a:ext cx="11239500" cy="6324600"/>
          </a:xfrm>
          <a:prstGeom xmlns:a="http://schemas.openxmlformats.org/drawingml/2006/main" prst="roundRect">
            <a:avLst>
              <a:gd name="adj" fmla="val 2108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9050">
            <a:solidFill>
              <a:srgbClr val="DDE5EE"/>
            </a:solidFill>
            <a:prstDash val="solid"/>
          </a:ln>
        </p:spPr>
      </p:sp>
      <p:pic>
        <p:nvPicPr>
          <p:cNvPr id="7" name="screenshot-09-account.png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8228557a3cd04fe6"/>
          <a:stretch xmlns:a="http://schemas.openxmlformats.org/drawingml/2006/main"/>
        </p:blipFill>
        <p:spPr>
          <a:xfrm xmlns:a="http://schemas.openxmlformats.org/drawingml/2006/main">
            <a:off x="833967" y="1861185"/>
            <a:ext cx="10905067" cy="6134100"/>
          </a:xfrm>
          <a:prstGeom xmlns:a="http://schemas.openxmlformats.org/drawingml/2006/main" prst="rect">
            <a:avLst/>
          </a:prstGeom>
        </p:spPr>
      </p:pic>
      <p:sp>
        <p:nvSpPr>
          <p:cNvPr id="8" name="dot-아이디, 이름,">
            <a:extLst xmlns:a="http://schemas.openxmlformats.org/drawingml/2006/main">
              <a:ext uri="{FF2B5EF4-FFF2-40B4-BE49-F238E27FC236}">
                <a16:creationId xmlns:a16="http://schemas.microsoft.com/office/drawing/2014/main" id="{CA97BBFD-3542-42EF-B24B-D8951641F5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249150" y="1771650"/>
            <a:ext cx="76200" cy="7620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2FB7A1"/>
          </a:solidFill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E3041F98-8147-4E53-9AEC-237D361E94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439650" y="1771650"/>
            <a:ext cx="5181600" cy="2857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800" b="0">
                <a:solidFill>
                  <a:srgbClr val="1B2430"/>
                </a:solidFill>
              </a:defRPr>
            </a:pPr>
            <a:r>
              <a:rPr sz="1800" b="0">
                <a:solidFill>
                  <a:srgbClr val="1B2430"/>
                </a:solidFill>
              </a:rPr>
              <a:t>아이디, 이름, 직급, 연락처, 이메일로 검색합니다.</a:t>
            </a:r>
          </a:p>
        </p:txBody>
      </p:sp>
      <p:sp>
        <p:nvSpPr>
          <p:cNvPr id="10" name="dot-계정 추가와 수">
            <a:extLst xmlns:a="http://schemas.openxmlformats.org/drawingml/2006/main">
              <a:ext uri="{FF2B5EF4-FFF2-40B4-BE49-F238E27FC236}">
                <a16:creationId xmlns:a16="http://schemas.microsoft.com/office/drawing/2014/main" id="{E58AC621-6B24-42CF-9B3D-4382B44255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249150" y="2247900"/>
            <a:ext cx="76200" cy="7620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2FB7A1"/>
          </a:solidFill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2C05591F-1915-4A29-A1A7-97DA61A635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439650" y="2247900"/>
            <a:ext cx="5181600" cy="2857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800" b="0">
                <a:solidFill>
                  <a:srgbClr val="1B2430"/>
                </a:solidFill>
              </a:defRPr>
            </a:pPr>
            <a:r>
              <a:rPr sz="1800" b="0">
                <a:solidFill>
                  <a:srgbClr val="1B2430"/>
                </a:solidFill>
              </a:rPr>
              <a:t>계정 추가와 수정, 비밀번호 초기화를 처리합니다.</a:t>
            </a:r>
          </a:p>
        </p:txBody>
      </p:sp>
      <p:sp>
        <p:nvSpPr>
          <p:cNvPr id="12" name="dot-권한은 일반 사">
            <a:extLst xmlns:a="http://schemas.openxmlformats.org/drawingml/2006/main">
              <a:ext uri="{FF2B5EF4-FFF2-40B4-BE49-F238E27FC236}">
                <a16:creationId xmlns:a16="http://schemas.microsoft.com/office/drawing/2014/main" id="{F9D0FA10-C0C5-428B-BCF7-E5054E78AF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249150" y="2743200"/>
            <a:ext cx="76200" cy="7620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2FB7A1"/>
          </a:solidFill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1D8A21EA-EA9A-41A8-A8A0-FA39AF435B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439650" y="2743200"/>
            <a:ext cx="5181600" cy="2857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800" b="0">
                <a:solidFill>
                  <a:srgbClr val="1B2430"/>
                </a:solidFill>
              </a:defRPr>
            </a:pPr>
            <a:r>
              <a:rPr sz="1800" b="0">
                <a:solidFill>
                  <a:srgbClr val="1B2430"/>
                </a:solidFill>
              </a:rPr>
              <a:t>권한은 일반 사용자와 관리자로 구분합니다.</a:t>
            </a:r>
          </a:p>
        </p:txBody>
      </p:sp>
      <p:sp>
        <p:nvSpPr>
          <p:cNvPr id="14" name="tip-11">
            <a:extLst xmlns:a="http://schemas.openxmlformats.org/drawingml/2006/main">
              <a:ext uri="{FF2B5EF4-FFF2-40B4-BE49-F238E27FC236}">
                <a16:creationId xmlns:a16="http://schemas.microsoft.com/office/drawing/2014/main" id="{59B8A89E-DE2D-4ECF-8961-9DB05598AB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249150" y="3217545"/>
            <a:ext cx="5372100" cy="822960"/>
          </a:xfrm>
          <a:prstGeom xmlns:a="http://schemas.openxmlformats.org/drawingml/2006/main" prst="roundRect">
            <a:avLst>
              <a:gd name="adj" fmla="val 13889"/>
            </a:avLst>
          </a:prstGeom>
          <a:solidFill xmlns:a="http://schemas.openxmlformats.org/drawingml/2006/main">
            <a:srgbClr val="FFF7E7"/>
          </a:solidFill>
          <a:ln xmlns:a="http://schemas.openxmlformats.org/drawingml/2006/main" w="9525">
            <a:solidFill>
              <a:srgbClr val="F3C676"/>
            </a:solidFill>
            <a:prstDash val="solid"/>
          </a:ln>
        </p:spPr>
      </p:sp>
      <p:sp>
        <p:nvSpPr>
          <p:cNvPr id="15" name="tip-text-11">
            <a:extLst xmlns:a="http://schemas.openxmlformats.org/drawingml/2006/main">
              <a:ext uri="{FF2B5EF4-FFF2-40B4-BE49-F238E27FC236}">
                <a16:creationId xmlns:a16="http://schemas.microsoft.com/office/drawing/2014/main" id="{90E1520D-AB35-447B-A126-8838F5D49D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439650" y="3390900"/>
            <a:ext cx="4991100" cy="4953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575" b="0">
                <a:solidFill>
                  <a:srgbClr val="7A4F00"/>
                </a:solidFill>
              </a:defRPr>
            </a:pPr>
            <a:r>
              <a:rPr sz="1575" b="0">
                <a:solidFill>
                  <a:srgbClr val="7A4F00"/>
                </a:solidFill>
              </a:rPr>
              <a:t>관리자 권한은 일일판매와 계정 관리 접근까지 포함합니다.</a:t>
            </a:r>
          </a:p>
        </p:txBody>
      </p:sp>
    </p:spTree>
    <p:extLst>
      <p:ext uri="{BB962C8B-B14F-4D97-AF65-F5344CB8AC3E}">
        <p14:creationId xmlns:p14="http://schemas.microsoft.com/office/powerpoint/2010/main" val="1086514774"/>
      </p:ext>
    </p:extLst>
  </p:cSld>
</p:sld>
</file>

<file path=ppt/slides/slide12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slide-12-num">
            <a:extLst xmlns:a="http://schemas.openxmlformats.org/drawingml/2006/main">
              <a:ext uri="{FF2B5EF4-FFF2-40B4-BE49-F238E27FC236}">
                <a16:creationId xmlns:a16="http://schemas.microsoft.com/office/drawing/2014/main" id="{C4E8A365-CAC9-4916-802E-10E5B9358D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495300"/>
            <a:ext cx="457200" cy="2667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650" b="1">
                <a:solidFill>
                  <a:srgbClr val="2FB7A1"/>
                </a:solidFill>
              </a:defRPr>
            </a:pPr>
            <a:r>
              <a:rPr sz="1650" b="1">
                <a:solidFill>
                  <a:srgbClr val="2FB7A1"/>
                </a:solidFill>
              </a:rPr>
              <a:t>12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550F4E45-905E-4313-985C-304E1B2EC0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95400" y="495300"/>
            <a:ext cx="91440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FB7A1"/>
          </a:solidFill>
          <a:ln xmlns:a="http://schemas.openxmlformats.org/drawingml/2006/main" w="0">
            <a:solidFill>
              <a:srgbClr val="2FB7A1"/>
            </a:solidFill>
            <a:prstDash val="solid"/>
          </a:ln>
        </p:spPr>
      </p:sp>
      <p:sp>
        <p:nvSpPr>
          <p:cNvPr id="3" name="slide-12-section">
            <a:extLst xmlns:a="http://schemas.openxmlformats.org/drawingml/2006/main">
              <a:ext uri="{FF2B5EF4-FFF2-40B4-BE49-F238E27FC236}">
                <a16:creationId xmlns:a16="http://schemas.microsoft.com/office/drawing/2014/main" id="{3B7A6422-336D-4E99-BB2F-08318D8AD3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81250" y="495300"/>
            <a:ext cx="15240000" cy="2667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650" b="1">
                <a:solidFill>
                  <a:srgbClr val="64748B"/>
                </a:solidFill>
              </a:defRPr>
            </a:pPr>
            <a:r>
              <a:rPr sz="1650" b="1">
                <a:solidFill>
                  <a:srgbClr val="64748B"/>
                </a:solidFill>
              </a:rPr>
              <a:t>자료실</a:t>
            </a:r>
          </a:p>
        </p:txBody>
      </p:sp>
      <p:sp>
        <p:nvSpPr>
          <p:cNvPr id="4" name="slide-12-title">
            <a:extLst xmlns:a="http://schemas.openxmlformats.org/drawingml/2006/main">
              <a:ext uri="{FF2B5EF4-FFF2-40B4-BE49-F238E27FC236}">
                <a16:creationId xmlns:a16="http://schemas.microsoft.com/office/drawing/2014/main" id="{E71A5DBA-B069-45A5-8002-30C947EE16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838200"/>
            <a:ext cx="16954500" cy="5715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3750" b="1">
                <a:solidFill>
                  <a:srgbClr val="1B2430"/>
                </a:solidFill>
              </a:defRPr>
            </a:pPr>
            <a:r>
              <a:rPr sz="3750" b="1">
                <a:solidFill>
                  <a:srgbClr val="1B2430"/>
                </a:solidFill>
              </a:rPr>
              <a:t>보도자료는 수집된 외부 자료를 확인하는 공간입니다.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038E8126-FF4D-4E84-903A-3390891A90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1504950"/>
            <a:ext cx="9525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</p:spPr>
      </p:sp>
      <p:sp>
        <p:nvSpPr>
          <p:cNvPr id="6" name="screen-frame-10-press-releases.png">
            <a:extLst xmlns:a="http://schemas.openxmlformats.org/drawingml/2006/main">
              <a:ext uri="{FF2B5EF4-FFF2-40B4-BE49-F238E27FC236}">
                <a16:creationId xmlns:a16="http://schemas.microsoft.com/office/drawing/2014/main" id="{8A48DF5B-D529-4D67-B21B-26473890FC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1765935"/>
            <a:ext cx="11239500" cy="6324600"/>
          </a:xfrm>
          <a:prstGeom xmlns:a="http://schemas.openxmlformats.org/drawingml/2006/main" prst="roundRect">
            <a:avLst>
              <a:gd name="adj" fmla="val 2108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9050">
            <a:solidFill>
              <a:srgbClr val="DDE5EE"/>
            </a:solidFill>
            <a:prstDash val="solid"/>
          </a:ln>
        </p:spPr>
      </p:sp>
      <p:pic>
        <p:nvPicPr>
          <p:cNvPr id="7" name="screenshot-10-press-releases.png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e5abea2d578c4bd7"/>
          <a:stretch xmlns:a="http://schemas.openxmlformats.org/drawingml/2006/main"/>
        </p:blipFill>
        <p:spPr>
          <a:xfrm xmlns:a="http://schemas.openxmlformats.org/drawingml/2006/main">
            <a:off x="897864" y="1861185"/>
            <a:ext cx="10777273" cy="6134100"/>
          </a:xfrm>
          <a:prstGeom xmlns:a="http://schemas.openxmlformats.org/drawingml/2006/main" prst="rect">
            <a:avLst/>
          </a:prstGeom>
        </p:spPr>
      </p:pic>
      <p:sp>
        <p:nvSpPr>
          <p:cNvPr id="8" name="dot-목록에서 제목,">
            <a:extLst xmlns:a="http://schemas.openxmlformats.org/drawingml/2006/main">
              <a:ext uri="{FF2B5EF4-FFF2-40B4-BE49-F238E27FC236}">
                <a16:creationId xmlns:a16="http://schemas.microsoft.com/office/drawing/2014/main" id="{A2969637-CBF9-464C-ADA8-3419B46CC0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249150" y="1771650"/>
            <a:ext cx="76200" cy="7620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2FB7A1"/>
          </a:solidFill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418DBB55-52E5-475C-9AA2-BDAF62DFE8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439650" y="1771650"/>
            <a:ext cx="5181600" cy="2857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800" b="0">
                <a:solidFill>
                  <a:srgbClr val="1B2430"/>
                </a:solidFill>
              </a:defRPr>
            </a:pPr>
            <a:r>
              <a:rPr sz="1800" b="0">
                <a:solidFill>
                  <a:srgbClr val="1B2430"/>
                </a:solidFill>
              </a:rPr>
              <a:t>목록에서 제목, 발행일, 요약 정보를 확인합니다.</a:t>
            </a:r>
          </a:p>
        </p:txBody>
      </p:sp>
      <p:sp>
        <p:nvSpPr>
          <p:cNvPr id="10" name="dot-항목을 클릭하면">
            <a:extLst xmlns:a="http://schemas.openxmlformats.org/drawingml/2006/main">
              <a:ext uri="{FF2B5EF4-FFF2-40B4-BE49-F238E27FC236}">
                <a16:creationId xmlns:a16="http://schemas.microsoft.com/office/drawing/2014/main" id="{1A5DEBDA-823B-407A-AA05-51C1956966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249150" y="2247900"/>
            <a:ext cx="76200" cy="7620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2FB7A1"/>
          </a:solidFill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5AB702E3-065A-4C79-9D56-6D2A9C05B9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439650" y="2247900"/>
            <a:ext cx="5181600" cy="2857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800" b="0">
                <a:solidFill>
                  <a:srgbClr val="1B2430"/>
                </a:solidFill>
              </a:defRPr>
            </a:pPr>
            <a:r>
              <a:rPr sz="1800" b="0">
                <a:solidFill>
                  <a:srgbClr val="1B2430"/>
                </a:solidFill>
              </a:rPr>
              <a:t>항목을 클릭하면 상세 화면에서 본문을 확인합니다.</a:t>
            </a:r>
          </a:p>
        </p:txBody>
      </p:sp>
      <p:sp>
        <p:nvSpPr>
          <p:cNvPr id="12" name="dot-업무 참고 자료">
            <a:extLst xmlns:a="http://schemas.openxmlformats.org/drawingml/2006/main">
              <a:ext uri="{FF2B5EF4-FFF2-40B4-BE49-F238E27FC236}">
                <a16:creationId xmlns:a16="http://schemas.microsoft.com/office/drawing/2014/main" id="{046F1BAB-90EF-4967-BD9D-B5E0D33C74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249150" y="2743200"/>
            <a:ext cx="76200" cy="7620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2FB7A1"/>
          </a:solidFill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49DF46D9-0B42-4704-8CD4-9DE9F41DD9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439650" y="2743200"/>
            <a:ext cx="5181600" cy="5524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800" b="0">
                <a:solidFill>
                  <a:srgbClr val="1B2430"/>
                </a:solidFill>
              </a:defRPr>
            </a:pPr>
            <a:r>
              <a:rPr sz="1800" b="0">
                <a:solidFill>
                  <a:srgbClr val="1B2430"/>
                </a:solidFill>
              </a:rPr>
              <a:t>업무 참고 자료로 활용하고, 핵심 업무 데이터와는 분리해 관리합니다.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014F58A4-0080-4C65-9C51-0725461196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249150" y="3486150"/>
            <a:ext cx="9525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</p:spPr>
      </p:sp>
    </p:spTree>
    <p:extLst>
      <p:ext uri="{BB962C8B-B14F-4D97-AF65-F5344CB8AC3E}">
        <p14:creationId xmlns:p14="http://schemas.microsoft.com/office/powerpoint/2010/main" val="1070781167"/>
      </p:ext>
    </p:extLst>
  </p:cSld>
</p:sld>
</file>

<file path=ppt/slides/slide13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slide-13-num">
            <a:extLst xmlns:a="http://schemas.openxmlformats.org/drawingml/2006/main">
              <a:ext uri="{FF2B5EF4-FFF2-40B4-BE49-F238E27FC236}">
                <a16:creationId xmlns:a16="http://schemas.microsoft.com/office/drawing/2014/main" id="{AAF250C1-07F7-4AE5-856A-C84C334441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762000"/>
            <a:ext cx="457200" cy="2667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650" b="1">
                <a:solidFill>
                  <a:srgbClr val="2FB7A1"/>
                </a:solidFill>
              </a:defRPr>
            </a:pPr>
            <a:r>
              <a:rPr sz="1650" b="1">
                <a:solidFill>
                  <a:srgbClr val="2FB7A1"/>
                </a:solidFill>
              </a:rPr>
              <a:t>13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3DCF602B-540D-4D27-977B-C1D6A48ABA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81150" y="762000"/>
            <a:ext cx="91440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FB7A1"/>
          </a:solidFill>
          <a:ln xmlns:a="http://schemas.openxmlformats.org/drawingml/2006/main" w="0">
            <a:solidFill>
              <a:srgbClr val="2FB7A1"/>
            </a:solidFill>
            <a:prstDash val="solid"/>
          </a:ln>
        </p:spPr>
      </p:sp>
      <p:sp>
        <p:nvSpPr>
          <p:cNvPr id="3" name="slide-13-section">
            <a:extLst xmlns:a="http://schemas.openxmlformats.org/drawingml/2006/main">
              <a:ext uri="{FF2B5EF4-FFF2-40B4-BE49-F238E27FC236}">
                <a16:creationId xmlns:a16="http://schemas.microsoft.com/office/drawing/2014/main" id="{1C6766D9-9784-4444-BB79-88526A6BC3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67000" y="762000"/>
            <a:ext cx="14668500" cy="2667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650" b="1">
                <a:solidFill>
                  <a:srgbClr val="64748B"/>
                </a:solidFill>
              </a:defRPr>
            </a:pPr>
            <a:r>
              <a:rPr sz="1650" b="1">
                <a:solidFill>
                  <a:srgbClr val="64748B"/>
                </a:solidFill>
              </a:rPr>
              <a:t>운영 메모</a:t>
            </a:r>
          </a:p>
        </p:txBody>
      </p:sp>
      <p:sp>
        <p:nvSpPr>
          <p:cNvPr id="4" name="slide-13-title">
            <a:extLst xmlns:a="http://schemas.openxmlformats.org/drawingml/2006/main">
              <a:ext uri="{FF2B5EF4-FFF2-40B4-BE49-F238E27FC236}">
                <a16:creationId xmlns:a16="http://schemas.microsoft.com/office/drawing/2014/main" id="{1B243D57-00E6-4CD0-8BDC-30725CBAD9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1104900"/>
            <a:ext cx="16383000" cy="5715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3750" b="1">
                <a:solidFill>
                  <a:srgbClr val="1B2430"/>
                </a:solidFill>
              </a:defRPr>
            </a:pPr>
            <a:r>
              <a:rPr sz="3750" b="1">
                <a:solidFill>
                  <a:srgbClr val="1B2430"/>
                </a:solidFill>
              </a:rPr>
              <a:t>업무 품질을 지키는 핵심 체크포인트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96B8C221-0532-47F5-B57A-462CD3F51D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1771650"/>
            <a:ext cx="9525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6DD24348-4BFB-4099-9A7B-D36CF0F536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2108835"/>
            <a:ext cx="8067675" cy="3584258"/>
          </a:xfrm>
          <a:prstGeom xmlns:a="http://schemas.openxmlformats.org/drawingml/2006/main" prst="roundRect">
            <a:avLst>
              <a:gd name="adj" fmla="val 4252"/>
            </a:avLst>
          </a:prstGeom>
          <a:solidFill xmlns:a="http://schemas.openxmlformats.org/drawingml/2006/main">
            <a:srgbClr val="F4F7FA"/>
          </a:solidFill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0C0AC00B-BC05-4E02-B727-1B140B81C9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19200" y="2381250"/>
            <a:ext cx="7543800" cy="3429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2250" b="1">
                <a:solidFill>
                  <a:srgbClr val="1B2430"/>
                </a:solidFill>
              </a:defRPr>
            </a:pPr>
            <a:r>
              <a:rPr sz="2250" b="1">
                <a:solidFill>
                  <a:srgbClr val="1B2430"/>
                </a:solidFill>
              </a:rPr>
              <a:t>문서 작성 전</a:t>
            </a:r>
          </a:p>
        </p:txBody>
      </p:sp>
      <p:sp>
        <p:nvSpPr>
          <p:cNvPr id="8" name="dot-납품처와 수신처">
            <a:extLst xmlns:a="http://schemas.openxmlformats.org/drawingml/2006/main">
              <a:ext uri="{FF2B5EF4-FFF2-40B4-BE49-F238E27FC236}">
                <a16:creationId xmlns:a16="http://schemas.microsoft.com/office/drawing/2014/main" id="{01F8E75B-0AAA-4C18-974A-A3A5F973EE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19200" y="2876550"/>
            <a:ext cx="76200" cy="7620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2FB7A1"/>
          </a:solidFill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A18B58AD-5723-48CE-8543-60BB133CD8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09700" y="2876550"/>
            <a:ext cx="7353300" cy="2857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800" b="0">
                <a:solidFill>
                  <a:srgbClr val="1B2430"/>
                </a:solidFill>
              </a:defRPr>
            </a:pPr>
            <a:r>
              <a:rPr sz="1800" b="0">
                <a:solidFill>
                  <a:srgbClr val="1B2430"/>
                </a:solidFill>
              </a:rPr>
              <a:t>납품처와 수신처를 먼저 확정합니다.</a:t>
            </a:r>
          </a:p>
        </p:txBody>
      </p:sp>
      <p:sp>
        <p:nvSpPr>
          <p:cNvPr id="10" name="dot-품목명과 단가">
            <a:extLst xmlns:a="http://schemas.openxmlformats.org/drawingml/2006/main">
              <a:ext uri="{FF2B5EF4-FFF2-40B4-BE49-F238E27FC236}">
                <a16:creationId xmlns:a16="http://schemas.microsoft.com/office/drawing/2014/main" id="{0574AF3C-7E8A-4EC2-80F3-536379DB94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19200" y="3295650"/>
            <a:ext cx="76200" cy="7620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2FB7A1"/>
          </a:solidFill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0BFFFD09-EDC5-49F7-A38E-95F722CE35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09700" y="3295650"/>
            <a:ext cx="7353300" cy="2857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800" b="0">
                <a:solidFill>
                  <a:srgbClr val="1B2430"/>
                </a:solidFill>
              </a:defRPr>
            </a:pPr>
            <a:r>
              <a:rPr sz="1800" b="0">
                <a:solidFill>
                  <a:srgbClr val="1B2430"/>
                </a:solidFill>
              </a:rPr>
              <a:t>품목명과 단가 기준을 확인합니다.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96FB3962-3EB6-47AE-B407-C1DC7DAD9C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67825" y="2108835"/>
            <a:ext cx="8067675" cy="3584258"/>
          </a:xfrm>
          <a:prstGeom xmlns:a="http://schemas.openxmlformats.org/drawingml/2006/main" prst="roundRect">
            <a:avLst>
              <a:gd name="adj" fmla="val 4252"/>
            </a:avLst>
          </a:prstGeom>
          <a:solidFill xmlns:a="http://schemas.openxmlformats.org/drawingml/2006/main">
            <a:srgbClr val="F4F7FA"/>
          </a:solidFill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98FF4E0E-EAB5-4321-ADD8-3D59D76743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44050" y="2381250"/>
            <a:ext cx="7543800" cy="3429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2250" b="1">
                <a:solidFill>
                  <a:srgbClr val="1B2430"/>
                </a:solidFill>
              </a:defRPr>
            </a:pPr>
            <a:r>
              <a:rPr sz="2250" b="1">
                <a:solidFill>
                  <a:srgbClr val="1B2430"/>
                </a:solidFill>
              </a:rPr>
              <a:t>발행 후 수정</a:t>
            </a:r>
          </a:p>
        </p:txBody>
      </p:sp>
      <p:sp>
        <p:nvSpPr>
          <p:cNvPr id="14" name="dot-수정 저장 전">
            <a:extLst xmlns:a="http://schemas.openxmlformats.org/drawingml/2006/main">
              <a:ext uri="{FF2B5EF4-FFF2-40B4-BE49-F238E27FC236}">
                <a16:creationId xmlns:a16="http://schemas.microsoft.com/office/drawing/2014/main" id="{4EED1900-9F26-465B-9025-380F0C1A94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44050" y="2876550"/>
            <a:ext cx="76200" cy="7620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2FB7A1"/>
          </a:solidFill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2FCA9AB8-764F-4B94-845C-047A30D8F4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34550" y="2876550"/>
            <a:ext cx="7353300" cy="2857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800" b="0">
                <a:solidFill>
                  <a:srgbClr val="1B2430"/>
                </a:solidFill>
              </a:defRPr>
            </a:pPr>
            <a:r>
              <a:rPr sz="1800" b="0">
                <a:solidFill>
                  <a:srgbClr val="1B2430"/>
                </a:solidFill>
              </a:rPr>
              <a:t>수정 저장 전 미리보기를 확인합니다.</a:t>
            </a:r>
          </a:p>
        </p:txBody>
      </p:sp>
      <p:sp>
        <p:nvSpPr>
          <p:cNvPr id="16" name="dot-거래취소는 집계">
            <a:extLst xmlns:a="http://schemas.openxmlformats.org/drawingml/2006/main">
              <a:ext uri="{FF2B5EF4-FFF2-40B4-BE49-F238E27FC236}">
                <a16:creationId xmlns:a16="http://schemas.microsoft.com/office/drawing/2014/main" id="{0E30F379-9892-411B-B1DE-661A5D8145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44050" y="3295650"/>
            <a:ext cx="76200" cy="7620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2FB7A1"/>
          </a:solidFill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A5ECFC08-74EB-4244-9365-59DACED8C7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34550" y="3295650"/>
            <a:ext cx="7353300" cy="2857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800" b="0">
                <a:solidFill>
                  <a:srgbClr val="1B2430"/>
                </a:solidFill>
              </a:defRPr>
            </a:pPr>
            <a:r>
              <a:rPr sz="1800" b="0">
                <a:solidFill>
                  <a:srgbClr val="1B2430"/>
                </a:solidFill>
              </a:rPr>
              <a:t>거래취소는 집계 영향까지 확인합니다.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4420A8F8-8464-4B3B-A664-179FF58AF6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5940743"/>
            <a:ext cx="8067675" cy="3584258"/>
          </a:xfrm>
          <a:prstGeom xmlns:a="http://schemas.openxmlformats.org/drawingml/2006/main" prst="roundRect">
            <a:avLst>
              <a:gd name="adj" fmla="val 4252"/>
            </a:avLst>
          </a:prstGeom>
          <a:solidFill xmlns:a="http://schemas.openxmlformats.org/drawingml/2006/main">
            <a:srgbClr val="F4F7FA"/>
          </a:solidFill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C39A3CC9-C58D-479E-9912-1CDF8BE28B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19200" y="6210300"/>
            <a:ext cx="7543800" cy="3429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2250" b="1">
                <a:solidFill>
                  <a:srgbClr val="1B2430"/>
                </a:solidFill>
              </a:defRPr>
            </a:pPr>
            <a:r>
              <a:rPr sz="2250" b="1">
                <a:solidFill>
                  <a:srgbClr val="1B2430"/>
                </a:solidFill>
              </a:rPr>
              <a:t>출고 관리</a:t>
            </a:r>
          </a:p>
        </p:txBody>
      </p:sp>
      <p:sp>
        <p:nvSpPr>
          <p:cNvPr id="20" name="dot-미출고 항목은">
            <a:extLst xmlns:a="http://schemas.openxmlformats.org/drawingml/2006/main">
              <a:ext uri="{FF2B5EF4-FFF2-40B4-BE49-F238E27FC236}">
                <a16:creationId xmlns:a16="http://schemas.microsoft.com/office/drawing/2014/main" id="{2ACAF40C-5B7D-45CE-810B-F69DED7075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19200" y="6705600"/>
            <a:ext cx="76200" cy="7620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2FB7A1"/>
          </a:solidFill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7B214E25-D045-4CE6-A2E2-7DA8C77849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09700" y="6705600"/>
            <a:ext cx="7353300" cy="2857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800" b="0">
                <a:solidFill>
                  <a:srgbClr val="1B2430"/>
                </a:solidFill>
              </a:defRPr>
            </a:pPr>
            <a:r>
              <a:rPr sz="1800" b="0">
                <a:solidFill>
                  <a:srgbClr val="1B2430"/>
                </a:solidFill>
              </a:rPr>
              <a:t>미출고 항목은 대시보드와 수주대장에서 점검합니다.</a:t>
            </a:r>
          </a:p>
        </p:txBody>
      </p:sp>
      <p:sp>
        <p:nvSpPr>
          <p:cNvPr id="22" name="dot-일괄 출고처리는">
            <a:extLst xmlns:a="http://schemas.openxmlformats.org/drawingml/2006/main">
              <a:ext uri="{FF2B5EF4-FFF2-40B4-BE49-F238E27FC236}">
                <a16:creationId xmlns:a16="http://schemas.microsoft.com/office/drawing/2014/main" id="{4655DCA0-55A0-44B2-9540-96948E621D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19200" y="7124700"/>
            <a:ext cx="76200" cy="7620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2FB7A1"/>
          </a:solidFill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3CCE3ECC-7369-44D0-B4AE-F5B8F04511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09700" y="7124700"/>
            <a:ext cx="7353300" cy="2857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800" b="0">
                <a:solidFill>
                  <a:srgbClr val="1B2430"/>
                </a:solidFill>
              </a:defRPr>
            </a:pPr>
            <a:r>
              <a:rPr sz="1800" b="0">
                <a:solidFill>
                  <a:srgbClr val="1B2430"/>
                </a:solidFill>
              </a:rPr>
              <a:t>일괄 출고처리는 선택 항목을 확인한 뒤 실행합니다.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1853E5E7-8F08-4FF1-98CB-9450991BF6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67825" y="5940743"/>
            <a:ext cx="8067675" cy="3584258"/>
          </a:xfrm>
          <a:prstGeom xmlns:a="http://schemas.openxmlformats.org/drawingml/2006/main" prst="roundRect">
            <a:avLst>
              <a:gd name="adj" fmla="val 4252"/>
            </a:avLst>
          </a:prstGeom>
          <a:solidFill xmlns:a="http://schemas.openxmlformats.org/drawingml/2006/main">
            <a:srgbClr val="F4F7FA"/>
          </a:solidFill>
        </p:spPr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DE9642B4-CFC6-4DEC-8354-6474D73C63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44050" y="6210300"/>
            <a:ext cx="7543800" cy="3429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2250" b="1">
                <a:solidFill>
                  <a:srgbClr val="1B2430"/>
                </a:solidFill>
              </a:defRPr>
            </a:pPr>
            <a:r>
              <a:rPr sz="2250" b="1">
                <a:solidFill>
                  <a:srgbClr val="1B2430"/>
                </a:solidFill>
              </a:rPr>
              <a:t>마감/정산</a:t>
            </a:r>
          </a:p>
        </p:txBody>
      </p:sp>
      <p:sp>
        <p:nvSpPr>
          <p:cNvPr id="26" name="dot-월마감 비고는">
            <a:extLst xmlns:a="http://schemas.openxmlformats.org/drawingml/2006/main">
              <a:ext uri="{FF2B5EF4-FFF2-40B4-BE49-F238E27FC236}">
                <a16:creationId xmlns:a16="http://schemas.microsoft.com/office/drawing/2014/main" id="{D6CEB960-7C8D-446B-BC26-8016EE6B07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44050" y="6705600"/>
            <a:ext cx="76200" cy="7620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2FB7A1"/>
          </a:solidFill>
        </p:spPr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F9B69A52-665A-4FC3-A579-49A4659E1A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34550" y="6705600"/>
            <a:ext cx="7353300" cy="2857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800" b="0">
                <a:solidFill>
                  <a:srgbClr val="1B2430"/>
                </a:solidFill>
              </a:defRPr>
            </a:pPr>
            <a:r>
              <a:rPr sz="1800" b="0">
                <a:solidFill>
                  <a:srgbClr val="1B2430"/>
                </a:solidFill>
              </a:rPr>
              <a:t>월마감 비고는 Enter 또는 포커스 이동으로 저장합니다.</a:t>
            </a:r>
          </a:p>
        </p:txBody>
      </p:sp>
      <p:sp>
        <p:nvSpPr>
          <p:cNvPr id="28" name="dot-마감 엑셀 다운">
            <a:extLst xmlns:a="http://schemas.openxmlformats.org/drawingml/2006/main">
              <a:ext uri="{FF2B5EF4-FFF2-40B4-BE49-F238E27FC236}">
                <a16:creationId xmlns:a16="http://schemas.microsoft.com/office/drawing/2014/main" id="{FA241AB3-356F-4401-94B0-D5DB5823D5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44050" y="7124700"/>
            <a:ext cx="76200" cy="7620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2FB7A1"/>
          </a:solidFill>
        </p:spPr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497EA9E4-70CA-4D60-9D1F-D6064F7EC3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34550" y="7124700"/>
            <a:ext cx="7353300" cy="2857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800" b="0">
                <a:solidFill>
                  <a:srgbClr val="1B2430"/>
                </a:solidFill>
              </a:defRPr>
            </a:pPr>
            <a:r>
              <a:rPr sz="1800" b="0">
                <a:solidFill>
                  <a:srgbClr val="1B2430"/>
                </a:solidFill>
              </a:rPr>
              <a:t>마감 엑셀 다운로드 전 기간과 납품처를 확인합니다.</a:t>
            </a:r>
          </a:p>
        </p:txBody>
      </p:sp>
    </p:spTree>
    <p:extLst>
      <p:ext uri="{BB962C8B-B14F-4D97-AF65-F5344CB8AC3E}">
        <p14:creationId xmlns:p14="http://schemas.microsoft.com/office/powerpoint/2010/main" val="961191564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solidFill>
          <a:schemeClr val="dk1"/>
        </a:solidFill>
        <a:solidFill>
          <a:schemeClr val="accent1"/>
        </a:soli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2026-05-14T06:17:46.6920000Z</dcterms:created>
  <dcterms:modified xsi:type="dcterms:W3CDTF">2026-05-14T06:17:46.6920000Z</dcterms:modified>
</coreProperties>
</file>